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class. This course introduces absolute beginners to the discipline of reverse engineering. No prior experience in assembly or low-level systems required — just basic computer knowledge. Emphasize that RE is a skill used by ethical hackers, malware analysts, and security researchers worldwide.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reverse engineering is not hacking in the criminal sense. It is a technical discipline. The binary executable is the 'black box' — RE tools help us look inside. Use the watch analogy to make it accessible.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use case with a real-world example if possible. Malware analysts at AV companies, penetration testers, CTF players, and forensic investigators all use RE daily. Emphasize the defensive angle — most RE is used to PROTECT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this slide heavily. Many students are eager to apply skills immediately, but doing so illegally can result in prosecution. The CFAA in the US has broad reach. Always work in a lab environment. Encourage students to use legal platforms like Hack The Box, TryHackMe, and crackmes.one.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concept: EIP/RIP is the most important register — it points to the instruction being executed. Stack and heap are the two main memory regions. Stress that ESP always points to the top of the stack, and EBP anchors the current stack frame. 64-bit uses RAX, RBX, etc (prefix R instead of 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PE-bear or CFF Explorer to walk through a real executable header live. The .text section contains all the code we will disassemble. Entry point is where execution begins — usually a CRT startup, not main(). Imports tell us what Windows APIs the program uses — a huge clue for reverse engineers.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8 instructions make up a huge percentage of what you'll see in binaries. MOV is the workhorse. JE/JNE are critical for understanding program logic — patching a JE to JNE (or NOP-ing it) is how basic keygens and crackers work. Emphasize the flag register connection between CMP and conditional jumps.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assembly instruction and map it back to the C code. This is the core skill of static analysis. The student should be able to look at the assembly and reconstruct that this is an addition function returning via EAX.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this is iterative, not linear. You may bounce between static and dynamic analysis multiple times. Documenting as you go is critical — good RE is thorough note-taking. Every function should be renamed as you understand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beginners: start with Ghidra (free, powerful) and x64dbg (free Windows debugger). DIE should always be the first tool you run on a new binary to understand what you're dealing with. IDA Pro is industry standard but expensive — the community edition handles small binaries.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Strings analysis is often the quickest win — many malware samples have hardcoded C2 servers, registry paths, or mutex names. Import analysis tells you what the binary intends to DO at a high level before you read a single instruction. Always start with these before diving into disassembly.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 live demo of x64dbg if possible. Set a breakpoint at the program entry point (Ctrl+F2, then F9 in x64dbg). Walk through step-by-step. Register values change with each instruction — this makes abstract assembly very concrete. F7 = step into, F8 = step over, F9 =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EDUCATIONAL ONLY. Walk through a crackme.one beginner challenge. The key insight: JNE jumps to DENIED when strings don't match. Patching JNE→JE inverts the logic. In x64dbg, right-click the instruction → Binary → Edit. Change 0x75 to 0x74. The program now grants access to any input. This demonstrates why simple string comparison checks are not real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 ANY.RUN or Cuckoo Sandbox for automated dynamic analysis. Emphasize that even static analysis on a host machine is risky for advanced malware (some exploit RE tools). For true beginners: start with ANY.RUN — it provides a browser-based sandbox with a detailed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Packing is the #1 technique beginners encounter. Always run DIE first — it identifies packers like UPX, which has a dedicated unpack command. Anti-debug checks can often be patched or bypassed with ScyllaHide plugin for x64dbg. Encrypted strings require breakpoints right after the decryption routine executes.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FlareVM is an excellent pre-configured Windows analysis VM. REMnux is the Linux equivalent — both are free. Emphasize that the VM is disposable — if compromised, revert to snapshot. Process Monitor (ProcMon) and Wireshark are essential dynamic analysis companions.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OpenSecurityTraining2 (ost2.fyi) has free world-class x86/x64 RE courses. Malware traffic analysis (malware-traffic-analysis.net) offers real PCAP files. CTFs are the fastest way to build practical skills — start with picoCTF or ångstromCTF. Encourage daily practice, even 30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Provide this as a printed handout. Students can use it as a quick reference during labs. Encourage them to add their own terms as they learn.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Bookmark these. Practical Malware Analysis is THE book for malware RE. OpenSecurityTraining2 courses are university-quality and free. Encourage students to make an account on crackmes.one today and attempt a difficulty-1 challenge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strong. RE is one of the most valuable and rare skills in cybersecurity. The path is long but highly rewarding — financially and intellectually. Reiterate legal/ethical responsibilities. Invite questions. Recommend they start with Ghidra tutorial + a crackme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for questions. Suggested prompts if silence: 'What's the first tool you want to try?' or 'What kind of software would you most want to reverse?' Distribute lab setup guide and resource list handouts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9144000" cy="9144"/>
          </a:xfrm>
          <a:prstGeom prst="rect">
            <a:avLst/>
          </a:prstGeom>
          <a:solidFill>
            <a:srgbClr val="1A2940">
              <a:alpha val="30000"/>
            </a:srgbClr>
          </a:solidFill>
          <a:ln w="12700">
            <a:solidFill>
              <a:srgbClr val="1A2940">
                <a:alpha val="30000"/>
              </a:srgbClr>
            </a:solidFill>
            <a:prstDash val="solid"/>
          </a:ln>
        </p:spPr>
      </p:sp>
      <p:sp>
        <p:nvSpPr>
          <p:cNvPr id="3" name="Shape 1"/>
          <p:cNvSpPr/>
          <p:nvPr/>
        </p:nvSpPr>
        <p:spPr>
          <a:xfrm>
            <a:off x="0" y="429768"/>
            <a:ext cx="9144000" cy="9144"/>
          </a:xfrm>
          <a:prstGeom prst="rect">
            <a:avLst/>
          </a:prstGeom>
          <a:solidFill>
            <a:srgbClr val="1A2940">
              <a:alpha val="30000"/>
            </a:srgbClr>
          </a:solidFill>
          <a:ln w="12700">
            <a:solidFill>
              <a:srgbClr val="1A2940">
                <a:alpha val="30000"/>
              </a:srgbClr>
            </a:solidFill>
            <a:prstDash val="solid"/>
          </a:ln>
        </p:spPr>
      </p:sp>
      <p:sp>
        <p:nvSpPr>
          <p:cNvPr id="4" name="Shape 2"/>
          <p:cNvSpPr/>
          <p:nvPr/>
        </p:nvSpPr>
        <p:spPr>
          <a:xfrm>
            <a:off x="0" y="859536"/>
            <a:ext cx="9144000" cy="9144"/>
          </a:xfrm>
          <a:prstGeom prst="rect">
            <a:avLst/>
          </a:prstGeom>
          <a:solidFill>
            <a:srgbClr val="1A2940">
              <a:alpha val="30000"/>
            </a:srgbClr>
          </a:solidFill>
          <a:ln w="12700">
            <a:solidFill>
              <a:srgbClr val="1A2940">
                <a:alpha val="30000"/>
              </a:srgbClr>
            </a:solidFill>
            <a:prstDash val="solid"/>
          </a:ln>
        </p:spPr>
      </p:sp>
      <p:sp>
        <p:nvSpPr>
          <p:cNvPr id="5" name="Shape 3"/>
          <p:cNvSpPr/>
          <p:nvPr/>
        </p:nvSpPr>
        <p:spPr>
          <a:xfrm>
            <a:off x="0" y="1289304"/>
            <a:ext cx="9144000" cy="9144"/>
          </a:xfrm>
          <a:prstGeom prst="rect">
            <a:avLst/>
          </a:prstGeom>
          <a:solidFill>
            <a:srgbClr val="1A2940">
              <a:alpha val="30000"/>
            </a:srgbClr>
          </a:solidFill>
          <a:ln w="12700">
            <a:solidFill>
              <a:srgbClr val="1A2940">
                <a:alpha val="30000"/>
              </a:srgbClr>
            </a:solidFill>
            <a:prstDash val="solid"/>
          </a:ln>
        </p:spPr>
      </p:sp>
      <p:sp>
        <p:nvSpPr>
          <p:cNvPr id="6" name="Shape 4"/>
          <p:cNvSpPr/>
          <p:nvPr/>
        </p:nvSpPr>
        <p:spPr>
          <a:xfrm>
            <a:off x="0" y="1719072"/>
            <a:ext cx="9144000" cy="9144"/>
          </a:xfrm>
          <a:prstGeom prst="rect">
            <a:avLst/>
          </a:prstGeom>
          <a:solidFill>
            <a:srgbClr val="1A2940">
              <a:alpha val="30000"/>
            </a:srgbClr>
          </a:solidFill>
          <a:ln w="12700">
            <a:solidFill>
              <a:srgbClr val="1A2940">
                <a:alpha val="30000"/>
              </a:srgbClr>
            </a:solidFill>
            <a:prstDash val="solid"/>
          </a:ln>
        </p:spPr>
      </p:sp>
      <p:sp>
        <p:nvSpPr>
          <p:cNvPr id="7" name="Shape 5"/>
          <p:cNvSpPr/>
          <p:nvPr/>
        </p:nvSpPr>
        <p:spPr>
          <a:xfrm>
            <a:off x="0" y="2148840"/>
            <a:ext cx="9144000" cy="9144"/>
          </a:xfrm>
          <a:prstGeom prst="rect">
            <a:avLst/>
          </a:prstGeom>
          <a:solidFill>
            <a:srgbClr val="1A2940">
              <a:alpha val="30000"/>
            </a:srgbClr>
          </a:solidFill>
          <a:ln w="12700">
            <a:solidFill>
              <a:srgbClr val="1A2940">
                <a:alpha val="30000"/>
              </a:srgbClr>
            </a:solidFill>
            <a:prstDash val="solid"/>
          </a:ln>
        </p:spPr>
      </p:sp>
      <p:sp>
        <p:nvSpPr>
          <p:cNvPr id="8" name="Shape 6"/>
          <p:cNvSpPr/>
          <p:nvPr/>
        </p:nvSpPr>
        <p:spPr>
          <a:xfrm>
            <a:off x="0" y="2578608"/>
            <a:ext cx="9144000" cy="9144"/>
          </a:xfrm>
          <a:prstGeom prst="rect">
            <a:avLst/>
          </a:prstGeom>
          <a:solidFill>
            <a:srgbClr val="1A2940">
              <a:alpha val="30000"/>
            </a:srgbClr>
          </a:solidFill>
          <a:ln w="12700">
            <a:solidFill>
              <a:srgbClr val="1A2940">
                <a:alpha val="30000"/>
              </a:srgbClr>
            </a:solidFill>
            <a:prstDash val="solid"/>
          </a:ln>
        </p:spPr>
      </p:sp>
      <p:sp>
        <p:nvSpPr>
          <p:cNvPr id="9" name="Shape 7"/>
          <p:cNvSpPr/>
          <p:nvPr/>
        </p:nvSpPr>
        <p:spPr>
          <a:xfrm>
            <a:off x="0" y="3008376"/>
            <a:ext cx="9144000" cy="9144"/>
          </a:xfrm>
          <a:prstGeom prst="rect">
            <a:avLst/>
          </a:prstGeom>
          <a:solidFill>
            <a:srgbClr val="1A2940">
              <a:alpha val="30000"/>
            </a:srgbClr>
          </a:solidFill>
          <a:ln w="12700">
            <a:solidFill>
              <a:srgbClr val="1A2940">
                <a:alpha val="30000"/>
              </a:srgbClr>
            </a:solidFill>
            <a:prstDash val="solid"/>
          </a:ln>
        </p:spPr>
      </p:sp>
      <p:sp>
        <p:nvSpPr>
          <p:cNvPr id="10" name="Shape 8"/>
          <p:cNvSpPr/>
          <p:nvPr/>
        </p:nvSpPr>
        <p:spPr>
          <a:xfrm>
            <a:off x="0" y="3438144"/>
            <a:ext cx="9144000" cy="9144"/>
          </a:xfrm>
          <a:prstGeom prst="rect">
            <a:avLst/>
          </a:prstGeom>
          <a:solidFill>
            <a:srgbClr val="1A2940">
              <a:alpha val="30000"/>
            </a:srgbClr>
          </a:solidFill>
          <a:ln w="12700">
            <a:solidFill>
              <a:srgbClr val="1A2940">
                <a:alpha val="30000"/>
              </a:srgbClr>
            </a:solidFill>
            <a:prstDash val="solid"/>
          </a:ln>
        </p:spPr>
      </p:sp>
      <p:sp>
        <p:nvSpPr>
          <p:cNvPr id="11" name="Shape 9"/>
          <p:cNvSpPr/>
          <p:nvPr/>
        </p:nvSpPr>
        <p:spPr>
          <a:xfrm>
            <a:off x="0" y="3867912"/>
            <a:ext cx="9144000" cy="9144"/>
          </a:xfrm>
          <a:prstGeom prst="rect">
            <a:avLst/>
          </a:prstGeom>
          <a:solidFill>
            <a:srgbClr val="1A2940">
              <a:alpha val="30000"/>
            </a:srgbClr>
          </a:solidFill>
          <a:ln w="12700">
            <a:solidFill>
              <a:srgbClr val="1A2940">
                <a:alpha val="30000"/>
              </a:srgbClr>
            </a:solidFill>
            <a:prstDash val="solid"/>
          </a:ln>
        </p:spPr>
      </p:sp>
      <p:sp>
        <p:nvSpPr>
          <p:cNvPr id="12" name="Shape 10"/>
          <p:cNvSpPr/>
          <p:nvPr/>
        </p:nvSpPr>
        <p:spPr>
          <a:xfrm>
            <a:off x="0" y="4297680"/>
            <a:ext cx="9144000" cy="9144"/>
          </a:xfrm>
          <a:prstGeom prst="rect">
            <a:avLst/>
          </a:prstGeom>
          <a:solidFill>
            <a:srgbClr val="1A2940">
              <a:alpha val="30000"/>
            </a:srgbClr>
          </a:solidFill>
          <a:ln w="12700">
            <a:solidFill>
              <a:srgbClr val="1A2940">
                <a:alpha val="30000"/>
              </a:srgbClr>
            </a:solidFill>
            <a:prstDash val="solid"/>
          </a:ln>
        </p:spPr>
      </p:sp>
      <p:sp>
        <p:nvSpPr>
          <p:cNvPr id="13" name="Shape 11"/>
          <p:cNvSpPr/>
          <p:nvPr/>
        </p:nvSpPr>
        <p:spPr>
          <a:xfrm>
            <a:off x="0" y="4727448"/>
            <a:ext cx="9144000" cy="9144"/>
          </a:xfrm>
          <a:prstGeom prst="rect">
            <a:avLst/>
          </a:prstGeom>
          <a:solidFill>
            <a:srgbClr val="1A2940">
              <a:alpha val="30000"/>
            </a:srgbClr>
          </a:solidFill>
          <a:ln w="12700">
            <a:solidFill>
              <a:srgbClr val="1A2940">
                <a:alpha val="30000"/>
              </a:srgbClr>
            </a:solidFill>
            <a:prstDash val="solid"/>
          </a:ln>
        </p:spPr>
      </p:sp>
      <p:sp>
        <p:nvSpPr>
          <p:cNvPr id="14" name="Shape 12"/>
          <p:cNvSpPr/>
          <p:nvPr/>
        </p:nvSpPr>
        <p:spPr>
          <a:xfrm>
            <a:off x="0" y="0"/>
            <a:ext cx="73152" cy="5143500"/>
          </a:xfrm>
          <a:prstGeom prst="rect">
            <a:avLst/>
          </a:prstGeom>
          <a:solidFill>
            <a:srgbClr val="00FF88"/>
          </a:solidFill>
          <a:ln w="12700">
            <a:solidFill>
              <a:srgbClr val="00FF88"/>
            </a:solidFill>
            <a:prstDash val="solid"/>
          </a:ln>
        </p:spPr>
      </p:sp>
      <p:sp>
        <p:nvSpPr>
          <p:cNvPr id="15" name="Text 13"/>
          <p:cNvSpPr/>
          <p:nvPr/>
        </p:nvSpPr>
        <p:spPr>
          <a:xfrm>
            <a:off x="7498080" y="91440"/>
            <a:ext cx="274320" cy="4937760"/>
          </a:xfrm>
          <a:prstGeom prst="rect">
            <a:avLst/>
          </a:prstGeom>
          <a:noFill/>
          <a:ln/>
        </p:spPr>
        <p:txBody>
          <a:bodyPr wrap="square" lIns="0" tIns="0" rIns="0" bIns="0" rtlCol="0" anchor="ctr"/>
          <a:lstStyle/>
          <a:p>
            <a:pPr algn="ctr" indent="0" marL="0">
              <a:buNone/>
            </a:pPr>
            <a:r>
              <a:rPr lang="en-US" sz="700" dirty="0">
                <a:solidFill>
                  <a:srgbClr val="00FF88">
                    <a:alpha val="30000"/>
                  </a:srgbClr>
                </a:solidFill>
                <a:latin typeface="Consolas" pitchFamily="34" charset="0"/>
                <a:ea typeface="Consolas" pitchFamily="34" charset="-122"/>
                <a:cs typeface="Consolas" pitchFamily="34" charset="-120"/>
              </a:rPr>
              <a:t>1</a:t>
            </a:r>
            <a:endParaRPr lang="en-US" sz="700" dirty="0"/>
          </a:p>
          <a:p>
            <a:pPr algn="ctr" indent="0" marL="0">
              <a:buNone/>
            </a:pPr>
            <a:r>
              <a:rPr lang="en-US" sz="700" dirty="0">
                <a:solidFill>
                  <a:srgbClr val="00FF88">
                    <a:alpha val="30000"/>
                  </a:srgbClr>
                </a:solidFill>
                <a:latin typeface="Consolas" pitchFamily="34" charset="0"/>
                <a:ea typeface="Consolas" pitchFamily="34" charset="-122"/>
                <a:cs typeface="Consolas" pitchFamily="34" charset="-120"/>
              </a:rPr>
              <a:t>0</a:t>
            </a:r>
            <a:endParaRPr lang="en-US" sz="700" dirty="0"/>
          </a:p>
          <a:p>
            <a:pPr algn="ctr" indent="0" marL="0">
              <a:buNone/>
            </a:pPr>
            <a:r>
              <a:rPr lang="en-US" sz="700" dirty="0">
                <a:solidFill>
                  <a:srgbClr val="00FF88">
                    <a:alpha val="30000"/>
                  </a:srgbClr>
                </a:solidFill>
                <a:latin typeface="Consolas" pitchFamily="34" charset="0"/>
                <a:ea typeface="Consolas" pitchFamily="34" charset="-122"/>
                <a:cs typeface="Consolas" pitchFamily="34" charset="-120"/>
              </a:rPr>
              <a:t>0</a:t>
            </a:r>
            <a:endParaRPr lang="en-US" sz="700" dirty="0"/>
          </a:p>
          <a:p>
            <a:pPr algn="ctr" indent="0" marL="0">
              <a:buNone/>
            </a:pPr>
            <a:r>
              <a:rPr lang="en-US" sz="700" dirty="0">
                <a:solidFill>
                  <a:srgbClr val="00FF88">
                    <a:alpha val="30000"/>
                  </a:srgbClr>
                </a:solidFill>
                <a:latin typeface="Consolas" pitchFamily="34" charset="0"/>
                <a:ea typeface="Consolas" pitchFamily="34" charset="-122"/>
                <a:cs typeface="Consolas" pitchFamily="34" charset="-120"/>
              </a:rPr>
              <a:t>1</a:t>
            </a:r>
            <a:endParaRPr lang="en-US" sz="700" dirty="0"/>
          </a:p>
          <a:p>
            <a:pPr algn="ctr" indent="0" marL="0">
              <a:buNone/>
            </a:pPr>
            <a:r>
              <a:rPr lang="en-US" sz="700" dirty="0">
                <a:solidFill>
                  <a:srgbClr val="00FF88">
                    <a:alpha val="30000"/>
                  </a:srgbClr>
                </a:solidFill>
                <a:latin typeface="Consolas" pitchFamily="34" charset="0"/>
                <a:ea typeface="Consolas" pitchFamily="34" charset="-122"/>
                <a:cs typeface="Consolas" pitchFamily="34" charset="-120"/>
              </a:rPr>
              <a:t>0</a:t>
            </a:r>
            <a:endParaRPr lang="en-US" sz="700" dirty="0"/>
          </a:p>
          <a:p>
            <a:pPr algn="ctr" indent="0" marL="0">
              <a:buNone/>
            </a:pPr>
            <a:r>
              <a:rPr lang="en-US" sz="700" dirty="0">
                <a:solidFill>
                  <a:srgbClr val="00FF88">
                    <a:alpha val="30000"/>
                  </a:srgbClr>
                </a:solidFill>
                <a:latin typeface="Consolas" pitchFamily="34" charset="0"/>
                <a:ea typeface="Consolas" pitchFamily="34" charset="-122"/>
                <a:cs typeface="Consolas" pitchFamily="34" charset="-120"/>
              </a:rPr>
              <a:t>1</a:t>
            </a:r>
            <a:endParaRPr lang="en-US" sz="700" dirty="0"/>
          </a:p>
          <a:p>
            <a:pPr algn="ctr" indent="0" marL="0">
              <a:buNone/>
            </a:pPr>
            <a:r>
              <a:rPr lang="en-US" sz="700" dirty="0">
                <a:solidFill>
                  <a:srgbClr val="00FF88">
                    <a:alpha val="30000"/>
                  </a:srgbClr>
                </a:solidFill>
                <a:latin typeface="Consolas" pitchFamily="34" charset="0"/>
                <a:ea typeface="Consolas" pitchFamily="34" charset="-122"/>
                <a:cs typeface="Consolas" pitchFamily="34" charset="-120"/>
              </a:rPr>
              <a:t>1</a:t>
            </a:r>
            <a:endParaRPr lang="en-US" sz="700" dirty="0"/>
          </a:p>
          <a:p>
            <a:pPr algn="ctr" indent="0" marL="0">
              <a:buNone/>
            </a:pPr>
            <a:r>
              <a:rPr lang="en-US" sz="700" dirty="0">
                <a:solidFill>
                  <a:srgbClr val="00FF88">
                    <a:alpha val="30000"/>
                  </a:srgbClr>
                </a:solidFill>
                <a:latin typeface="Consolas" pitchFamily="34" charset="0"/>
                <a:ea typeface="Consolas" pitchFamily="34" charset="-122"/>
                <a:cs typeface="Consolas" pitchFamily="34" charset="-120"/>
              </a:rPr>
              <a:t>0</a:t>
            </a:r>
            <a:endParaRPr lang="en-US" sz="700" dirty="0"/>
          </a:p>
        </p:txBody>
      </p:sp>
      <p:sp>
        <p:nvSpPr>
          <p:cNvPr id="16" name="Text 14"/>
          <p:cNvSpPr/>
          <p:nvPr/>
        </p:nvSpPr>
        <p:spPr>
          <a:xfrm>
            <a:off x="7863840" y="91440"/>
            <a:ext cx="274320" cy="4937760"/>
          </a:xfrm>
          <a:prstGeom prst="rect">
            <a:avLst/>
          </a:prstGeom>
          <a:noFill/>
          <a:ln/>
        </p:spPr>
        <p:txBody>
          <a:bodyPr wrap="square" lIns="0" tIns="0" rIns="0" bIns="0" rtlCol="0" anchor="ctr"/>
          <a:lstStyle/>
          <a:p>
            <a:pPr algn="ctr" indent="0" marL="0">
              <a:buNone/>
            </a:pPr>
            <a:r>
              <a:rPr lang="en-US" sz="700" dirty="0">
                <a:solidFill>
                  <a:srgbClr val="00FF88">
                    <a:alpha val="35000"/>
                  </a:srgbClr>
                </a:solidFill>
                <a:latin typeface="Consolas" pitchFamily="34" charset="0"/>
                <a:ea typeface="Consolas" pitchFamily="34" charset="-122"/>
                <a:cs typeface="Consolas" pitchFamily="34" charset="-120"/>
              </a:rPr>
              <a:t>0</a:t>
            </a:r>
            <a:endParaRPr lang="en-US" sz="700" dirty="0"/>
          </a:p>
          <a:p>
            <a:pPr algn="ctr" indent="0" marL="0">
              <a:buNone/>
            </a:pPr>
            <a:r>
              <a:rPr lang="en-US" sz="700" dirty="0">
                <a:solidFill>
                  <a:srgbClr val="00FF88">
                    <a:alpha val="35000"/>
                  </a:srgbClr>
                </a:solidFill>
                <a:latin typeface="Consolas" pitchFamily="34" charset="0"/>
                <a:ea typeface="Consolas" pitchFamily="34" charset="-122"/>
                <a:cs typeface="Consolas" pitchFamily="34" charset="-120"/>
              </a:rPr>
              <a:t>1</a:t>
            </a:r>
            <a:endParaRPr lang="en-US" sz="700" dirty="0"/>
          </a:p>
          <a:p>
            <a:pPr algn="ctr" indent="0" marL="0">
              <a:buNone/>
            </a:pPr>
            <a:r>
              <a:rPr lang="en-US" sz="700" dirty="0">
                <a:solidFill>
                  <a:srgbClr val="00FF88">
                    <a:alpha val="35000"/>
                  </a:srgbClr>
                </a:solidFill>
                <a:latin typeface="Consolas" pitchFamily="34" charset="0"/>
                <a:ea typeface="Consolas" pitchFamily="34" charset="-122"/>
                <a:cs typeface="Consolas" pitchFamily="34" charset="-120"/>
              </a:rPr>
              <a:t>1</a:t>
            </a:r>
            <a:endParaRPr lang="en-US" sz="700" dirty="0"/>
          </a:p>
          <a:p>
            <a:pPr algn="ctr" indent="0" marL="0">
              <a:buNone/>
            </a:pPr>
            <a:r>
              <a:rPr lang="en-US" sz="700" dirty="0">
                <a:solidFill>
                  <a:srgbClr val="00FF88">
                    <a:alpha val="35000"/>
                  </a:srgbClr>
                </a:solidFill>
                <a:latin typeface="Consolas" pitchFamily="34" charset="0"/>
                <a:ea typeface="Consolas" pitchFamily="34" charset="-122"/>
                <a:cs typeface="Consolas" pitchFamily="34" charset="-120"/>
              </a:rPr>
              <a:t>0</a:t>
            </a:r>
            <a:endParaRPr lang="en-US" sz="700" dirty="0"/>
          </a:p>
          <a:p>
            <a:pPr algn="ctr" indent="0" marL="0">
              <a:buNone/>
            </a:pPr>
            <a:r>
              <a:rPr lang="en-US" sz="700" dirty="0">
                <a:solidFill>
                  <a:srgbClr val="00FF88">
                    <a:alpha val="35000"/>
                  </a:srgbClr>
                </a:solidFill>
                <a:latin typeface="Consolas" pitchFamily="34" charset="0"/>
                <a:ea typeface="Consolas" pitchFamily="34" charset="-122"/>
                <a:cs typeface="Consolas" pitchFamily="34" charset="-120"/>
              </a:rPr>
              <a:t>1</a:t>
            </a:r>
            <a:endParaRPr lang="en-US" sz="700" dirty="0"/>
          </a:p>
          <a:p>
            <a:pPr algn="ctr" indent="0" marL="0">
              <a:buNone/>
            </a:pPr>
            <a:r>
              <a:rPr lang="en-US" sz="700" dirty="0">
                <a:solidFill>
                  <a:srgbClr val="00FF88">
                    <a:alpha val="35000"/>
                  </a:srgbClr>
                </a:solidFill>
                <a:latin typeface="Consolas" pitchFamily="34" charset="0"/>
                <a:ea typeface="Consolas" pitchFamily="34" charset="-122"/>
                <a:cs typeface="Consolas" pitchFamily="34" charset="-120"/>
              </a:rPr>
              <a:t>0</a:t>
            </a:r>
            <a:endParaRPr lang="en-US" sz="700" dirty="0"/>
          </a:p>
          <a:p>
            <a:pPr algn="ctr" indent="0" marL="0">
              <a:buNone/>
            </a:pPr>
            <a:r>
              <a:rPr lang="en-US" sz="700" dirty="0">
                <a:solidFill>
                  <a:srgbClr val="00FF88">
                    <a:alpha val="35000"/>
                  </a:srgbClr>
                </a:solidFill>
                <a:latin typeface="Consolas" pitchFamily="34" charset="0"/>
                <a:ea typeface="Consolas" pitchFamily="34" charset="-122"/>
                <a:cs typeface="Consolas" pitchFamily="34" charset="-120"/>
              </a:rPr>
              <a:t>0</a:t>
            </a:r>
            <a:endParaRPr lang="en-US" sz="700" dirty="0"/>
          </a:p>
          <a:p>
            <a:pPr algn="ctr" indent="0" marL="0">
              <a:buNone/>
            </a:pPr>
            <a:r>
              <a:rPr lang="en-US" sz="700" dirty="0">
                <a:solidFill>
                  <a:srgbClr val="00FF88">
                    <a:alpha val="35000"/>
                  </a:srgbClr>
                </a:solidFill>
                <a:latin typeface="Consolas" pitchFamily="34" charset="0"/>
                <a:ea typeface="Consolas" pitchFamily="34" charset="-122"/>
                <a:cs typeface="Consolas" pitchFamily="34" charset="-120"/>
              </a:rPr>
              <a:t>1</a:t>
            </a:r>
            <a:endParaRPr lang="en-US" sz="700" dirty="0"/>
          </a:p>
        </p:txBody>
      </p:sp>
      <p:sp>
        <p:nvSpPr>
          <p:cNvPr id="17" name="Text 15"/>
          <p:cNvSpPr/>
          <p:nvPr/>
        </p:nvSpPr>
        <p:spPr>
          <a:xfrm>
            <a:off x="8183880" y="91440"/>
            <a:ext cx="274320" cy="4937760"/>
          </a:xfrm>
          <a:prstGeom prst="rect">
            <a:avLst/>
          </a:prstGeom>
          <a:noFill/>
          <a:ln/>
        </p:spPr>
        <p:txBody>
          <a:bodyPr wrap="square" lIns="0" tIns="0" rIns="0" bIns="0" rtlCol="0" anchor="ctr"/>
          <a:lstStyle/>
          <a:p>
            <a:pPr algn="ctr" indent="0" marL="0">
              <a:buNone/>
            </a:pPr>
            <a:r>
              <a:rPr lang="en-US" sz="700" dirty="0">
                <a:solidFill>
                  <a:srgbClr val="00FF88">
                    <a:alpha val="40000"/>
                  </a:srgbClr>
                </a:solidFill>
                <a:latin typeface="Consolas" pitchFamily="34" charset="0"/>
                <a:ea typeface="Consolas" pitchFamily="34" charset="-122"/>
                <a:cs typeface="Consolas" pitchFamily="34" charset="-120"/>
              </a:rPr>
              <a:t>1</a:t>
            </a:r>
            <a:endParaRPr lang="en-US" sz="700" dirty="0"/>
          </a:p>
          <a:p>
            <a:pPr algn="ctr" indent="0" marL="0">
              <a:buNone/>
            </a:pPr>
            <a:r>
              <a:rPr lang="en-US" sz="700" dirty="0">
                <a:solidFill>
                  <a:srgbClr val="00FF88">
                    <a:alpha val="40000"/>
                  </a:srgbClr>
                </a:solidFill>
                <a:latin typeface="Consolas" pitchFamily="34" charset="0"/>
                <a:ea typeface="Consolas" pitchFamily="34" charset="-122"/>
                <a:cs typeface="Consolas" pitchFamily="34" charset="-120"/>
              </a:rPr>
              <a:t>1</a:t>
            </a:r>
            <a:endParaRPr lang="en-US" sz="700" dirty="0"/>
          </a:p>
          <a:p>
            <a:pPr algn="ctr" indent="0" marL="0">
              <a:buNone/>
            </a:pPr>
            <a:r>
              <a:rPr lang="en-US" sz="700" dirty="0">
                <a:solidFill>
                  <a:srgbClr val="00FF88">
                    <a:alpha val="40000"/>
                  </a:srgbClr>
                </a:solidFill>
                <a:latin typeface="Consolas" pitchFamily="34" charset="0"/>
                <a:ea typeface="Consolas" pitchFamily="34" charset="-122"/>
                <a:cs typeface="Consolas" pitchFamily="34" charset="-120"/>
              </a:rPr>
              <a:t>0</a:t>
            </a:r>
            <a:endParaRPr lang="en-US" sz="700" dirty="0"/>
          </a:p>
          <a:p>
            <a:pPr algn="ctr" indent="0" marL="0">
              <a:buNone/>
            </a:pPr>
            <a:r>
              <a:rPr lang="en-US" sz="700" dirty="0">
                <a:solidFill>
                  <a:srgbClr val="00FF88">
                    <a:alpha val="40000"/>
                  </a:srgbClr>
                </a:solidFill>
                <a:latin typeface="Consolas" pitchFamily="34" charset="0"/>
                <a:ea typeface="Consolas" pitchFamily="34" charset="-122"/>
                <a:cs typeface="Consolas" pitchFamily="34" charset="-120"/>
              </a:rPr>
              <a:t>0</a:t>
            </a:r>
            <a:endParaRPr lang="en-US" sz="700" dirty="0"/>
          </a:p>
          <a:p>
            <a:pPr algn="ctr" indent="0" marL="0">
              <a:buNone/>
            </a:pPr>
            <a:r>
              <a:rPr lang="en-US" sz="700" dirty="0">
                <a:solidFill>
                  <a:srgbClr val="00FF88">
                    <a:alpha val="40000"/>
                  </a:srgbClr>
                </a:solidFill>
                <a:latin typeface="Consolas" pitchFamily="34" charset="0"/>
                <a:ea typeface="Consolas" pitchFamily="34" charset="-122"/>
                <a:cs typeface="Consolas" pitchFamily="34" charset="-120"/>
              </a:rPr>
              <a:t>1</a:t>
            </a:r>
            <a:endParaRPr lang="en-US" sz="700" dirty="0"/>
          </a:p>
          <a:p>
            <a:pPr algn="ctr" indent="0" marL="0">
              <a:buNone/>
            </a:pPr>
            <a:r>
              <a:rPr lang="en-US" sz="700" dirty="0">
                <a:solidFill>
                  <a:srgbClr val="00FF88">
                    <a:alpha val="40000"/>
                  </a:srgbClr>
                </a:solidFill>
                <a:latin typeface="Consolas" pitchFamily="34" charset="0"/>
                <a:ea typeface="Consolas" pitchFamily="34" charset="-122"/>
                <a:cs typeface="Consolas" pitchFamily="34" charset="-120"/>
              </a:rPr>
              <a:t>1</a:t>
            </a:r>
            <a:endParaRPr lang="en-US" sz="700" dirty="0"/>
          </a:p>
          <a:p>
            <a:pPr algn="ctr" indent="0" marL="0">
              <a:buNone/>
            </a:pPr>
            <a:r>
              <a:rPr lang="en-US" sz="700" dirty="0">
                <a:solidFill>
                  <a:srgbClr val="00FF88">
                    <a:alpha val="40000"/>
                  </a:srgbClr>
                </a:solidFill>
                <a:latin typeface="Consolas" pitchFamily="34" charset="0"/>
                <a:ea typeface="Consolas" pitchFamily="34" charset="-122"/>
                <a:cs typeface="Consolas" pitchFamily="34" charset="-120"/>
              </a:rPr>
              <a:t>0</a:t>
            </a:r>
            <a:endParaRPr lang="en-US" sz="700" dirty="0"/>
          </a:p>
          <a:p>
            <a:pPr algn="ctr" indent="0" marL="0">
              <a:buNone/>
            </a:pPr>
            <a:r>
              <a:rPr lang="en-US" sz="700" dirty="0">
                <a:solidFill>
                  <a:srgbClr val="00FF88">
                    <a:alpha val="40000"/>
                  </a:srgbClr>
                </a:solidFill>
                <a:latin typeface="Consolas" pitchFamily="34" charset="0"/>
                <a:ea typeface="Consolas" pitchFamily="34" charset="-122"/>
                <a:cs typeface="Consolas" pitchFamily="34" charset="-120"/>
              </a:rPr>
              <a:t>0</a:t>
            </a:r>
            <a:endParaRPr lang="en-US" sz="700" dirty="0"/>
          </a:p>
        </p:txBody>
      </p:sp>
      <p:sp>
        <p:nvSpPr>
          <p:cNvPr id="18" name="Text 16"/>
          <p:cNvSpPr/>
          <p:nvPr/>
        </p:nvSpPr>
        <p:spPr>
          <a:xfrm>
            <a:off x="8458200" y="91440"/>
            <a:ext cx="274320" cy="4937760"/>
          </a:xfrm>
          <a:prstGeom prst="rect">
            <a:avLst/>
          </a:prstGeom>
          <a:noFill/>
          <a:ln/>
        </p:spPr>
        <p:txBody>
          <a:bodyPr wrap="square" lIns="0" tIns="0" rIns="0" bIns="0" rtlCol="0" anchor="ctr"/>
          <a:lstStyle/>
          <a:p>
            <a:pPr algn="ctr" indent="0" marL="0">
              <a:buNone/>
            </a:pPr>
            <a:r>
              <a:rPr lang="en-US" sz="700" dirty="0">
                <a:solidFill>
                  <a:srgbClr val="00FF88">
                    <a:alpha val="45000"/>
                  </a:srgbClr>
                </a:solidFill>
                <a:latin typeface="Consolas" pitchFamily="34" charset="0"/>
                <a:ea typeface="Consolas" pitchFamily="34" charset="-122"/>
                <a:cs typeface="Consolas" pitchFamily="34" charset="-120"/>
              </a:rPr>
              <a:t>1</a:t>
            </a:r>
            <a:endParaRPr lang="en-US" sz="700" dirty="0"/>
          </a:p>
          <a:p>
            <a:pPr algn="ctr" indent="0" marL="0">
              <a:buNone/>
            </a:pPr>
            <a:r>
              <a:rPr lang="en-US" sz="700" dirty="0">
                <a:solidFill>
                  <a:srgbClr val="00FF88">
                    <a:alpha val="45000"/>
                  </a:srgbClr>
                </a:solidFill>
                <a:latin typeface="Consolas" pitchFamily="34" charset="0"/>
                <a:ea typeface="Consolas" pitchFamily="34" charset="-122"/>
                <a:cs typeface="Consolas" pitchFamily="34" charset="-120"/>
              </a:rPr>
              <a:t>0</a:t>
            </a:r>
            <a:endParaRPr lang="en-US" sz="700" dirty="0"/>
          </a:p>
          <a:p>
            <a:pPr algn="ctr" indent="0" marL="0">
              <a:buNone/>
            </a:pPr>
            <a:r>
              <a:rPr lang="en-US" sz="700" dirty="0">
                <a:solidFill>
                  <a:srgbClr val="00FF88">
                    <a:alpha val="45000"/>
                  </a:srgbClr>
                </a:solidFill>
                <a:latin typeface="Consolas" pitchFamily="34" charset="0"/>
                <a:ea typeface="Consolas" pitchFamily="34" charset="-122"/>
                <a:cs typeface="Consolas" pitchFamily="34" charset="-120"/>
              </a:rPr>
              <a:t>1</a:t>
            </a:r>
            <a:endParaRPr lang="en-US" sz="700" dirty="0"/>
          </a:p>
          <a:p>
            <a:pPr algn="ctr" indent="0" marL="0">
              <a:buNone/>
            </a:pPr>
            <a:r>
              <a:rPr lang="en-US" sz="700" dirty="0">
                <a:solidFill>
                  <a:srgbClr val="00FF88">
                    <a:alpha val="45000"/>
                  </a:srgbClr>
                </a:solidFill>
                <a:latin typeface="Consolas" pitchFamily="34" charset="0"/>
                <a:ea typeface="Consolas" pitchFamily="34" charset="-122"/>
                <a:cs typeface="Consolas" pitchFamily="34" charset="-120"/>
              </a:rPr>
              <a:t>0</a:t>
            </a:r>
            <a:endParaRPr lang="en-US" sz="700" dirty="0"/>
          </a:p>
          <a:p>
            <a:pPr algn="ctr" indent="0" marL="0">
              <a:buNone/>
            </a:pPr>
            <a:r>
              <a:rPr lang="en-US" sz="700" dirty="0">
                <a:solidFill>
                  <a:srgbClr val="00FF88">
                    <a:alpha val="45000"/>
                  </a:srgbClr>
                </a:solidFill>
                <a:latin typeface="Consolas" pitchFamily="34" charset="0"/>
                <a:ea typeface="Consolas" pitchFamily="34" charset="-122"/>
                <a:cs typeface="Consolas" pitchFamily="34" charset="-120"/>
              </a:rPr>
              <a:t>1</a:t>
            </a:r>
            <a:endParaRPr lang="en-US" sz="700" dirty="0"/>
          </a:p>
          <a:p>
            <a:pPr algn="ctr" indent="0" marL="0">
              <a:buNone/>
            </a:pPr>
            <a:r>
              <a:rPr lang="en-US" sz="700" dirty="0">
                <a:solidFill>
                  <a:srgbClr val="00FF88">
                    <a:alpha val="45000"/>
                  </a:srgbClr>
                </a:solidFill>
                <a:latin typeface="Consolas" pitchFamily="34" charset="0"/>
                <a:ea typeface="Consolas" pitchFamily="34" charset="-122"/>
                <a:cs typeface="Consolas" pitchFamily="34" charset="-120"/>
              </a:rPr>
              <a:t>0</a:t>
            </a:r>
            <a:endParaRPr lang="en-US" sz="700" dirty="0"/>
          </a:p>
          <a:p>
            <a:pPr algn="ctr" indent="0" marL="0">
              <a:buNone/>
            </a:pPr>
            <a:r>
              <a:rPr lang="en-US" sz="700" dirty="0">
                <a:solidFill>
                  <a:srgbClr val="00FF88">
                    <a:alpha val="45000"/>
                  </a:srgbClr>
                </a:solidFill>
                <a:latin typeface="Consolas" pitchFamily="34" charset="0"/>
                <a:ea typeface="Consolas" pitchFamily="34" charset="-122"/>
                <a:cs typeface="Consolas" pitchFamily="34" charset="-120"/>
              </a:rPr>
              <a:t>1</a:t>
            </a:r>
            <a:endParaRPr lang="en-US" sz="700" dirty="0"/>
          </a:p>
          <a:p>
            <a:pPr algn="ctr" indent="0" marL="0">
              <a:buNone/>
            </a:pPr>
            <a:r>
              <a:rPr lang="en-US" sz="700" dirty="0">
                <a:solidFill>
                  <a:srgbClr val="00FF88">
                    <a:alpha val="45000"/>
                  </a:srgbClr>
                </a:solidFill>
                <a:latin typeface="Consolas" pitchFamily="34" charset="0"/>
                <a:ea typeface="Consolas" pitchFamily="34" charset="-122"/>
                <a:cs typeface="Consolas" pitchFamily="34" charset="-120"/>
              </a:rPr>
              <a:t>0</a:t>
            </a:r>
            <a:endParaRPr lang="en-US" sz="700" dirty="0"/>
          </a:p>
        </p:txBody>
      </p:sp>
      <p:sp>
        <p:nvSpPr>
          <p:cNvPr id="19" name="Text 17"/>
          <p:cNvSpPr/>
          <p:nvPr/>
        </p:nvSpPr>
        <p:spPr>
          <a:xfrm>
            <a:off x="8732520" y="91440"/>
            <a:ext cx="274320" cy="4937760"/>
          </a:xfrm>
          <a:prstGeom prst="rect">
            <a:avLst/>
          </a:prstGeom>
          <a:noFill/>
          <a:ln/>
        </p:spPr>
        <p:txBody>
          <a:bodyPr wrap="square" lIns="0" tIns="0" rIns="0" bIns="0" rtlCol="0" anchor="ctr"/>
          <a:lstStyle/>
          <a:p>
            <a:pPr algn="ctr" indent="0" marL="0">
              <a:buNone/>
            </a:pPr>
            <a:r>
              <a:rPr lang="en-US" sz="700" dirty="0">
                <a:solidFill>
                  <a:srgbClr val="00FF88">
                    <a:alpha val="50000"/>
                  </a:srgbClr>
                </a:solidFill>
                <a:latin typeface="Consolas" pitchFamily="34" charset="0"/>
                <a:ea typeface="Consolas" pitchFamily="34" charset="-122"/>
                <a:cs typeface="Consolas" pitchFamily="34" charset="-120"/>
              </a:rPr>
              <a:t>0</a:t>
            </a:r>
            <a:endParaRPr lang="en-US" sz="700" dirty="0"/>
          </a:p>
          <a:p>
            <a:pPr algn="ctr" indent="0" marL="0">
              <a:buNone/>
            </a:pPr>
            <a:r>
              <a:rPr lang="en-US" sz="700" dirty="0">
                <a:solidFill>
                  <a:srgbClr val="00FF88">
                    <a:alpha val="50000"/>
                  </a:srgbClr>
                </a:solidFill>
                <a:latin typeface="Consolas" pitchFamily="34" charset="0"/>
                <a:ea typeface="Consolas" pitchFamily="34" charset="-122"/>
                <a:cs typeface="Consolas" pitchFamily="34" charset="-120"/>
              </a:rPr>
              <a:t>1</a:t>
            </a:r>
            <a:endParaRPr lang="en-US" sz="700" dirty="0"/>
          </a:p>
          <a:p>
            <a:pPr algn="ctr" indent="0" marL="0">
              <a:buNone/>
            </a:pPr>
            <a:r>
              <a:rPr lang="en-US" sz="700" dirty="0">
                <a:solidFill>
                  <a:srgbClr val="00FF88">
                    <a:alpha val="50000"/>
                  </a:srgbClr>
                </a:solidFill>
                <a:latin typeface="Consolas" pitchFamily="34" charset="0"/>
                <a:ea typeface="Consolas" pitchFamily="34" charset="-122"/>
                <a:cs typeface="Consolas" pitchFamily="34" charset="-120"/>
              </a:rPr>
              <a:t>0</a:t>
            </a:r>
            <a:endParaRPr lang="en-US" sz="700" dirty="0"/>
          </a:p>
          <a:p>
            <a:pPr algn="ctr" indent="0" marL="0">
              <a:buNone/>
            </a:pPr>
            <a:r>
              <a:rPr lang="en-US" sz="700" dirty="0">
                <a:solidFill>
                  <a:srgbClr val="00FF88">
                    <a:alpha val="50000"/>
                  </a:srgbClr>
                </a:solidFill>
                <a:latin typeface="Consolas" pitchFamily="34" charset="0"/>
                <a:ea typeface="Consolas" pitchFamily="34" charset="-122"/>
                <a:cs typeface="Consolas" pitchFamily="34" charset="-120"/>
              </a:rPr>
              <a:t>1</a:t>
            </a:r>
            <a:endParaRPr lang="en-US" sz="700" dirty="0"/>
          </a:p>
          <a:p>
            <a:pPr algn="ctr" indent="0" marL="0">
              <a:buNone/>
            </a:pPr>
            <a:r>
              <a:rPr lang="en-US" sz="700" dirty="0">
                <a:solidFill>
                  <a:srgbClr val="00FF88">
                    <a:alpha val="50000"/>
                  </a:srgbClr>
                </a:solidFill>
                <a:latin typeface="Consolas" pitchFamily="34" charset="0"/>
                <a:ea typeface="Consolas" pitchFamily="34" charset="-122"/>
                <a:cs typeface="Consolas" pitchFamily="34" charset="-120"/>
              </a:rPr>
              <a:t>0</a:t>
            </a:r>
            <a:endParaRPr lang="en-US" sz="700" dirty="0"/>
          </a:p>
          <a:p>
            <a:pPr algn="ctr" indent="0" marL="0">
              <a:buNone/>
            </a:pPr>
            <a:r>
              <a:rPr lang="en-US" sz="700" dirty="0">
                <a:solidFill>
                  <a:srgbClr val="00FF88">
                    <a:alpha val="50000"/>
                  </a:srgbClr>
                </a:solidFill>
                <a:latin typeface="Consolas" pitchFamily="34" charset="0"/>
                <a:ea typeface="Consolas" pitchFamily="34" charset="-122"/>
                <a:cs typeface="Consolas" pitchFamily="34" charset="-120"/>
              </a:rPr>
              <a:t>1</a:t>
            </a:r>
            <a:endParaRPr lang="en-US" sz="700" dirty="0"/>
          </a:p>
          <a:p>
            <a:pPr algn="ctr" indent="0" marL="0">
              <a:buNone/>
            </a:pPr>
            <a:r>
              <a:rPr lang="en-US" sz="700" dirty="0">
                <a:solidFill>
                  <a:srgbClr val="00FF88">
                    <a:alpha val="50000"/>
                  </a:srgbClr>
                </a:solidFill>
                <a:latin typeface="Consolas" pitchFamily="34" charset="0"/>
                <a:ea typeface="Consolas" pitchFamily="34" charset="-122"/>
                <a:cs typeface="Consolas" pitchFamily="34" charset="-120"/>
              </a:rPr>
              <a:t>0</a:t>
            </a:r>
            <a:endParaRPr lang="en-US" sz="700" dirty="0"/>
          </a:p>
          <a:p>
            <a:pPr algn="ctr" indent="0" marL="0">
              <a:buNone/>
            </a:pPr>
            <a:r>
              <a:rPr lang="en-US" sz="700" dirty="0">
                <a:solidFill>
                  <a:srgbClr val="00FF88">
                    <a:alpha val="50000"/>
                  </a:srgbClr>
                </a:solidFill>
                <a:latin typeface="Consolas" pitchFamily="34" charset="0"/>
                <a:ea typeface="Consolas" pitchFamily="34" charset="-122"/>
                <a:cs typeface="Consolas" pitchFamily="34" charset="-120"/>
              </a:rPr>
              <a:t>1</a:t>
            </a:r>
            <a:endParaRPr lang="en-US" sz="700" dirty="0"/>
          </a:p>
        </p:txBody>
      </p:sp>
      <p:sp>
        <p:nvSpPr>
          <p:cNvPr id="20" name="Text 18"/>
          <p:cNvSpPr/>
          <p:nvPr/>
        </p:nvSpPr>
        <p:spPr>
          <a:xfrm>
            <a:off x="8979408" y="91440"/>
            <a:ext cx="274320" cy="4937760"/>
          </a:xfrm>
          <a:prstGeom prst="rect">
            <a:avLst/>
          </a:prstGeom>
          <a:noFill/>
          <a:ln/>
        </p:spPr>
        <p:txBody>
          <a:bodyPr wrap="square" lIns="0" tIns="0" rIns="0" bIns="0" rtlCol="0" anchor="ctr"/>
          <a:lstStyle/>
          <a:p>
            <a:pPr algn="ctr" indent="0" marL="0">
              <a:buNone/>
            </a:pPr>
            <a:r>
              <a:rPr lang="en-US" sz="700" dirty="0">
                <a:solidFill>
                  <a:srgbClr val="00FF88">
                    <a:alpha val="55000"/>
                  </a:srgbClr>
                </a:solidFill>
                <a:latin typeface="Consolas" pitchFamily="34" charset="0"/>
                <a:ea typeface="Consolas" pitchFamily="34" charset="-122"/>
                <a:cs typeface="Consolas" pitchFamily="34" charset="-120"/>
              </a:rPr>
              <a:t>1</a:t>
            </a:r>
            <a:endParaRPr lang="en-US" sz="700" dirty="0"/>
          </a:p>
          <a:p>
            <a:pPr algn="ctr" indent="0" marL="0">
              <a:buNone/>
            </a:pPr>
            <a:r>
              <a:rPr lang="en-US" sz="700" dirty="0">
                <a:solidFill>
                  <a:srgbClr val="00FF88">
                    <a:alpha val="55000"/>
                  </a:srgbClr>
                </a:solidFill>
                <a:latin typeface="Consolas" pitchFamily="34" charset="0"/>
                <a:ea typeface="Consolas" pitchFamily="34" charset="-122"/>
                <a:cs typeface="Consolas" pitchFamily="34" charset="-120"/>
              </a:rPr>
              <a:t>1</a:t>
            </a:r>
            <a:endParaRPr lang="en-US" sz="700" dirty="0"/>
          </a:p>
          <a:p>
            <a:pPr algn="ctr" indent="0" marL="0">
              <a:buNone/>
            </a:pPr>
            <a:r>
              <a:rPr lang="en-US" sz="700" dirty="0">
                <a:solidFill>
                  <a:srgbClr val="00FF88">
                    <a:alpha val="55000"/>
                  </a:srgbClr>
                </a:solidFill>
                <a:latin typeface="Consolas" pitchFamily="34" charset="0"/>
                <a:ea typeface="Consolas" pitchFamily="34" charset="-122"/>
                <a:cs typeface="Consolas" pitchFamily="34" charset="-120"/>
              </a:rPr>
              <a:t>1</a:t>
            </a:r>
            <a:endParaRPr lang="en-US" sz="700" dirty="0"/>
          </a:p>
          <a:p>
            <a:pPr algn="ctr" indent="0" marL="0">
              <a:buNone/>
            </a:pPr>
            <a:r>
              <a:rPr lang="en-US" sz="700" dirty="0">
                <a:solidFill>
                  <a:srgbClr val="00FF88">
                    <a:alpha val="55000"/>
                  </a:srgbClr>
                </a:solidFill>
                <a:latin typeface="Consolas" pitchFamily="34" charset="0"/>
                <a:ea typeface="Consolas" pitchFamily="34" charset="-122"/>
                <a:cs typeface="Consolas" pitchFamily="34" charset="-120"/>
              </a:rPr>
              <a:t>1</a:t>
            </a:r>
            <a:endParaRPr lang="en-US" sz="700" dirty="0"/>
          </a:p>
          <a:p>
            <a:pPr algn="ctr" indent="0" marL="0">
              <a:buNone/>
            </a:pPr>
            <a:r>
              <a:rPr lang="en-US" sz="700" dirty="0">
                <a:solidFill>
                  <a:srgbClr val="00FF88">
                    <a:alpha val="55000"/>
                  </a:srgbClr>
                </a:solidFill>
                <a:latin typeface="Consolas" pitchFamily="34" charset="0"/>
                <a:ea typeface="Consolas" pitchFamily="34" charset="-122"/>
                <a:cs typeface="Consolas" pitchFamily="34" charset="-120"/>
              </a:rPr>
              <a:t>0</a:t>
            </a:r>
            <a:endParaRPr lang="en-US" sz="700" dirty="0"/>
          </a:p>
          <a:p>
            <a:pPr algn="ctr" indent="0" marL="0">
              <a:buNone/>
            </a:pPr>
            <a:r>
              <a:rPr lang="en-US" sz="700" dirty="0">
                <a:solidFill>
                  <a:srgbClr val="00FF88">
                    <a:alpha val="55000"/>
                  </a:srgbClr>
                </a:solidFill>
                <a:latin typeface="Consolas" pitchFamily="34" charset="0"/>
                <a:ea typeface="Consolas" pitchFamily="34" charset="-122"/>
                <a:cs typeface="Consolas" pitchFamily="34" charset="-120"/>
              </a:rPr>
              <a:t>0</a:t>
            </a:r>
            <a:endParaRPr lang="en-US" sz="700" dirty="0"/>
          </a:p>
          <a:p>
            <a:pPr algn="ctr" indent="0" marL="0">
              <a:buNone/>
            </a:pPr>
            <a:r>
              <a:rPr lang="en-US" sz="700" dirty="0">
                <a:solidFill>
                  <a:srgbClr val="00FF88">
                    <a:alpha val="55000"/>
                  </a:srgbClr>
                </a:solidFill>
                <a:latin typeface="Consolas" pitchFamily="34" charset="0"/>
                <a:ea typeface="Consolas" pitchFamily="34" charset="-122"/>
                <a:cs typeface="Consolas" pitchFamily="34" charset="-120"/>
              </a:rPr>
              <a:t>0</a:t>
            </a:r>
            <a:endParaRPr lang="en-US" sz="700" dirty="0"/>
          </a:p>
          <a:p>
            <a:pPr algn="ctr" indent="0" marL="0">
              <a:buNone/>
            </a:pPr>
            <a:r>
              <a:rPr lang="en-US" sz="700" dirty="0">
                <a:solidFill>
                  <a:srgbClr val="00FF88">
                    <a:alpha val="55000"/>
                  </a:srgbClr>
                </a:solidFill>
                <a:latin typeface="Consolas" pitchFamily="34" charset="0"/>
                <a:ea typeface="Consolas" pitchFamily="34" charset="-122"/>
                <a:cs typeface="Consolas" pitchFamily="34" charset="-120"/>
              </a:rPr>
              <a:t>0</a:t>
            </a:r>
            <a:endParaRPr lang="en-US" sz="700" dirty="0"/>
          </a:p>
        </p:txBody>
      </p:sp>
      <p:sp>
        <p:nvSpPr>
          <p:cNvPr id="21" name="Text 19"/>
          <p:cNvSpPr/>
          <p:nvPr/>
        </p:nvSpPr>
        <p:spPr>
          <a:xfrm>
            <a:off x="411480" y="640080"/>
            <a:ext cx="6858000" cy="320040"/>
          </a:xfrm>
          <a:prstGeom prst="rect">
            <a:avLst/>
          </a:prstGeom>
          <a:noFill/>
          <a:ln/>
        </p:spPr>
        <p:txBody>
          <a:bodyPr wrap="square" lIns="0" tIns="0" rIns="0" bIns="0" rtlCol="0" anchor="ctr"/>
          <a:lstStyle/>
          <a:p>
            <a:pPr indent="0" marL="0">
              <a:buNone/>
            </a:pPr>
            <a:r>
              <a:rPr lang="en-US" sz="1000" spc="500" kern="0" dirty="0">
                <a:solidFill>
                  <a:srgbClr val="00D4FF"/>
                </a:solidFill>
                <a:latin typeface="Consolas" pitchFamily="34" charset="0"/>
                <a:ea typeface="Consolas" pitchFamily="34" charset="-122"/>
                <a:cs typeface="Consolas" pitchFamily="34" charset="-120"/>
              </a:rPr>
              <a:t>[ CYBERSECURITY TRAINING ]</a:t>
            </a:r>
            <a:endParaRPr lang="en-US" sz="1000" dirty="0"/>
          </a:p>
        </p:txBody>
      </p:sp>
      <p:sp>
        <p:nvSpPr>
          <p:cNvPr id="22" name="Text 20"/>
          <p:cNvSpPr/>
          <p:nvPr/>
        </p:nvSpPr>
        <p:spPr>
          <a:xfrm>
            <a:off x="411480" y="1005840"/>
            <a:ext cx="6858000" cy="2103120"/>
          </a:xfrm>
          <a:prstGeom prst="rect">
            <a:avLst/>
          </a:prstGeom>
          <a:noFill/>
          <a:ln/>
        </p:spPr>
        <p:txBody>
          <a:bodyPr wrap="square" lIns="0" tIns="0" rIns="0" bIns="0" rtlCol="0" anchor="ctr"/>
          <a:lstStyle/>
          <a:p>
            <a:pPr indent="0" marL="0">
              <a:lnSpc>
                <a:spcPct val="110000"/>
              </a:lnSpc>
              <a:buNone/>
            </a:pPr>
            <a:r>
              <a:rPr lang="en-US" sz="4000" b="1" dirty="0">
                <a:solidFill>
                  <a:srgbClr val="FFFFFF"/>
                </a:solidFill>
                <a:latin typeface="Consolas" pitchFamily="34" charset="0"/>
                <a:ea typeface="Consolas" pitchFamily="34" charset="-122"/>
                <a:cs typeface="Consolas" pitchFamily="34" charset="-120"/>
              </a:rPr>
              <a:t>Introduction to</a:t>
            </a:r>
            <a:endParaRPr lang="en-US" sz="4000" dirty="0"/>
          </a:p>
          <a:p>
            <a:pPr indent="0" marL="0">
              <a:lnSpc>
                <a:spcPct val="110000"/>
              </a:lnSpc>
              <a:buNone/>
            </a:pPr>
            <a:r>
              <a:rPr lang="en-US" sz="4000" b="1" dirty="0">
                <a:solidFill>
                  <a:srgbClr val="FFFFFF"/>
                </a:solidFill>
                <a:latin typeface="Consolas" pitchFamily="34" charset="0"/>
                <a:ea typeface="Consolas" pitchFamily="34" charset="-122"/>
                <a:cs typeface="Consolas" pitchFamily="34" charset="-120"/>
              </a:rPr>
              <a:t>Reverse Engineering</a:t>
            </a:r>
            <a:endParaRPr lang="en-US" sz="4000" dirty="0"/>
          </a:p>
          <a:p>
            <a:pPr indent="0" marL="0">
              <a:lnSpc>
                <a:spcPct val="110000"/>
              </a:lnSpc>
              <a:buNone/>
            </a:pPr>
            <a:r>
              <a:rPr lang="en-US" sz="4000" b="1" dirty="0">
                <a:solidFill>
                  <a:srgbClr val="FFFFFF"/>
                </a:solidFill>
                <a:latin typeface="Consolas" pitchFamily="34" charset="0"/>
                <a:ea typeface="Consolas" pitchFamily="34" charset="-122"/>
                <a:cs typeface="Consolas" pitchFamily="34" charset="-120"/>
              </a:rPr>
              <a:t>for Beginners</a:t>
            </a:r>
            <a:endParaRPr lang="en-US" sz="4000" dirty="0"/>
          </a:p>
        </p:txBody>
      </p:sp>
      <p:sp>
        <p:nvSpPr>
          <p:cNvPr id="23" name="Shape 21"/>
          <p:cNvSpPr/>
          <p:nvPr/>
        </p:nvSpPr>
        <p:spPr>
          <a:xfrm>
            <a:off x="411480" y="3154680"/>
            <a:ext cx="3200400" cy="36576"/>
          </a:xfrm>
          <a:prstGeom prst="rect">
            <a:avLst/>
          </a:prstGeom>
          <a:solidFill>
            <a:srgbClr val="00FF88"/>
          </a:solidFill>
          <a:ln w="12700">
            <a:solidFill>
              <a:srgbClr val="00FF88"/>
            </a:solidFill>
            <a:prstDash val="solid"/>
          </a:ln>
        </p:spPr>
      </p:sp>
      <p:sp>
        <p:nvSpPr>
          <p:cNvPr id="24" name="Text 22"/>
          <p:cNvSpPr/>
          <p:nvPr/>
        </p:nvSpPr>
        <p:spPr>
          <a:xfrm>
            <a:off x="411480" y="3291840"/>
            <a:ext cx="6858000" cy="365760"/>
          </a:xfrm>
          <a:prstGeom prst="rect">
            <a:avLst/>
          </a:prstGeom>
          <a:noFill/>
          <a:ln/>
        </p:spPr>
        <p:txBody>
          <a:bodyPr wrap="square" lIns="0" tIns="0" rIns="0" bIns="0" rtlCol="0" anchor="ctr"/>
          <a:lstStyle/>
          <a:p>
            <a:pPr indent="0" marL="0">
              <a:buNone/>
            </a:pPr>
            <a:r>
              <a:rPr lang="en-US" sz="1400" dirty="0">
                <a:solidFill>
                  <a:srgbClr val="8B9BB4"/>
                </a:solidFill>
                <a:latin typeface="Calibri" pitchFamily="34" charset="0"/>
                <a:ea typeface="Calibri" pitchFamily="34" charset="-122"/>
                <a:cs typeface="Calibri" pitchFamily="34" charset="-120"/>
              </a:rPr>
              <a:t>Understanding how software works — from the inside out</a:t>
            </a:r>
            <a:endParaRPr lang="en-US" sz="1400" dirty="0"/>
          </a:p>
        </p:txBody>
      </p:sp>
      <p:sp>
        <p:nvSpPr>
          <p:cNvPr id="25" name="Text 23"/>
          <p:cNvSpPr/>
          <p:nvPr/>
        </p:nvSpPr>
        <p:spPr>
          <a:xfrm>
            <a:off x="411480" y="4663440"/>
            <a:ext cx="6858000" cy="274320"/>
          </a:xfrm>
          <a:prstGeom prst="rect">
            <a:avLst/>
          </a:prstGeom>
          <a:noFill/>
          <a:ln/>
        </p:spPr>
        <p:txBody>
          <a:bodyPr wrap="square" lIns="0" tIns="0" rIns="0" bIns="0" rtlCol="0" anchor="ctr"/>
          <a:lstStyle/>
          <a:p>
            <a:pPr indent="0" marL="0">
              <a:buNone/>
            </a:pPr>
            <a:r>
              <a:rPr lang="en-US" sz="900" dirty="0">
                <a:solidFill>
                  <a:srgbClr val="8B9BB4"/>
                </a:solidFill>
                <a:latin typeface="Consolas" pitchFamily="34" charset="0"/>
                <a:ea typeface="Consolas" pitchFamily="34" charset="-122"/>
                <a:cs typeface="Consolas" pitchFamily="34" charset="-120"/>
              </a:rPr>
              <a:t>Beginner Level  ·  Module 1  ·  All Rights Reserved</a:t>
            </a:r>
            <a:endParaRPr lang="en-US" sz="900" dirty="0"/>
          </a:p>
        </p:txBody>
      </p:sp>
      <p:sp>
        <p:nvSpPr>
          <p:cNvPr id="26" name="Text 24"/>
          <p:cNvSpPr/>
          <p:nvPr/>
        </p:nvSpPr>
        <p:spPr>
          <a:xfrm>
            <a:off x="411480" y="3931920"/>
            <a:ext cx="5486400" cy="320040"/>
          </a:xfrm>
          <a:prstGeom prst="rect">
            <a:avLst/>
          </a:prstGeom>
          <a:noFill/>
          <a:ln/>
        </p:spPr>
        <p:txBody>
          <a:bodyPr wrap="square" lIns="0" tIns="0" rIns="0" bIns="0" rtlCol="0" anchor="ctr"/>
          <a:lstStyle/>
          <a:p>
            <a:pPr indent="0" marL="0">
              <a:buNone/>
            </a:pPr>
            <a:r>
              <a:rPr lang="en-US" sz="1100" dirty="0">
                <a:solidFill>
                  <a:srgbClr val="00FF88"/>
                </a:solidFill>
                <a:latin typeface="Consolas" pitchFamily="34" charset="0"/>
                <a:ea typeface="Consolas" pitchFamily="34" charset="-122"/>
                <a:cs typeface="Consolas" pitchFamily="34" charset="-120"/>
              </a:rPr>
              <a:t>root@re-lab:~# ./start_course.sh</a:t>
            </a:r>
            <a:endParaRPr lang="en-US" sz="1100" dirty="0"/>
          </a:p>
        </p:txBody>
      </p:sp>
      <p:sp>
        <p:nvSpPr>
          <p:cNvPr id="27" name="Shape 25"/>
          <p:cNvSpPr/>
          <p:nvPr/>
        </p:nvSpPr>
        <p:spPr>
          <a:xfrm>
            <a:off x="5623560" y="4014216"/>
            <a:ext cx="91440" cy="182880"/>
          </a:xfrm>
          <a:prstGeom prst="rect">
            <a:avLst/>
          </a:prstGeom>
          <a:solidFill>
            <a:srgbClr val="00FF88"/>
          </a:solidFill>
          <a:ln w="12700">
            <a:solidFill>
              <a:srgbClr val="00FF88"/>
            </a:solidFill>
            <a:prstDash val="solid"/>
          </a:ln>
        </p:spPr>
      </p:sp>
      <p:sp>
        <p:nvSpPr>
          <p:cNvPr id="28" name="Shape 26"/>
          <p:cNvSpPr/>
          <p:nvPr/>
        </p:nvSpPr>
        <p:spPr>
          <a:xfrm>
            <a:off x="164592" y="164592"/>
            <a:ext cx="365760" cy="45720"/>
          </a:xfrm>
          <a:prstGeom prst="rect">
            <a:avLst/>
          </a:prstGeom>
          <a:solidFill>
            <a:srgbClr val="00FF88"/>
          </a:solidFill>
          <a:ln w="12700">
            <a:solidFill>
              <a:srgbClr val="00FF88"/>
            </a:solidFill>
            <a:prstDash val="solid"/>
          </a:ln>
        </p:spPr>
      </p:sp>
      <p:sp>
        <p:nvSpPr>
          <p:cNvPr id="29" name="Shape 27"/>
          <p:cNvSpPr/>
          <p:nvPr/>
        </p:nvSpPr>
        <p:spPr>
          <a:xfrm>
            <a:off x="164592" y="164592"/>
            <a:ext cx="45720" cy="274320"/>
          </a:xfrm>
          <a:prstGeom prst="rect">
            <a:avLst/>
          </a:prstGeom>
          <a:solidFill>
            <a:srgbClr val="00FF88"/>
          </a:solidFill>
          <a:ln w="12700">
            <a:solidFill>
              <a:srgbClr val="00FF88"/>
            </a:solidFill>
            <a:prstDash val="solid"/>
          </a:ln>
        </p:spPr>
      </p:sp>
      <p:sp>
        <p:nvSpPr>
          <p:cNvPr id="30" name="Shape 28"/>
          <p:cNvSpPr/>
          <p:nvPr/>
        </p:nvSpPr>
        <p:spPr>
          <a:xfrm>
            <a:off x="8613648" y="4910328"/>
            <a:ext cx="365760" cy="45720"/>
          </a:xfrm>
          <a:prstGeom prst="rect">
            <a:avLst/>
          </a:prstGeom>
          <a:solidFill>
            <a:srgbClr val="00D4FF"/>
          </a:solidFill>
          <a:ln w="12700">
            <a:solidFill>
              <a:srgbClr val="00D4FF"/>
            </a:solidFill>
            <a:prstDash val="solid"/>
          </a:ln>
        </p:spPr>
      </p:sp>
      <p:sp>
        <p:nvSpPr>
          <p:cNvPr id="31" name="Shape 29"/>
          <p:cNvSpPr/>
          <p:nvPr/>
        </p:nvSpPr>
        <p:spPr>
          <a:xfrm>
            <a:off x="8933688" y="4681728"/>
            <a:ext cx="45720" cy="274320"/>
          </a:xfrm>
          <a:prstGeom prst="rect">
            <a:avLst/>
          </a:prstGeom>
          <a:solidFill>
            <a:srgbClr val="00D4FF"/>
          </a:solidFill>
          <a:ln w="12700">
            <a:solidFill>
              <a:srgbClr val="00D4FF"/>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3200400" cy="5143500"/>
          </a:xfrm>
          <a:prstGeom prst="rect">
            <a:avLst/>
          </a:prstGeom>
          <a:solidFill>
            <a:srgbClr val="111827"/>
          </a:solidFill>
          <a:ln w="12700">
            <a:solidFill>
              <a:srgbClr val="111827"/>
            </a:solidFill>
            <a:prstDash val="solid"/>
          </a:ln>
        </p:spPr>
      </p:sp>
      <p:sp>
        <p:nvSpPr>
          <p:cNvPr id="3" name="Shape 1"/>
          <p:cNvSpPr/>
          <p:nvPr/>
        </p:nvSpPr>
        <p:spPr>
          <a:xfrm>
            <a:off x="3163824" y="0"/>
            <a:ext cx="36576" cy="5143500"/>
          </a:xfrm>
          <a:prstGeom prst="rect">
            <a:avLst/>
          </a:prstGeom>
          <a:solidFill>
            <a:srgbClr val="00FF88"/>
          </a:solidFill>
          <a:ln w="12700">
            <a:solidFill>
              <a:srgbClr val="00FF88"/>
            </a:solidFill>
            <a:prstDash val="solid"/>
          </a:ln>
        </p:spPr>
      </p:sp>
      <p:sp>
        <p:nvSpPr>
          <p:cNvPr id="4" name="Text 2"/>
          <p:cNvSpPr/>
          <p:nvPr/>
        </p:nvSpPr>
        <p:spPr>
          <a:xfrm>
            <a:off x="274320" y="365760"/>
            <a:ext cx="2560320" cy="365760"/>
          </a:xfrm>
          <a:prstGeom prst="rect">
            <a:avLst/>
          </a:prstGeom>
          <a:noFill/>
          <a:ln/>
        </p:spPr>
        <p:txBody>
          <a:bodyPr wrap="square" lIns="0" tIns="0" rIns="0" bIns="0" rtlCol="0" anchor="ctr"/>
          <a:lstStyle/>
          <a:p>
            <a:pPr indent="0" marL="0">
              <a:buNone/>
            </a:pPr>
            <a:r>
              <a:rPr lang="en-US" sz="1000" spc="400" kern="0" dirty="0">
                <a:solidFill>
                  <a:srgbClr val="8B9BB4"/>
                </a:solidFill>
                <a:latin typeface="Consolas" pitchFamily="34" charset="0"/>
                <a:ea typeface="Consolas" pitchFamily="34" charset="-122"/>
                <a:cs typeface="Consolas" pitchFamily="34" charset="-120"/>
              </a:rPr>
              <a:t>SECTION 1</a:t>
            </a:r>
            <a:endParaRPr lang="en-US" sz="1000" dirty="0"/>
          </a:p>
        </p:txBody>
      </p:sp>
      <p:sp>
        <p:nvSpPr>
          <p:cNvPr id="5" name="Text 3"/>
          <p:cNvSpPr/>
          <p:nvPr/>
        </p:nvSpPr>
        <p:spPr>
          <a:xfrm>
            <a:off x="274320" y="731520"/>
            <a:ext cx="2560320" cy="1645920"/>
          </a:xfrm>
          <a:prstGeom prst="rect">
            <a:avLst/>
          </a:prstGeom>
          <a:noFill/>
          <a:ln/>
        </p:spPr>
        <p:txBody>
          <a:bodyPr wrap="square" lIns="0" tIns="0" rIns="0" bIns="0" rtlCol="0" anchor="ctr"/>
          <a:lstStyle/>
          <a:p>
            <a:pPr indent="0" marL="0">
              <a:buNone/>
            </a:pPr>
            <a:r>
              <a:rPr lang="en-US" sz="10000" b="1" dirty="0">
                <a:solidFill>
                  <a:srgbClr val="00FF88">
                    <a:alpha val="90000"/>
                  </a:srgbClr>
                </a:solidFill>
                <a:latin typeface="Consolas" pitchFamily="34" charset="0"/>
                <a:ea typeface="Consolas" pitchFamily="34" charset="-122"/>
                <a:cs typeface="Consolas" pitchFamily="34" charset="-120"/>
              </a:rPr>
              <a:t>01</a:t>
            </a:r>
            <a:endParaRPr lang="en-US" sz="10000" dirty="0"/>
          </a:p>
        </p:txBody>
      </p:sp>
      <p:pic>
        <p:nvPicPr>
          <p:cNvPr id="6" name="Image 0" descr="preencoded.png">    </p:cNvPr>
          <p:cNvPicPr>
            <a:picLocks noChangeAspect="1"/>
          </p:cNvPicPr>
          <p:nvPr/>
        </p:nvPicPr>
        <p:blipFill>
          <a:blip r:embed="rId1"/>
          <a:stretch>
            <a:fillRect/>
          </a:stretch>
        </p:blipFill>
        <p:spPr>
          <a:xfrm>
            <a:off x="822960" y="2926080"/>
            <a:ext cx="1463040" cy="1463040"/>
          </a:xfrm>
          <a:prstGeom prst="rect">
            <a:avLst/>
          </a:prstGeom>
        </p:spPr>
      </p:pic>
      <p:sp>
        <p:nvSpPr>
          <p:cNvPr id="7" name="Text 4"/>
          <p:cNvSpPr/>
          <p:nvPr/>
        </p:nvSpPr>
        <p:spPr>
          <a:xfrm>
            <a:off x="3474720" y="1463040"/>
            <a:ext cx="5394960" cy="1371600"/>
          </a:xfrm>
          <a:prstGeom prst="rect">
            <a:avLst/>
          </a:prstGeom>
          <a:noFill/>
          <a:ln/>
        </p:spPr>
        <p:txBody>
          <a:bodyPr wrap="square" lIns="0" tIns="0" rIns="0" bIns="0" rtlCol="0" anchor="ctr"/>
          <a:lstStyle/>
          <a:p>
            <a:pPr indent="0" marL="0">
              <a:buNone/>
            </a:pPr>
            <a:r>
              <a:rPr lang="en-US" sz="3600" b="1" dirty="0">
                <a:solidFill>
                  <a:srgbClr val="FFFFFF"/>
                </a:solidFill>
                <a:latin typeface="Consolas" pitchFamily="34" charset="0"/>
                <a:ea typeface="Consolas" pitchFamily="34" charset="-122"/>
                <a:cs typeface="Consolas" pitchFamily="34" charset="-120"/>
              </a:rPr>
              <a:t>Introduction</a:t>
            </a:r>
            <a:endParaRPr lang="en-US" sz="3600" dirty="0"/>
          </a:p>
        </p:txBody>
      </p:sp>
      <p:sp>
        <p:nvSpPr>
          <p:cNvPr id="8" name="Text 5"/>
          <p:cNvSpPr/>
          <p:nvPr/>
        </p:nvSpPr>
        <p:spPr>
          <a:xfrm>
            <a:off x="3474720" y="2926080"/>
            <a:ext cx="5394960" cy="1097280"/>
          </a:xfrm>
          <a:prstGeom prst="rect">
            <a:avLst/>
          </a:prstGeom>
          <a:noFill/>
          <a:ln/>
        </p:spPr>
        <p:txBody>
          <a:bodyPr wrap="square" lIns="0" tIns="0" rIns="0" bIns="0" rtlCol="0" anchor="ctr"/>
          <a:lstStyle/>
          <a:p>
            <a:pPr indent="0" marL="0">
              <a:buNone/>
            </a:pPr>
            <a:r>
              <a:rPr lang="en-US" sz="1400" dirty="0">
                <a:solidFill>
                  <a:srgbClr val="8B9BB4"/>
                </a:solidFill>
                <a:latin typeface="Calibri" pitchFamily="34" charset="0"/>
                <a:ea typeface="Calibri" pitchFamily="34" charset="-122"/>
                <a:cs typeface="Calibri" pitchFamily="34" charset="-120"/>
              </a:rPr>
              <a:t>What reverse engineering is, why it matters, and the ethical landscape.</a:t>
            </a:r>
            <a:endParaRPr lang="en-US" sz="1400" dirty="0"/>
          </a:p>
        </p:txBody>
      </p:sp>
      <p:sp>
        <p:nvSpPr>
          <p:cNvPr id="9" name="Shape 6"/>
          <p:cNvSpPr/>
          <p:nvPr/>
        </p:nvSpPr>
        <p:spPr>
          <a:xfrm>
            <a:off x="3474720" y="4297680"/>
            <a:ext cx="91440" cy="91440"/>
          </a:xfrm>
          <a:prstGeom prst="ellipse">
            <a:avLst/>
          </a:prstGeom>
          <a:solidFill>
            <a:srgbClr val="00FF88"/>
          </a:solidFill>
          <a:ln w="12700">
            <a:solidFill>
              <a:srgbClr val="00FF88"/>
            </a:solidFill>
            <a:prstDash val="solid"/>
          </a:ln>
        </p:spPr>
      </p:sp>
      <p:sp>
        <p:nvSpPr>
          <p:cNvPr id="10" name="Shape 7"/>
          <p:cNvSpPr/>
          <p:nvPr/>
        </p:nvSpPr>
        <p:spPr>
          <a:xfrm>
            <a:off x="3794760" y="4297680"/>
            <a:ext cx="91440" cy="91440"/>
          </a:xfrm>
          <a:prstGeom prst="ellipse">
            <a:avLst/>
          </a:prstGeom>
          <a:solidFill>
            <a:srgbClr val="00FF88">
              <a:alpha val="85000"/>
            </a:srgbClr>
          </a:solidFill>
          <a:ln w="12700">
            <a:solidFill>
              <a:srgbClr val="00FF88">
                <a:alpha val="85000"/>
              </a:srgbClr>
            </a:solidFill>
            <a:prstDash val="solid"/>
          </a:ln>
        </p:spPr>
      </p:sp>
      <p:sp>
        <p:nvSpPr>
          <p:cNvPr id="11" name="Shape 8"/>
          <p:cNvSpPr/>
          <p:nvPr/>
        </p:nvSpPr>
        <p:spPr>
          <a:xfrm>
            <a:off x="4114800" y="4297680"/>
            <a:ext cx="91440" cy="91440"/>
          </a:xfrm>
          <a:prstGeom prst="ellipse">
            <a:avLst/>
          </a:prstGeom>
          <a:solidFill>
            <a:srgbClr val="00FF88">
              <a:alpha val="70000"/>
            </a:srgbClr>
          </a:solidFill>
          <a:ln w="12700">
            <a:solidFill>
              <a:srgbClr val="00FF88">
                <a:alpha val="70000"/>
              </a:srgbClr>
            </a:solidFill>
            <a:prstDash val="solid"/>
          </a:ln>
        </p:spPr>
      </p:sp>
      <p:sp>
        <p:nvSpPr>
          <p:cNvPr id="12" name="Shape 9"/>
          <p:cNvSpPr/>
          <p:nvPr/>
        </p:nvSpPr>
        <p:spPr>
          <a:xfrm>
            <a:off x="4434840" y="4297680"/>
            <a:ext cx="91440" cy="91440"/>
          </a:xfrm>
          <a:prstGeom prst="ellipse">
            <a:avLst/>
          </a:prstGeom>
          <a:solidFill>
            <a:srgbClr val="00FF88">
              <a:alpha val="55000"/>
            </a:srgbClr>
          </a:solidFill>
          <a:ln w="12700">
            <a:solidFill>
              <a:srgbClr val="00FF88">
                <a:alpha val="55000"/>
              </a:srgbClr>
            </a:solidFill>
            <a:prstDash val="solid"/>
          </a:ln>
        </p:spPr>
      </p:sp>
      <p:sp>
        <p:nvSpPr>
          <p:cNvPr id="13" name="Shape 10"/>
          <p:cNvSpPr/>
          <p:nvPr/>
        </p:nvSpPr>
        <p:spPr>
          <a:xfrm>
            <a:off x="4754880" y="4297680"/>
            <a:ext cx="91440" cy="91440"/>
          </a:xfrm>
          <a:prstGeom prst="ellipse">
            <a:avLst/>
          </a:prstGeom>
          <a:solidFill>
            <a:srgbClr val="00FF88">
              <a:alpha val="40000"/>
            </a:srgbClr>
          </a:solidFill>
          <a:ln w="12700">
            <a:solidFill>
              <a:srgbClr val="00FF88">
                <a:alpha val="40000"/>
              </a:srgbClr>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164592" y="164592"/>
            <a:ext cx="365760" cy="45720"/>
          </a:xfrm>
          <a:prstGeom prst="rect">
            <a:avLst/>
          </a:prstGeom>
          <a:solidFill>
            <a:srgbClr val="00FF88"/>
          </a:solidFill>
          <a:ln w="12700">
            <a:solidFill>
              <a:srgbClr val="00FF88"/>
            </a:solidFill>
            <a:prstDash val="solid"/>
          </a:ln>
        </p:spPr>
      </p:sp>
      <p:sp>
        <p:nvSpPr>
          <p:cNvPr id="3" name="Shape 1"/>
          <p:cNvSpPr/>
          <p:nvPr/>
        </p:nvSpPr>
        <p:spPr>
          <a:xfrm>
            <a:off x="164592" y="164592"/>
            <a:ext cx="45720" cy="274320"/>
          </a:xfrm>
          <a:prstGeom prst="rect">
            <a:avLst/>
          </a:prstGeom>
          <a:solidFill>
            <a:srgbClr val="00FF88"/>
          </a:solidFill>
          <a:ln w="12700">
            <a:solidFill>
              <a:srgbClr val="00FF88"/>
            </a:solidFill>
            <a:prstDash val="solid"/>
          </a:ln>
        </p:spPr>
      </p:sp>
      <p:sp>
        <p:nvSpPr>
          <p:cNvPr id="4" name="Shape 2"/>
          <p:cNvSpPr/>
          <p:nvPr/>
        </p:nvSpPr>
        <p:spPr>
          <a:xfrm>
            <a:off x="8613648" y="4910328"/>
            <a:ext cx="365760" cy="45720"/>
          </a:xfrm>
          <a:prstGeom prst="rect">
            <a:avLst/>
          </a:prstGeom>
          <a:solidFill>
            <a:srgbClr val="00D4FF"/>
          </a:solidFill>
          <a:ln w="12700">
            <a:solidFill>
              <a:srgbClr val="00D4FF"/>
            </a:solidFill>
            <a:prstDash val="solid"/>
          </a:ln>
        </p:spPr>
      </p:sp>
      <p:sp>
        <p:nvSpPr>
          <p:cNvPr id="5" name="Shape 3"/>
          <p:cNvSpPr/>
          <p:nvPr/>
        </p:nvSpPr>
        <p:spPr>
          <a:xfrm>
            <a:off x="8933688" y="4681728"/>
            <a:ext cx="45720" cy="274320"/>
          </a:xfrm>
          <a:prstGeom prst="rect">
            <a:avLst/>
          </a:prstGeom>
          <a:solidFill>
            <a:srgbClr val="00D4FF"/>
          </a:solidFill>
          <a:ln w="12700">
            <a:solidFill>
              <a:srgbClr val="00D4FF"/>
            </a:solidFill>
            <a:prstDash val="solid"/>
          </a:ln>
        </p:spPr>
      </p:sp>
      <p:sp>
        <p:nvSpPr>
          <p:cNvPr id="6" name="Shape 4"/>
          <p:cNvSpPr/>
          <p:nvPr/>
        </p:nvSpPr>
        <p:spPr>
          <a:xfrm>
            <a:off x="411480" y="201168"/>
            <a:ext cx="2798064" cy="256032"/>
          </a:xfrm>
          <a:prstGeom prst="rect">
            <a:avLst/>
          </a:prstGeom>
          <a:solidFill>
            <a:srgbClr val="00FF88"/>
          </a:solidFill>
          <a:ln w="12700">
            <a:solidFill>
              <a:srgbClr val="00FF88"/>
            </a:solidFill>
            <a:prstDash val="solid"/>
          </a:ln>
        </p:spPr>
      </p:sp>
      <p:sp>
        <p:nvSpPr>
          <p:cNvPr id="7" name="Text 5"/>
          <p:cNvSpPr/>
          <p:nvPr/>
        </p:nvSpPr>
        <p:spPr>
          <a:xfrm>
            <a:off x="411480" y="201168"/>
            <a:ext cx="2798064" cy="256032"/>
          </a:xfrm>
          <a:prstGeom prst="rect">
            <a:avLst/>
          </a:prstGeom>
          <a:noFill/>
          <a:ln/>
        </p:spPr>
        <p:txBody>
          <a:bodyPr wrap="square" lIns="0" tIns="0" rIns="0" bIns="0" rtlCol="0" anchor="ctr"/>
          <a:lstStyle/>
          <a:p>
            <a:pPr algn="ctr" indent="0" marL="0">
              <a:buNone/>
            </a:pPr>
            <a:r>
              <a:rPr lang="en-US" sz="900" b="1" dirty="0">
                <a:solidFill>
                  <a:srgbClr val="0A0E1A"/>
                </a:solidFill>
                <a:latin typeface="Consolas" pitchFamily="34" charset="0"/>
                <a:ea typeface="Consolas" pitchFamily="34" charset="-122"/>
                <a:cs typeface="Consolas" pitchFamily="34" charset="-120"/>
              </a:rPr>
              <a:t>SECTION 1 · INTRODUCTION</a:t>
            </a:r>
            <a:endParaRPr lang="en-US" sz="900" dirty="0"/>
          </a:p>
        </p:txBody>
      </p:sp>
      <p:sp>
        <p:nvSpPr>
          <p:cNvPr id="8" name="Text 6"/>
          <p:cNvSpPr/>
          <p:nvPr/>
        </p:nvSpPr>
        <p:spPr>
          <a:xfrm>
            <a:off x="411480" y="530352"/>
            <a:ext cx="8321040" cy="594360"/>
          </a:xfrm>
          <a:prstGeom prst="rect">
            <a:avLst/>
          </a:prstGeom>
          <a:noFill/>
          <a:ln/>
        </p:spPr>
        <p:txBody>
          <a:bodyPr wrap="square" lIns="0" tIns="0" rIns="0" bIns="0" rtlCol="0" anchor="ctr"/>
          <a:lstStyle/>
          <a:p>
            <a:pPr algn="l" indent="0" marL="0">
              <a:buNone/>
            </a:pPr>
            <a:r>
              <a:rPr lang="en-US" sz="2800" b="1" dirty="0">
                <a:solidFill>
                  <a:srgbClr val="00FF88"/>
                </a:solidFill>
                <a:latin typeface="Consolas" pitchFamily="34" charset="0"/>
                <a:ea typeface="Consolas" pitchFamily="34" charset="-122"/>
                <a:cs typeface="Consolas" pitchFamily="34" charset="-120"/>
              </a:rPr>
              <a:t>What is Reverse Engineering?</a:t>
            </a:r>
            <a:endParaRPr lang="en-US" sz="2800" dirty="0"/>
          </a:p>
        </p:txBody>
      </p:sp>
      <p:sp>
        <p:nvSpPr>
          <p:cNvPr id="9" name="Text 7"/>
          <p:cNvSpPr/>
          <p:nvPr/>
        </p:nvSpPr>
        <p:spPr>
          <a:xfrm>
            <a:off x="411480" y="1051560"/>
            <a:ext cx="8321040" cy="320040"/>
          </a:xfrm>
          <a:prstGeom prst="rect">
            <a:avLst/>
          </a:prstGeom>
          <a:noFill/>
          <a:ln/>
        </p:spPr>
        <p:txBody>
          <a:bodyPr wrap="square" lIns="0" tIns="0" rIns="0" bIns="0" rtlCol="0" anchor="ctr"/>
          <a:lstStyle/>
          <a:p>
            <a:pPr algn="l" indent="0" marL="0">
              <a:buNone/>
            </a:pPr>
            <a:r>
              <a:rPr lang="en-US" sz="1300" dirty="0">
                <a:solidFill>
                  <a:srgbClr val="8B9BB4"/>
                </a:solidFill>
                <a:latin typeface="Calibri" pitchFamily="34" charset="0"/>
                <a:ea typeface="Calibri" pitchFamily="34" charset="-122"/>
                <a:cs typeface="Calibri" pitchFamily="34" charset="-120"/>
              </a:rPr>
              <a:t>Analyzing a system to understand how it works — without access to its source code.</a:t>
            </a:r>
            <a:endParaRPr lang="en-US" sz="1300" dirty="0"/>
          </a:p>
        </p:txBody>
      </p:sp>
      <p:sp>
        <p:nvSpPr>
          <p:cNvPr id="10" name="Text 8"/>
          <p:cNvSpPr/>
          <p:nvPr/>
        </p:nvSpPr>
        <p:spPr>
          <a:xfrm>
            <a:off x="8686800" y="4754880"/>
            <a:ext cx="365760" cy="228600"/>
          </a:xfrm>
          <a:prstGeom prst="rect">
            <a:avLst/>
          </a:prstGeom>
          <a:noFill/>
          <a:ln/>
        </p:spPr>
        <p:txBody>
          <a:bodyPr wrap="square" lIns="0" tIns="0" rIns="0" bIns="0" rtlCol="0" anchor="ctr"/>
          <a:lstStyle/>
          <a:p>
            <a:pPr algn="r" indent="0" marL="0">
              <a:buNone/>
            </a:pPr>
            <a:r>
              <a:rPr lang="en-US" sz="900" dirty="0">
                <a:solidFill>
                  <a:srgbClr val="8B9BB4"/>
                </a:solidFill>
                <a:latin typeface="Consolas" pitchFamily="34" charset="0"/>
                <a:ea typeface="Consolas" pitchFamily="34" charset="-122"/>
                <a:cs typeface="Consolas" pitchFamily="34" charset="-120"/>
              </a:rPr>
              <a:t>03</a:t>
            </a:r>
            <a:endParaRPr lang="en-US" sz="900" dirty="0"/>
          </a:p>
        </p:txBody>
      </p:sp>
      <p:sp>
        <p:nvSpPr>
          <p:cNvPr id="11" name="Shape 9"/>
          <p:cNvSpPr/>
          <p:nvPr/>
        </p:nvSpPr>
        <p:spPr>
          <a:xfrm>
            <a:off x="320040" y="1417320"/>
            <a:ext cx="2651760" cy="1645920"/>
          </a:xfrm>
          <a:prstGeom prst="rect">
            <a:avLst/>
          </a:prstGeom>
          <a:solidFill>
            <a:srgbClr val="111827"/>
          </a:solidFill>
          <a:ln w="12700">
            <a:solidFill>
              <a:srgbClr val="1E3A5F"/>
            </a:solidFill>
            <a:prstDash val="solid"/>
          </a:ln>
        </p:spPr>
      </p:sp>
      <p:sp>
        <p:nvSpPr>
          <p:cNvPr id="12" name="Shape 10"/>
          <p:cNvSpPr/>
          <p:nvPr/>
        </p:nvSpPr>
        <p:spPr>
          <a:xfrm>
            <a:off x="320040" y="1417320"/>
            <a:ext cx="36576" cy="1645920"/>
          </a:xfrm>
          <a:prstGeom prst="rect">
            <a:avLst/>
          </a:prstGeom>
          <a:solidFill>
            <a:srgbClr val="00FF88"/>
          </a:solidFill>
          <a:ln w="12700">
            <a:solidFill>
              <a:srgbClr val="00FF88"/>
            </a:solidFill>
            <a:prstDash val="solid"/>
          </a:ln>
        </p:spPr>
      </p:sp>
      <p:sp>
        <p:nvSpPr>
          <p:cNvPr id="13" name="Text 11"/>
          <p:cNvSpPr/>
          <p:nvPr/>
        </p:nvSpPr>
        <p:spPr>
          <a:xfrm>
            <a:off x="429768" y="1508760"/>
            <a:ext cx="2468880" cy="256032"/>
          </a:xfrm>
          <a:prstGeom prst="rect">
            <a:avLst/>
          </a:prstGeom>
          <a:noFill/>
          <a:ln/>
        </p:spPr>
        <p:txBody>
          <a:bodyPr wrap="square" lIns="0" tIns="0" rIns="0" bIns="0" rtlCol="0" anchor="ctr"/>
          <a:lstStyle/>
          <a:p>
            <a:pPr indent="0" marL="0">
              <a:buNone/>
            </a:pPr>
            <a:r>
              <a:rPr lang="en-US" sz="1100" b="1" dirty="0">
                <a:solidFill>
                  <a:srgbClr val="00FF88"/>
                </a:solidFill>
                <a:latin typeface="Consolas" pitchFamily="34" charset="0"/>
                <a:ea typeface="Consolas" pitchFamily="34" charset="-122"/>
                <a:cs typeface="Consolas" pitchFamily="34" charset="-120"/>
              </a:rPr>
              <a:t>Definition</a:t>
            </a:r>
            <a:endParaRPr lang="en-US" sz="1100" dirty="0"/>
          </a:p>
        </p:txBody>
      </p:sp>
      <p:sp>
        <p:nvSpPr>
          <p:cNvPr id="14" name="Text 12"/>
          <p:cNvSpPr/>
          <p:nvPr/>
        </p:nvSpPr>
        <p:spPr>
          <a:xfrm>
            <a:off x="429768" y="1764792"/>
            <a:ext cx="2468880" cy="1188720"/>
          </a:xfrm>
          <a:prstGeom prst="rect">
            <a:avLst/>
          </a:prstGeom>
          <a:noFill/>
          <a:ln/>
        </p:spPr>
        <p:txBody>
          <a:bodyPr wrap="square" lIns="0" tIns="0" rIns="0" bIns="0" rtlCol="0" anchor="t"/>
          <a:lstStyle/>
          <a:p>
            <a:pPr indent="0" marL="0">
              <a:buNone/>
            </a:pPr>
            <a:r>
              <a:rPr lang="en-US" sz="1000" dirty="0">
                <a:solidFill>
                  <a:srgbClr val="E2E8F0"/>
                </a:solidFill>
                <a:latin typeface="Calibri" pitchFamily="34" charset="0"/>
                <a:ea typeface="Calibri" pitchFamily="34" charset="-122"/>
                <a:cs typeface="Calibri" pitchFamily="34" charset="-120"/>
              </a:rPr>
              <a:t>The process of taking compiled software and working backwards to understand its logic, structure, and behavior.</a:t>
            </a:r>
            <a:endParaRPr lang="en-US" sz="1000" dirty="0"/>
          </a:p>
        </p:txBody>
      </p:sp>
      <p:sp>
        <p:nvSpPr>
          <p:cNvPr id="15" name="Shape 13"/>
          <p:cNvSpPr/>
          <p:nvPr/>
        </p:nvSpPr>
        <p:spPr>
          <a:xfrm>
            <a:off x="3154680" y="1417320"/>
            <a:ext cx="2651760" cy="1645920"/>
          </a:xfrm>
          <a:prstGeom prst="rect">
            <a:avLst/>
          </a:prstGeom>
          <a:solidFill>
            <a:srgbClr val="111827"/>
          </a:solidFill>
          <a:ln w="12700">
            <a:solidFill>
              <a:srgbClr val="1E3A5F"/>
            </a:solidFill>
            <a:prstDash val="solid"/>
          </a:ln>
        </p:spPr>
      </p:sp>
      <p:sp>
        <p:nvSpPr>
          <p:cNvPr id="16" name="Shape 14"/>
          <p:cNvSpPr/>
          <p:nvPr/>
        </p:nvSpPr>
        <p:spPr>
          <a:xfrm>
            <a:off x="3154680" y="1417320"/>
            <a:ext cx="36576" cy="1645920"/>
          </a:xfrm>
          <a:prstGeom prst="rect">
            <a:avLst/>
          </a:prstGeom>
          <a:solidFill>
            <a:srgbClr val="00D4FF"/>
          </a:solidFill>
          <a:ln w="12700">
            <a:solidFill>
              <a:srgbClr val="00D4FF"/>
            </a:solidFill>
            <a:prstDash val="solid"/>
          </a:ln>
        </p:spPr>
      </p:sp>
      <p:sp>
        <p:nvSpPr>
          <p:cNvPr id="17" name="Text 15"/>
          <p:cNvSpPr/>
          <p:nvPr/>
        </p:nvSpPr>
        <p:spPr>
          <a:xfrm>
            <a:off x="3264408" y="1508760"/>
            <a:ext cx="2468880" cy="256032"/>
          </a:xfrm>
          <a:prstGeom prst="rect">
            <a:avLst/>
          </a:prstGeom>
          <a:noFill/>
          <a:ln/>
        </p:spPr>
        <p:txBody>
          <a:bodyPr wrap="square" lIns="0" tIns="0" rIns="0" bIns="0" rtlCol="0" anchor="ctr"/>
          <a:lstStyle/>
          <a:p>
            <a:pPr indent="0" marL="0">
              <a:buNone/>
            </a:pPr>
            <a:r>
              <a:rPr lang="en-US" sz="1100" b="1" dirty="0">
                <a:solidFill>
                  <a:srgbClr val="00D4FF"/>
                </a:solidFill>
                <a:latin typeface="Consolas" pitchFamily="34" charset="0"/>
                <a:ea typeface="Consolas" pitchFamily="34" charset="-122"/>
                <a:cs typeface="Consolas" pitchFamily="34" charset="-120"/>
              </a:rPr>
              <a:t>Analogy</a:t>
            </a:r>
            <a:endParaRPr lang="en-US" sz="1100" dirty="0"/>
          </a:p>
        </p:txBody>
      </p:sp>
      <p:sp>
        <p:nvSpPr>
          <p:cNvPr id="18" name="Text 16"/>
          <p:cNvSpPr/>
          <p:nvPr/>
        </p:nvSpPr>
        <p:spPr>
          <a:xfrm>
            <a:off x="3264408" y="1764792"/>
            <a:ext cx="2468880" cy="1188720"/>
          </a:xfrm>
          <a:prstGeom prst="rect">
            <a:avLst/>
          </a:prstGeom>
          <a:noFill/>
          <a:ln/>
        </p:spPr>
        <p:txBody>
          <a:bodyPr wrap="square" lIns="0" tIns="0" rIns="0" bIns="0" rtlCol="0" anchor="t"/>
          <a:lstStyle/>
          <a:p>
            <a:pPr indent="0" marL="0">
              <a:buNone/>
            </a:pPr>
            <a:r>
              <a:rPr lang="en-US" sz="1000" dirty="0">
                <a:solidFill>
                  <a:srgbClr val="E2E8F0"/>
                </a:solidFill>
                <a:latin typeface="Calibri" pitchFamily="34" charset="0"/>
                <a:ea typeface="Calibri" pitchFamily="34" charset="-122"/>
                <a:cs typeface="Calibri" pitchFamily="34" charset="-120"/>
              </a:rPr>
              <a:t>Like disassembling a watch to understand its gears — without having the original blueprint.</a:t>
            </a:r>
            <a:endParaRPr lang="en-US" sz="1000" dirty="0"/>
          </a:p>
        </p:txBody>
      </p:sp>
      <p:sp>
        <p:nvSpPr>
          <p:cNvPr id="19" name="Shape 17"/>
          <p:cNvSpPr/>
          <p:nvPr/>
        </p:nvSpPr>
        <p:spPr>
          <a:xfrm>
            <a:off x="5989320" y="1417320"/>
            <a:ext cx="2651760" cy="1645920"/>
          </a:xfrm>
          <a:prstGeom prst="rect">
            <a:avLst/>
          </a:prstGeom>
          <a:solidFill>
            <a:srgbClr val="111827"/>
          </a:solidFill>
          <a:ln w="12700">
            <a:solidFill>
              <a:srgbClr val="1E3A5F"/>
            </a:solidFill>
            <a:prstDash val="solid"/>
          </a:ln>
        </p:spPr>
      </p:sp>
      <p:sp>
        <p:nvSpPr>
          <p:cNvPr id="20" name="Shape 18"/>
          <p:cNvSpPr/>
          <p:nvPr/>
        </p:nvSpPr>
        <p:spPr>
          <a:xfrm>
            <a:off x="5989320" y="1417320"/>
            <a:ext cx="36576" cy="1645920"/>
          </a:xfrm>
          <a:prstGeom prst="rect">
            <a:avLst/>
          </a:prstGeom>
          <a:solidFill>
            <a:srgbClr val="FF6B35"/>
          </a:solidFill>
          <a:ln w="12700">
            <a:solidFill>
              <a:srgbClr val="FF6B35"/>
            </a:solidFill>
            <a:prstDash val="solid"/>
          </a:ln>
        </p:spPr>
      </p:sp>
      <p:sp>
        <p:nvSpPr>
          <p:cNvPr id="21" name="Text 19"/>
          <p:cNvSpPr/>
          <p:nvPr/>
        </p:nvSpPr>
        <p:spPr>
          <a:xfrm>
            <a:off x="6099048" y="1508760"/>
            <a:ext cx="2468880" cy="256032"/>
          </a:xfrm>
          <a:prstGeom prst="rect">
            <a:avLst/>
          </a:prstGeom>
          <a:noFill/>
          <a:ln/>
        </p:spPr>
        <p:txBody>
          <a:bodyPr wrap="square" lIns="0" tIns="0" rIns="0" bIns="0" rtlCol="0" anchor="ctr"/>
          <a:lstStyle/>
          <a:p>
            <a:pPr indent="0" marL="0">
              <a:buNone/>
            </a:pPr>
            <a:r>
              <a:rPr lang="en-US" sz="1100" b="1" dirty="0">
                <a:solidFill>
                  <a:srgbClr val="FF6B35"/>
                </a:solidFill>
                <a:latin typeface="Consolas" pitchFamily="34" charset="0"/>
                <a:ea typeface="Consolas" pitchFamily="34" charset="-122"/>
                <a:cs typeface="Consolas" pitchFamily="34" charset="-120"/>
              </a:rPr>
              <a:t>Key Goal</a:t>
            </a:r>
            <a:endParaRPr lang="en-US" sz="1100" dirty="0"/>
          </a:p>
        </p:txBody>
      </p:sp>
      <p:sp>
        <p:nvSpPr>
          <p:cNvPr id="22" name="Text 20"/>
          <p:cNvSpPr/>
          <p:nvPr/>
        </p:nvSpPr>
        <p:spPr>
          <a:xfrm>
            <a:off x="6099048" y="1764792"/>
            <a:ext cx="2468880" cy="1188720"/>
          </a:xfrm>
          <a:prstGeom prst="rect">
            <a:avLst/>
          </a:prstGeom>
          <a:noFill/>
          <a:ln/>
        </p:spPr>
        <p:txBody>
          <a:bodyPr wrap="square" lIns="0" tIns="0" rIns="0" bIns="0" rtlCol="0" anchor="t"/>
          <a:lstStyle/>
          <a:p>
            <a:pPr indent="0" marL="0">
              <a:buNone/>
            </a:pPr>
            <a:r>
              <a:rPr lang="en-US" sz="1000" dirty="0">
                <a:solidFill>
                  <a:srgbClr val="E2E8F0"/>
                </a:solidFill>
                <a:latin typeface="Calibri" pitchFamily="34" charset="0"/>
                <a:ea typeface="Calibri" pitchFamily="34" charset="-122"/>
                <a:cs typeface="Calibri" pitchFamily="34" charset="-120"/>
              </a:rPr>
              <a:t>Understand: What does this program DO? How does it DO it? Can we MODIFY it?</a:t>
            </a:r>
            <a:endParaRPr lang="en-US" sz="1000" dirty="0"/>
          </a:p>
        </p:txBody>
      </p:sp>
      <p:sp>
        <p:nvSpPr>
          <p:cNvPr id="23" name="Shape 21"/>
          <p:cNvSpPr/>
          <p:nvPr/>
        </p:nvSpPr>
        <p:spPr>
          <a:xfrm>
            <a:off x="320040" y="3246120"/>
            <a:ext cx="1828800" cy="777240"/>
          </a:xfrm>
          <a:prstGeom prst="rect">
            <a:avLst/>
          </a:prstGeom>
          <a:solidFill>
            <a:srgbClr val="111827"/>
          </a:solidFill>
          <a:ln w="12700">
            <a:solidFill>
              <a:srgbClr val="FF3355"/>
            </a:solidFill>
            <a:prstDash val="solid"/>
          </a:ln>
        </p:spPr>
      </p:sp>
      <p:sp>
        <p:nvSpPr>
          <p:cNvPr id="24" name="Text 22"/>
          <p:cNvSpPr/>
          <p:nvPr/>
        </p:nvSpPr>
        <p:spPr>
          <a:xfrm>
            <a:off x="320040" y="3246120"/>
            <a:ext cx="1828800" cy="777240"/>
          </a:xfrm>
          <a:prstGeom prst="rect">
            <a:avLst/>
          </a:prstGeom>
          <a:noFill/>
          <a:ln/>
        </p:spPr>
        <p:txBody>
          <a:bodyPr wrap="square" lIns="0" tIns="0" rIns="0" bIns="0" rtlCol="0" anchor="ctr"/>
          <a:lstStyle/>
          <a:p>
            <a:pPr algn="ctr" indent="0" marL="0">
              <a:buNone/>
            </a:pPr>
            <a:r>
              <a:rPr lang="en-US" sz="1000" b="1" dirty="0">
                <a:solidFill>
                  <a:srgbClr val="FF3355"/>
                </a:solidFill>
                <a:latin typeface="Consolas" pitchFamily="34" charset="0"/>
                <a:ea typeface="Consolas" pitchFamily="34" charset="-122"/>
                <a:cs typeface="Consolas" pitchFamily="34" charset="-120"/>
              </a:rPr>
              <a:t>Binary</a:t>
            </a:r>
            <a:endParaRPr lang="en-US" sz="1000" dirty="0"/>
          </a:p>
          <a:p>
            <a:pPr algn="ctr" indent="0" marL="0">
              <a:buNone/>
            </a:pPr>
            <a:r>
              <a:rPr lang="en-US" sz="1000" b="1" dirty="0">
                <a:solidFill>
                  <a:srgbClr val="FF3355"/>
                </a:solidFill>
                <a:latin typeface="Consolas" pitchFamily="34" charset="0"/>
                <a:ea typeface="Consolas" pitchFamily="34" charset="-122"/>
                <a:cs typeface="Consolas" pitchFamily="34" charset="-120"/>
              </a:rPr>
              <a:t>Executable</a:t>
            </a:r>
            <a:endParaRPr lang="en-US" sz="1000" dirty="0"/>
          </a:p>
        </p:txBody>
      </p:sp>
      <p:sp>
        <p:nvSpPr>
          <p:cNvPr id="25" name="Shape 23"/>
          <p:cNvSpPr/>
          <p:nvPr/>
        </p:nvSpPr>
        <p:spPr>
          <a:xfrm>
            <a:off x="2148840" y="3593592"/>
            <a:ext cx="320040" cy="36576"/>
          </a:xfrm>
          <a:prstGeom prst="rect">
            <a:avLst/>
          </a:prstGeom>
          <a:solidFill>
            <a:srgbClr val="8B9BB4"/>
          </a:solidFill>
          <a:ln w="12700">
            <a:solidFill>
              <a:srgbClr val="8B9BB4"/>
            </a:solidFill>
            <a:prstDash val="solid"/>
          </a:ln>
        </p:spPr>
      </p:sp>
      <p:sp>
        <p:nvSpPr>
          <p:cNvPr id="26" name="Text 24"/>
          <p:cNvSpPr/>
          <p:nvPr/>
        </p:nvSpPr>
        <p:spPr>
          <a:xfrm>
            <a:off x="2395728" y="3502152"/>
            <a:ext cx="137160" cy="182880"/>
          </a:xfrm>
          <a:prstGeom prst="rect">
            <a:avLst/>
          </a:prstGeom>
          <a:noFill/>
          <a:ln/>
        </p:spPr>
        <p:txBody>
          <a:bodyPr wrap="square" lIns="0" tIns="0" rIns="0" bIns="0" rtlCol="0" anchor="ctr"/>
          <a:lstStyle/>
          <a:p>
            <a:pPr indent="0" marL="0">
              <a:buNone/>
            </a:pPr>
            <a:r>
              <a:rPr lang="en-US" sz="900" dirty="0">
                <a:solidFill>
                  <a:srgbClr val="8B9BB4"/>
                </a:solidFill>
                <a:latin typeface="Calibri" pitchFamily="34" charset="0"/>
                <a:ea typeface="Calibri" pitchFamily="34" charset="-122"/>
                <a:cs typeface="Calibri" pitchFamily="34" charset="-120"/>
              </a:rPr>
              <a:t>▶</a:t>
            </a:r>
            <a:endParaRPr lang="en-US" sz="900" dirty="0"/>
          </a:p>
        </p:txBody>
      </p:sp>
      <p:sp>
        <p:nvSpPr>
          <p:cNvPr id="27" name="Shape 25"/>
          <p:cNvSpPr/>
          <p:nvPr/>
        </p:nvSpPr>
        <p:spPr>
          <a:xfrm>
            <a:off x="2468880" y="3246120"/>
            <a:ext cx="1828800" cy="777240"/>
          </a:xfrm>
          <a:prstGeom prst="rect">
            <a:avLst/>
          </a:prstGeom>
          <a:solidFill>
            <a:srgbClr val="111827"/>
          </a:solidFill>
          <a:ln w="12700">
            <a:solidFill>
              <a:srgbClr val="FF6B35"/>
            </a:solidFill>
            <a:prstDash val="solid"/>
          </a:ln>
        </p:spPr>
      </p:sp>
      <p:sp>
        <p:nvSpPr>
          <p:cNvPr id="28" name="Text 26"/>
          <p:cNvSpPr/>
          <p:nvPr/>
        </p:nvSpPr>
        <p:spPr>
          <a:xfrm>
            <a:off x="2468880" y="3246120"/>
            <a:ext cx="1828800" cy="777240"/>
          </a:xfrm>
          <a:prstGeom prst="rect">
            <a:avLst/>
          </a:prstGeom>
          <a:noFill/>
          <a:ln/>
        </p:spPr>
        <p:txBody>
          <a:bodyPr wrap="square" lIns="0" tIns="0" rIns="0" bIns="0" rtlCol="0" anchor="ctr"/>
          <a:lstStyle/>
          <a:p>
            <a:pPr algn="ctr" indent="0" marL="0">
              <a:buNone/>
            </a:pPr>
            <a:r>
              <a:rPr lang="en-US" sz="1000" b="1" dirty="0">
                <a:solidFill>
                  <a:srgbClr val="FF6B35"/>
                </a:solidFill>
                <a:latin typeface="Consolas" pitchFamily="34" charset="0"/>
                <a:ea typeface="Consolas" pitchFamily="34" charset="-122"/>
                <a:cs typeface="Consolas" pitchFamily="34" charset="-120"/>
              </a:rPr>
              <a:t>Disassemble /</a:t>
            </a:r>
            <a:endParaRPr lang="en-US" sz="1000" dirty="0"/>
          </a:p>
          <a:p>
            <a:pPr algn="ctr" indent="0" marL="0">
              <a:buNone/>
            </a:pPr>
            <a:r>
              <a:rPr lang="en-US" sz="1000" b="1" dirty="0">
                <a:solidFill>
                  <a:srgbClr val="FF6B35"/>
                </a:solidFill>
                <a:latin typeface="Consolas" pitchFamily="34" charset="0"/>
                <a:ea typeface="Consolas" pitchFamily="34" charset="-122"/>
                <a:cs typeface="Consolas" pitchFamily="34" charset="-120"/>
              </a:rPr>
              <a:t>Decompile</a:t>
            </a:r>
            <a:endParaRPr lang="en-US" sz="1000" dirty="0"/>
          </a:p>
        </p:txBody>
      </p:sp>
      <p:sp>
        <p:nvSpPr>
          <p:cNvPr id="29" name="Shape 27"/>
          <p:cNvSpPr/>
          <p:nvPr/>
        </p:nvSpPr>
        <p:spPr>
          <a:xfrm>
            <a:off x="4297680" y="3593592"/>
            <a:ext cx="320040" cy="36576"/>
          </a:xfrm>
          <a:prstGeom prst="rect">
            <a:avLst/>
          </a:prstGeom>
          <a:solidFill>
            <a:srgbClr val="8B9BB4"/>
          </a:solidFill>
          <a:ln w="12700">
            <a:solidFill>
              <a:srgbClr val="8B9BB4"/>
            </a:solidFill>
            <a:prstDash val="solid"/>
          </a:ln>
        </p:spPr>
      </p:sp>
      <p:sp>
        <p:nvSpPr>
          <p:cNvPr id="30" name="Text 28"/>
          <p:cNvSpPr/>
          <p:nvPr/>
        </p:nvSpPr>
        <p:spPr>
          <a:xfrm>
            <a:off x="4544568" y="3502152"/>
            <a:ext cx="137160" cy="182880"/>
          </a:xfrm>
          <a:prstGeom prst="rect">
            <a:avLst/>
          </a:prstGeom>
          <a:noFill/>
          <a:ln/>
        </p:spPr>
        <p:txBody>
          <a:bodyPr wrap="square" lIns="0" tIns="0" rIns="0" bIns="0" rtlCol="0" anchor="ctr"/>
          <a:lstStyle/>
          <a:p>
            <a:pPr indent="0" marL="0">
              <a:buNone/>
            </a:pPr>
            <a:r>
              <a:rPr lang="en-US" sz="900" dirty="0">
                <a:solidFill>
                  <a:srgbClr val="8B9BB4"/>
                </a:solidFill>
                <a:latin typeface="Calibri" pitchFamily="34" charset="0"/>
                <a:ea typeface="Calibri" pitchFamily="34" charset="-122"/>
                <a:cs typeface="Calibri" pitchFamily="34" charset="-120"/>
              </a:rPr>
              <a:t>▶</a:t>
            </a:r>
            <a:endParaRPr lang="en-US" sz="900" dirty="0"/>
          </a:p>
        </p:txBody>
      </p:sp>
      <p:sp>
        <p:nvSpPr>
          <p:cNvPr id="31" name="Shape 29"/>
          <p:cNvSpPr/>
          <p:nvPr/>
        </p:nvSpPr>
        <p:spPr>
          <a:xfrm>
            <a:off x="4617720" y="3246120"/>
            <a:ext cx="1828800" cy="777240"/>
          </a:xfrm>
          <a:prstGeom prst="rect">
            <a:avLst/>
          </a:prstGeom>
          <a:solidFill>
            <a:srgbClr val="111827"/>
          </a:solidFill>
          <a:ln w="12700">
            <a:solidFill>
              <a:srgbClr val="00D4FF"/>
            </a:solidFill>
            <a:prstDash val="solid"/>
          </a:ln>
        </p:spPr>
      </p:sp>
      <p:sp>
        <p:nvSpPr>
          <p:cNvPr id="32" name="Text 30"/>
          <p:cNvSpPr/>
          <p:nvPr/>
        </p:nvSpPr>
        <p:spPr>
          <a:xfrm>
            <a:off x="4617720" y="3246120"/>
            <a:ext cx="1828800" cy="777240"/>
          </a:xfrm>
          <a:prstGeom prst="rect">
            <a:avLst/>
          </a:prstGeom>
          <a:noFill/>
          <a:ln/>
        </p:spPr>
        <p:txBody>
          <a:bodyPr wrap="square" lIns="0" tIns="0" rIns="0" bIns="0" rtlCol="0" anchor="ctr"/>
          <a:lstStyle/>
          <a:p>
            <a:pPr algn="ctr" indent="0" marL="0">
              <a:buNone/>
            </a:pPr>
            <a:r>
              <a:rPr lang="en-US" sz="1000" b="1" dirty="0">
                <a:solidFill>
                  <a:srgbClr val="00D4FF"/>
                </a:solidFill>
                <a:latin typeface="Consolas" pitchFamily="34" charset="0"/>
                <a:ea typeface="Consolas" pitchFamily="34" charset="-122"/>
                <a:cs typeface="Consolas" pitchFamily="34" charset="-120"/>
              </a:rPr>
              <a:t>Analyze</a:t>
            </a:r>
            <a:endParaRPr lang="en-US" sz="1000" dirty="0"/>
          </a:p>
          <a:p>
            <a:pPr algn="ctr" indent="0" marL="0">
              <a:buNone/>
            </a:pPr>
            <a:r>
              <a:rPr lang="en-US" sz="1000" b="1" dirty="0">
                <a:solidFill>
                  <a:srgbClr val="00D4FF"/>
                </a:solidFill>
                <a:latin typeface="Consolas" pitchFamily="34" charset="0"/>
                <a:ea typeface="Consolas" pitchFamily="34" charset="-122"/>
                <a:cs typeface="Consolas" pitchFamily="34" charset="-120"/>
              </a:rPr>
              <a:t>Code</a:t>
            </a:r>
            <a:endParaRPr lang="en-US" sz="1000" dirty="0"/>
          </a:p>
        </p:txBody>
      </p:sp>
      <p:sp>
        <p:nvSpPr>
          <p:cNvPr id="33" name="Shape 31"/>
          <p:cNvSpPr/>
          <p:nvPr/>
        </p:nvSpPr>
        <p:spPr>
          <a:xfrm>
            <a:off x="6446520" y="3593592"/>
            <a:ext cx="320040" cy="36576"/>
          </a:xfrm>
          <a:prstGeom prst="rect">
            <a:avLst/>
          </a:prstGeom>
          <a:solidFill>
            <a:srgbClr val="8B9BB4"/>
          </a:solidFill>
          <a:ln w="12700">
            <a:solidFill>
              <a:srgbClr val="8B9BB4"/>
            </a:solidFill>
            <a:prstDash val="solid"/>
          </a:ln>
        </p:spPr>
      </p:sp>
      <p:sp>
        <p:nvSpPr>
          <p:cNvPr id="34" name="Text 32"/>
          <p:cNvSpPr/>
          <p:nvPr/>
        </p:nvSpPr>
        <p:spPr>
          <a:xfrm>
            <a:off x="6693408" y="3502152"/>
            <a:ext cx="137160" cy="182880"/>
          </a:xfrm>
          <a:prstGeom prst="rect">
            <a:avLst/>
          </a:prstGeom>
          <a:noFill/>
          <a:ln/>
        </p:spPr>
        <p:txBody>
          <a:bodyPr wrap="square" lIns="0" tIns="0" rIns="0" bIns="0" rtlCol="0" anchor="ctr"/>
          <a:lstStyle/>
          <a:p>
            <a:pPr indent="0" marL="0">
              <a:buNone/>
            </a:pPr>
            <a:r>
              <a:rPr lang="en-US" sz="900" dirty="0">
                <a:solidFill>
                  <a:srgbClr val="8B9BB4"/>
                </a:solidFill>
                <a:latin typeface="Calibri" pitchFamily="34" charset="0"/>
                <a:ea typeface="Calibri" pitchFamily="34" charset="-122"/>
                <a:cs typeface="Calibri" pitchFamily="34" charset="-120"/>
              </a:rPr>
              <a:t>▶</a:t>
            </a:r>
            <a:endParaRPr lang="en-US" sz="900" dirty="0"/>
          </a:p>
        </p:txBody>
      </p:sp>
      <p:sp>
        <p:nvSpPr>
          <p:cNvPr id="35" name="Shape 33"/>
          <p:cNvSpPr/>
          <p:nvPr/>
        </p:nvSpPr>
        <p:spPr>
          <a:xfrm>
            <a:off x="6766560" y="3246120"/>
            <a:ext cx="1828800" cy="777240"/>
          </a:xfrm>
          <a:prstGeom prst="rect">
            <a:avLst/>
          </a:prstGeom>
          <a:solidFill>
            <a:srgbClr val="111827"/>
          </a:solidFill>
          <a:ln w="12700">
            <a:solidFill>
              <a:srgbClr val="00FF88"/>
            </a:solidFill>
            <a:prstDash val="solid"/>
          </a:ln>
        </p:spPr>
      </p:sp>
      <p:sp>
        <p:nvSpPr>
          <p:cNvPr id="36" name="Text 34"/>
          <p:cNvSpPr/>
          <p:nvPr/>
        </p:nvSpPr>
        <p:spPr>
          <a:xfrm>
            <a:off x="6766560" y="3246120"/>
            <a:ext cx="1828800" cy="777240"/>
          </a:xfrm>
          <a:prstGeom prst="rect">
            <a:avLst/>
          </a:prstGeom>
          <a:noFill/>
          <a:ln/>
        </p:spPr>
        <p:txBody>
          <a:bodyPr wrap="square" lIns="0" tIns="0" rIns="0" bIns="0" rtlCol="0" anchor="ctr"/>
          <a:lstStyle/>
          <a:p>
            <a:pPr algn="ctr" indent="0" marL="0">
              <a:buNone/>
            </a:pPr>
            <a:r>
              <a:rPr lang="en-US" sz="1000" b="1" dirty="0">
                <a:solidFill>
                  <a:srgbClr val="00FF88"/>
                </a:solidFill>
                <a:latin typeface="Consolas" pitchFamily="34" charset="0"/>
                <a:ea typeface="Consolas" pitchFamily="34" charset="-122"/>
                <a:cs typeface="Consolas" pitchFamily="34" charset="-120"/>
              </a:rPr>
              <a:t>Understand</a:t>
            </a:r>
            <a:endParaRPr lang="en-US" sz="1000" dirty="0"/>
          </a:p>
          <a:p>
            <a:pPr algn="ctr" indent="0" marL="0">
              <a:buNone/>
            </a:pPr>
            <a:r>
              <a:rPr lang="en-US" sz="1000" b="1" dirty="0">
                <a:solidFill>
                  <a:srgbClr val="00FF88"/>
                </a:solidFill>
                <a:latin typeface="Consolas" pitchFamily="34" charset="0"/>
                <a:ea typeface="Consolas" pitchFamily="34" charset="-122"/>
                <a:cs typeface="Consolas" pitchFamily="34" charset="-120"/>
              </a:rPr>
              <a:t>Logic</a:t>
            </a:r>
            <a:endParaRPr lang="en-US" sz="1000" dirty="0"/>
          </a:p>
        </p:txBody>
      </p:sp>
      <p:sp>
        <p:nvSpPr>
          <p:cNvPr id="37" name="Text 35"/>
          <p:cNvSpPr/>
          <p:nvPr/>
        </p:nvSpPr>
        <p:spPr>
          <a:xfrm>
            <a:off x="320040" y="4114800"/>
            <a:ext cx="8503920" cy="228600"/>
          </a:xfrm>
          <a:prstGeom prst="rect">
            <a:avLst/>
          </a:prstGeom>
          <a:noFill/>
          <a:ln/>
        </p:spPr>
        <p:txBody>
          <a:bodyPr wrap="square" lIns="0" tIns="0" rIns="0" bIns="0" rtlCol="0" anchor="ctr"/>
          <a:lstStyle/>
          <a:p>
            <a:pPr algn="ctr" indent="0" marL="0">
              <a:buNone/>
            </a:pPr>
            <a:r>
              <a:rPr lang="en-US" sz="900" dirty="0">
                <a:solidFill>
                  <a:srgbClr val="8B9BB4"/>
                </a:solidFill>
                <a:latin typeface="Calibri" pitchFamily="34" charset="0"/>
                <a:ea typeface="Calibri" pitchFamily="34" charset="-122"/>
                <a:cs typeface="Calibri" pitchFamily="34" charset="-120"/>
              </a:rPr>
              <a:t>The Reverse Engineering Pipeline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164592" y="164592"/>
            <a:ext cx="365760" cy="45720"/>
          </a:xfrm>
          <a:prstGeom prst="rect">
            <a:avLst/>
          </a:prstGeom>
          <a:solidFill>
            <a:srgbClr val="00FF88"/>
          </a:solidFill>
          <a:ln w="12700">
            <a:solidFill>
              <a:srgbClr val="00FF88"/>
            </a:solidFill>
            <a:prstDash val="solid"/>
          </a:ln>
        </p:spPr>
      </p:sp>
      <p:sp>
        <p:nvSpPr>
          <p:cNvPr id="3" name="Shape 1"/>
          <p:cNvSpPr/>
          <p:nvPr/>
        </p:nvSpPr>
        <p:spPr>
          <a:xfrm>
            <a:off x="164592" y="164592"/>
            <a:ext cx="45720" cy="274320"/>
          </a:xfrm>
          <a:prstGeom prst="rect">
            <a:avLst/>
          </a:prstGeom>
          <a:solidFill>
            <a:srgbClr val="00FF88"/>
          </a:solidFill>
          <a:ln w="12700">
            <a:solidFill>
              <a:srgbClr val="00FF88"/>
            </a:solidFill>
            <a:prstDash val="solid"/>
          </a:ln>
        </p:spPr>
      </p:sp>
      <p:sp>
        <p:nvSpPr>
          <p:cNvPr id="4" name="Shape 2"/>
          <p:cNvSpPr/>
          <p:nvPr/>
        </p:nvSpPr>
        <p:spPr>
          <a:xfrm>
            <a:off x="8613648" y="4910328"/>
            <a:ext cx="365760" cy="45720"/>
          </a:xfrm>
          <a:prstGeom prst="rect">
            <a:avLst/>
          </a:prstGeom>
          <a:solidFill>
            <a:srgbClr val="00D4FF"/>
          </a:solidFill>
          <a:ln w="12700">
            <a:solidFill>
              <a:srgbClr val="00D4FF"/>
            </a:solidFill>
            <a:prstDash val="solid"/>
          </a:ln>
        </p:spPr>
      </p:sp>
      <p:sp>
        <p:nvSpPr>
          <p:cNvPr id="5" name="Shape 3"/>
          <p:cNvSpPr/>
          <p:nvPr/>
        </p:nvSpPr>
        <p:spPr>
          <a:xfrm>
            <a:off x="8933688" y="4681728"/>
            <a:ext cx="45720" cy="274320"/>
          </a:xfrm>
          <a:prstGeom prst="rect">
            <a:avLst/>
          </a:prstGeom>
          <a:solidFill>
            <a:srgbClr val="00D4FF"/>
          </a:solidFill>
          <a:ln w="12700">
            <a:solidFill>
              <a:srgbClr val="00D4FF"/>
            </a:solidFill>
            <a:prstDash val="solid"/>
          </a:ln>
        </p:spPr>
      </p:sp>
      <p:sp>
        <p:nvSpPr>
          <p:cNvPr id="6" name="Shape 4"/>
          <p:cNvSpPr/>
          <p:nvPr/>
        </p:nvSpPr>
        <p:spPr>
          <a:xfrm>
            <a:off x="411480" y="201168"/>
            <a:ext cx="2798064" cy="256032"/>
          </a:xfrm>
          <a:prstGeom prst="rect">
            <a:avLst/>
          </a:prstGeom>
          <a:solidFill>
            <a:srgbClr val="00FF88"/>
          </a:solidFill>
          <a:ln w="12700">
            <a:solidFill>
              <a:srgbClr val="00FF88"/>
            </a:solidFill>
            <a:prstDash val="solid"/>
          </a:ln>
        </p:spPr>
      </p:sp>
      <p:sp>
        <p:nvSpPr>
          <p:cNvPr id="7" name="Text 5"/>
          <p:cNvSpPr/>
          <p:nvPr/>
        </p:nvSpPr>
        <p:spPr>
          <a:xfrm>
            <a:off x="411480" y="201168"/>
            <a:ext cx="2798064" cy="256032"/>
          </a:xfrm>
          <a:prstGeom prst="rect">
            <a:avLst/>
          </a:prstGeom>
          <a:noFill/>
          <a:ln/>
        </p:spPr>
        <p:txBody>
          <a:bodyPr wrap="square" lIns="0" tIns="0" rIns="0" bIns="0" rtlCol="0" anchor="ctr"/>
          <a:lstStyle/>
          <a:p>
            <a:pPr algn="ctr" indent="0" marL="0">
              <a:buNone/>
            </a:pPr>
            <a:r>
              <a:rPr lang="en-US" sz="900" b="1" dirty="0">
                <a:solidFill>
                  <a:srgbClr val="0A0E1A"/>
                </a:solidFill>
                <a:latin typeface="Consolas" pitchFamily="34" charset="0"/>
                <a:ea typeface="Consolas" pitchFamily="34" charset="-122"/>
                <a:cs typeface="Consolas" pitchFamily="34" charset="-120"/>
              </a:rPr>
              <a:t>SECTION 1 · INTRODUCTION</a:t>
            </a:r>
            <a:endParaRPr lang="en-US" sz="900" dirty="0"/>
          </a:p>
        </p:txBody>
      </p:sp>
      <p:sp>
        <p:nvSpPr>
          <p:cNvPr id="8" name="Text 6"/>
          <p:cNvSpPr/>
          <p:nvPr/>
        </p:nvSpPr>
        <p:spPr>
          <a:xfrm>
            <a:off x="411480" y="530352"/>
            <a:ext cx="8321040" cy="594360"/>
          </a:xfrm>
          <a:prstGeom prst="rect">
            <a:avLst/>
          </a:prstGeom>
          <a:noFill/>
          <a:ln/>
        </p:spPr>
        <p:txBody>
          <a:bodyPr wrap="square" lIns="0" tIns="0" rIns="0" bIns="0" rtlCol="0" anchor="ctr"/>
          <a:lstStyle/>
          <a:p>
            <a:pPr algn="l" indent="0" marL="0">
              <a:buNone/>
            </a:pPr>
            <a:r>
              <a:rPr lang="en-US" sz="2800" b="1" dirty="0">
                <a:solidFill>
                  <a:srgbClr val="00FF88"/>
                </a:solidFill>
                <a:latin typeface="Consolas" pitchFamily="34" charset="0"/>
                <a:ea typeface="Consolas" pitchFamily="34" charset="-122"/>
                <a:cs typeface="Consolas" pitchFamily="34" charset="-120"/>
              </a:rPr>
              <a:t>Why Reverse Engineering Matters</a:t>
            </a:r>
            <a:endParaRPr lang="en-US" sz="2800" dirty="0"/>
          </a:p>
        </p:txBody>
      </p:sp>
      <p:sp>
        <p:nvSpPr>
          <p:cNvPr id="9" name="Text 7"/>
          <p:cNvSpPr/>
          <p:nvPr/>
        </p:nvSpPr>
        <p:spPr>
          <a:xfrm>
            <a:off x="411480" y="1051560"/>
            <a:ext cx="8321040" cy="320040"/>
          </a:xfrm>
          <a:prstGeom prst="rect">
            <a:avLst/>
          </a:prstGeom>
          <a:noFill/>
          <a:ln/>
        </p:spPr>
        <p:txBody>
          <a:bodyPr wrap="square" lIns="0" tIns="0" rIns="0" bIns="0" rtlCol="0" anchor="ctr"/>
          <a:lstStyle/>
          <a:p>
            <a:pPr algn="l" indent="0" marL="0">
              <a:buNone/>
            </a:pPr>
            <a:r>
              <a:rPr lang="en-US" sz="1300" dirty="0">
                <a:solidFill>
                  <a:srgbClr val="8B9BB4"/>
                </a:solidFill>
                <a:latin typeface="Calibri" pitchFamily="34" charset="0"/>
                <a:ea typeface="Calibri" pitchFamily="34" charset="-122"/>
                <a:cs typeface="Calibri" pitchFamily="34" charset="-120"/>
              </a:rPr>
              <a:t>Real-world impact across security, research, and industry.</a:t>
            </a:r>
            <a:endParaRPr lang="en-US" sz="1300" dirty="0"/>
          </a:p>
        </p:txBody>
      </p:sp>
      <p:sp>
        <p:nvSpPr>
          <p:cNvPr id="10" name="Text 8"/>
          <p:cNvSpPr/>
          <p:nvPr/>
        </p:nvSpPr>
        <p:spPr>
          <a:xfrm>
            <a:off x="8686800" y="4754880"/>
            <a:ext cx="365760" cy="228600"/>
          </a:xfrm>
          <a:prstGeom prst="rect">
            <a:avLst/>
          </a:prstGeom>
          <a:noFill/>
          <a:ln/>
        </p:spPr>
        <p:txBody>
          <a:bodyPr wrap="square" lIns="0" tIns="0" rIns="0" bIns="0" rtlCol="0" anchor="ctr"/>
          <a:lstStyle/>
          <a:p>
            <a:pPr algn="r" indent="0" marL="0">
              <a:buNone/>
            </a:pPr>
            <a:r>
              <a:rPr lang="en-US" sz="900" dirty="0">
                <a:solidFill>
                  <a:srgbClr val="8B9BB4"/>
                </a:solidFill>
                <a:latin typeface="Consolas" pitchFamily="34" charset="0"/>
                <a:ea typeface="Consolas" pitchFamily="34" charset="-122"/>
                <a:cs typeface="Consolas" pitchFamily="34" charset="-120"/>
              </a:rPr>
              <a:t>04</a:t>
            </a:r>
            <a:endParaRPr lang="en-US" sz="900" dirty="0"/>
          </a:p>
        </p:txBody>
      </p:sp>
      <p:sp>
        <p:nvSpPr>
          <p:cNvPr id="11" name="Shape 9"/>
          <p:cNvSpPr/>
          <p:nvPr/>
        </p:nvSpPr>
        <p:spPr>
          <a:xfrm>
            <a:off x="320040" y="1417320"/>
            <a:ext cx="4114800" cy="914400"/>
          </a:xfrm>
          <a:prstGeom prst="rect">
            <a:avLst/>
          </a:prstGeom>
          <a:solidFill>
            <a:srgbClr val="111827"/>
          </a:solidFill>
          <a:ln w="12700">
            <a:solidFill>
              <a:srgbClr val="FF3355"/>
            </a:solidFill>
            <a:prstDash val="solid"/>
          </a:ln>
        </p:spPr>
      </p:sp>
      <p:sp>
        <p:nvSpPr>
          <p:cNvPr id="12" name="Shape 10"/>
          <p:cNvSpPr/>
          <p:nvPr/>
        </p:nvSpPr>
        <p:spPr>
          <a:xfrm>
            <a:off x="914400" y="1600200"/>
            <a:ext cx="548640" cy="548640"/>
          </a:xfrm>
          <a:prstGeom prst="rect">
            <a:avLst/>
          </a:prstGeom>
          <a:solidFill>
            <a:srgbClr val="FF3355">
              <a:alpha val="20000"/>
            </a:srgbClr>
          </a:solidFill>
          <a:ln w="12700">
            <a:solidFill>
              <a:srgbClr val="FF3355">
                <a:alpha val="20000"/>
              </a:srgbClr>
            </a:solidFill>
            <a:prstDash val="solid"/>
          </a:ln>
        </p:spPr>
      </p:sp>
      <p:sp>
        <p:nvSpPr>
          <p:cNvPr id="13" name="Text 11"/>
          <p:cNvSpPr/>
          <p:nvPr/>
        </p:nvSpPr>
        <p:spPr>
          <a:xfrm>
            <a:off x="914400" y="1618488"/>
            <a:ext cx="548640" cy="502920"/>
          </a:xfrm>
          <a:prstGeom prst="rect">
            <a:avLst/>
          </a:prstGeom>
          <a:noFill/>
          <a:ln/>
        </p:spPr>
        <p:txBody>
          <a:bodyPr wrap="square" lIns="0" tIns="0" rIns="0" bIns="0" rtlCol="0" anchor="ctr"/>
          <a:lstStyle/>
          <a:p>
            <a:pPr algn="ctr" indent="0" marL="0">
              <a:buNone/>
            </a:pPr>
            <a:r>
              <a:rPr lang="en-US" sz="1800" dirty="0">
                <a:solidFill>
                  <a:srgbClr val="FF3355"/>
                </a:solidFill>
                <a:latin typeface="Consolas" pitchFamily="34" charset="0"/>
                <a:ea typeface="Consolas" pitchFamily="34" charset="-122"/>
                <a:cs typeface="Consolas" pitchFamily="34" charset="-120"/>
              </a:rPr>
              <a:t>◆</a:t>
            </a:r>
            <a:endParaRPr lang="en-US" sz="1800" dirty="0"/>
          </a:p>
        </p:txBody>
      </p:sp>
      <p:sp>
        <p:nvSpPr>
          <p:cNvPr id="14" name="Text 12"/>
          <p:cNvSpPr/>
          <p:nvPr/>
        </p:nvSpPr>
        <p:spPr>
          <a:xfrm>
            <a:off x="1600200" y="1508760"/>
            <a:ext cx="2651760" cy="320040"/>
          </a:xfrm>
          <a:prstGeom prst="rect">
            <a:avLst/>
          </a:prstGeom>
          <a:noFill/>
          <a:ln/>
        </p:spPr>
        <p:txBody>
          <a:bodyPr wrap="square" lIns="0" tIns="0" rIns="0" bIns="0" rtlCol="0" anchor="ctr"/>
          <a:lstStyle/>
          <a:p>
            <a:pPr indent="0" marL="0">
              <a:buNone/>
            </a:pPr>
            <a:r>
              <a:rPr lang="en-US" sz="1100" b="1" dirty="0">
                <a:solidFill>
                  <a:srgbClr val="FF3355"/>
                </a:solidFill>
                <a:latin typeface="Consolas" pitchFamily="34" charset="0"/>
                <a:ea typeface="Consolas" pitchFamily="34" charset="-122"/>
                <a:cs typeface="Consolas" pitchFamily="34" charset="-120"/>
              </a:rPr>
              <a:t>Malware Analysis</a:t>
            </a:r>
            <a:endParaRPr lang="en-US" sz="1100" dirty="0"/>
          </a:p>
        </p:txBody>
      </p:sp>
      <p:sp>
        <p:nvSpPr>
          <p:cNvPr id="15" name="Text 13"/>
          <p:cNvSpPr/>
          <p:nvPr/>
        </p:nvSpPr>
        <p:spPr>
          <a:xfrm>
            <a:off x="1600200" y="1828800"/>
            <a:ext cx="2651760" cy="411480"/>
          </a:xfrm>
          <a:prstGeom prst="rect">
            <a:avLst/>
          </a:prstGeom>
          <a:noFill/>
          <a:ln/>
        </p:spPr>
        <p:txBody>
          <a:bodyPr wrap="square" lIns="0" tIns="0" rIns="0" bIns="0" rtlCol="0" anchor="ctr"/>
          <a:lstStyle/>
          <a:p>
            <a:pPr indent="0" marL="0">
              <a:buNone/>
            </a:pPr>
            <a:r>
              <a:rPr lang="en-US" sz="950" dirty="0">
                <a:solidFill>
                  <a:srgbClr val="E2E8F0"/>
                </a:solidFill>
                <a:latin typeface="Calibri" pitchFamily="34" charset="0"/>
                <a:ea typeface="Calibri" pitchFamily="34" charset="-122"/>
                <a:cs typeface="Calibri" pitchFamily="34" charset="-120"/>
              </a:rPr>
              <a:t>Understand how malicious software operates to build defenses.</a:t>
            </a:r>
            <a:endParaRPr lang="en-US" sz="950" dirty="0"/>
          </a:p>
        </p:txBody>
      </p:sp>
      <p:sp>
        <p:nvSpPr>
          <p:cNvPr id="16" name="Shape 14"/>
          <p:cNvSpPr/>
          <p:nvPr/>
        </p:nvSpPr>
        <p:spPr>
          <a:xfrm>
            <a:off x="4754880" y="1417320"/>
            <a:ext cx="4114800" cy="914400"/>
          </a:xfrm>
          <a:prstGeom prst="rect">
            <a:avLst/>
          </a:prstGeom>
          <a:solidFill>
            <a:srgbClr val="111827"/>
          </a:solidFill>
          <a:ln w="12700">
            <a:solidFill>
              <a:srgbClr val="00D4FF"/>
            </a:solidFill>
            <a:prstDash val="solid"/>
          </a:ln>
        </p:spPr>
      </p:sp>
      <p:sp>
        <p:nvSpPr>
          <p:cNvPr id="17" name="Shape 15"/>
          <p:cNvSpPr/>
          <p:nvPr/>
        </p:nvSpPr>
        <p:spPr>
          <a:xfrm>
            <a:off x="5349240" y="1600200"/>
            <a:ext cx="548640" cy="548640"/>
          </a:xfrm>
          <a:prstGeom prst="rect">
            <a:avLst/>
          </a:prstGeom>
          <a:solidFill>
            <a:srgbClr val="00D4FF">
              <a:alpha val="20000"/>
            </a:srgbClr>
          </a:solidFill>
          <a:ln w="12700">
            <a:solidFill>
              <a:srgbClr val="00D4FF">
                <a:alpha val="20000"/>
              </a:srgbClr>
            </a:solidFill>
            <a:prstDash val="solid"/>
          </a:ln>
        </p:spPr>
      </p:sp>
      <p:sp>
        <p:nvSpPr>
          <p:cNvPr id="18" name="Text 16"/>
          <p:cNvSpPr/>
          <p:nvPr/>
        </p:nvSpPr>
        <p:spPr>
          <a:xfrm>
            <a:off x="5349240" y="1618488"/>
            <a:ext cx="548640" cy="502920"/>
          </a:xfrm>
          <a:prstGeom prst="rect">
            <a:avLst/>
          </a:prstGeom>
          <a:noFill/>
          <a:ln/>
        </p:spPr>
        <p:txBody>
          <a:bodyPr wrap="square" lIns="0" tIns="0" rIns="0" bIns="0" rtlCol="0" anchor="ctr"/>
          <a:lstStyle/>
          <a:p>
            <a:pPr algn="ctr" indent="0" marL="0">
              <a:buNone/>
            </a:pPr>
            <a:r>
              <a:rPr lang="en-US" sz="1800" dirty="0">
                <a:solidFill>
                  <a:srgbClr val="00D4FF"/>
                </a:solidFill>
                <a:latin typeface="Consolas" pitchFamily="34" charset="0"/>
                <a:ea typeface="Consolas" pitchFamily="34" charset="-122"/>
                <a:cs typeface="Consolas" pitchFamily="34" charset="-120"/>
              </a:rPr>
              <a:t>◆</a:t>
            </a:r>
            <a:endParaRPr lang="en-US" sz="1800" dirty="0"/>
          </a:p>
        </p:txBody>
      </p:sp>
      <p:sp>
        <p:nvSpPr>
          <p:cNvPr id="19" name="Text 17"/>
          <p:cNvSpPr/>
          <p:nvPr/>
        </p:nvSpPr>
        <p:spPr>
          <a:xfrm>
            <a:off x="6035040" y="1508760"/>
            <a:ext cx="2651760" cy="320040"/>
          </a:xfrm>
          <a:prstGeom prst="rect">
            <a:avLst/>
          </a:prstGeom>
          <a:noFill/>
          <a:ln/>
        </p:spPr>
        <p:txBody>
          <a:bodyPr wrap="square" lIns="0" tIns="0" rIns="0" bIns="0" rtlCol="0" anchor="ctr"/>
          <a:lstStyle/>
          <a:p>
            <a:pPr indent="0" marL="0">
              <a:buNone/>
            </a:pPr>
            <a:r>
              <a:rPr lang="en-US" sz="1100" b="1" dirty="0">
                <a:solidFill>
                  <a:srgbClr val="00D4FF"/>
                </a:solidFill>
                <a:latin typeface="Consolas" pitchFamily="34" charset="0"/>
                <a:ea typeface="Consolas" pitchFamily="34" charset="-122"/>
                <a:cs typeface="Consolas" pitchFamily="34" charset="-120"/>
              </a:rPr>
              <a:t>Vulnerability Research</a:t>
            </a:r>
            <a:endParaRPr lang="en-US" sz="1100" dirty="0"/>
          </a:p>
        </p:txBody>
      </p:sp>
      <p:sp>
        <p:nvSpPr>
          <p:cNvPr id="20" name="Text 18"/>
          <p:cNvSpPr/>
          <p:nvPr/>
        </p:nvSpPr>
        <p:spPr>
          <a:xfrm>
            <a:off x="6035040" y="1828800"/>
            <a:ext cx="2651760" cy="411480"/>
          </a:xfrm>
          <a:prstGeom prst="rect">
            <a:avLst/>
          </a:prstGeom>
          <a:noFill/>
          <a:ln/>
        </p:spPr>
        <p:txBody>
          <a:bodyPr wrap="square" lIns="0" tIns="0" rIns="0" bIns="0" rtlCol="0" anchor="ctr"/>
          <a:lstStyle/>
          <a:p>
            <a:pPr indent="0" marL="0">
              <a:buNone/>
            </a:pPr>
            <a:r>
              <a:rPr lang="en-US" sz="950" dirty="0">
                <a:solidFill>
                  <a:srgbClr val="E2E8F0"/>
                </a:solidFill>
                <a:latin typeface="Calibri" pitchFamily="34" charset="0"/>
                <a:ea typeface="Calibri" pitchFamily="34" charset="-122"/>
                <a:cs typeface="Calibri" pitchFamily="34" charset="-120"/>
              </a:rPr>
              <a:t>Find security flaws in software before attackers do.</a:t>
            </a:r>
            <a:endParaRPr lang="en-US" sz="950" dirty="0"/>
          </a:p>
        </p:txBody>
      </p:sp>
      <p:sp>
        <p:nvSpPr>
          <p:cNvPr id="21" name="Shape 19"/>
          <p:cNvSpPr/>
          <p:nvPr/>
        </p:nvSpPr>
        <p:spPr>
          <a:xfrm>
            <a:off x="320040" y="2514600"/>
            <a:ext cx="4114800" cy="914400"/>
          </a:xfrm>
          <a:prstGeom prst="rect">
            <a:avLst/>
          </a:prstGeom>
          <a:solidFill>
            <a:srgbClr val="111827"/>
          </a:solidFill>
          <a:ln w="12700">
            <a:solidFill>
              <a:srgbClr val="FF6B35"/>
            </a:solidFill>
            <a:prstDash val="solid"/>
          </a:ln>
        </p:spPr>
      </p:sp>
      <p:sp>
        <p:nvSpPr>
          <p:cNvPr id="22" name="Shape 20"/>
          <p:cNvSpPr/>
          <p:nvPr/>
        </p:nvSpPr>
        <p:spPr>
          <a:xfrm>
            <a:off x="914400" y="2697480"/>
            <a:ext cx="548640" cy="548640"/>
          </a:xfrm>
          <a:prstGeom prst="rect">
            <a:avLst/>
          </a:prstGeom>
          <a:solidFill>
            <a:srgbClr val="FF6B35">
              <a:alpha val="20000"/>
            </a:srgbClr>
          </a:solidFill>
          <a:ln w="12700">
            <a:solidFill>
              <a:srgbClr val="FF6B35">
                <a:alpha val="20000"/>
              </a:srgbClr>
            </a:solidFill>
            <a:prstDash val="solid"/>
          </a:ln>
        </p:spPr>
      </p:sp>
      <p:sp>
        <p:nvSpPr>
          <p:cNvPr id="23" name="Text 21"/>
          <p:cNvSpPr/>
          <p:nvPr/>
        </p:nvSpPr>
        <p:spPr>
          <a:xfrm>
            <a:off x="914400" y="2715768"/>
            <a:ext cx="548640" cy="502920"/>
          </a:xfrm>
          <a:prstGeom prst="rect">
            <a:avLst/>
          </a:prstGeom>
          <a:noFill/>
          <a:ln/>
        </p:spPr>
        <p:txBody>
          <a:bodyPr wrap="square" lIns="0" tIns="0" rIns="0" bIns="0" rtlCol="0" anchor="ctr"/>
          <a:lstStyle/>
          <a:p>
            <a:pPr algn="ctr" indent="0" marL="0">
              <a:buNone/>
            </a:pPr>
            <a:r>
              <a:rPr lang="en-US" sz="1800" dirty="0">
                <a:solidFill>
                  <a:srgbClr val="FF6B35"/>
                </a:solidFill>
                <a:latin typeface="Consolas" pitchFamily="34" charset="0"/>
                <a:ea typeface="Consolas" pitchFamily="34" charset="-122"/>
                <a:cs typeface="Consolas" pitchFamily="34" charset="-120"/>
              </a:rPr>
              <a:t>◆</a:t>
            </a:r>
            <a:endParaRPr lang="en-US" sz="1800" dirty="0"/>
          </a:p>
        </p:txBody>
      </p:sp>
      <p:sp>
        <p:nvSpPr>
          <p:cNvPr id="24" name="Text 22"/>
          <p:cNvSpPr/>
          <p:nvPr/>
        </p:nvSpPr>
        <p:spPr>
          <a:xfrm>
            <a:off x="1600200" y="2606040"/>
            <a:ext cx="2651760" cy="320040"/>
          </a:xfrm>
          <a:prstGeom prst="rect">
            <a:avLst/>
          </a:prstGeom>
          <a:noFill/>
          <a:ln/>
        </p:spPr>
        <p:txBody>
          <a:bodyPr wrap="square" lIns="0" tIns="0" rIns="0" bIns="0" rtlCol="0" anchor="ctr"/>
          <a:lstStyle/>
          <a:p>
            <a:pPr indent="0" marL="0">
              <a:buNone/>
            </a:pPr>
            <a:r>
              <a:rPr lang="en-US" sz="1100" b="1" dirty="0">
                <a:solidFill>
                  <a:srgbClr val="FF6B35"/>
                </a:solidFill>
                <a:latin typeface="Consolas" pitchFamily="34" charset="0"/>
                <a:ea typeface="Consolas" pitchFamily="34" charset="-122"/>
                <a:cs typeface="Consolas" pitchFamily="34" charset="-120"/>
              </a:rPr>
              <a:t>Software Interop</a:t>
            </a:r>
            <a:endParaRPr lang="en-US" sz="1100" dirty="0"/>
          </a:p>
        </p:txBody>
      </p:sp>
      <p:sp>
        <p:nvSpPr>
          <p:cNvPr id="25" name="Text 23"/>
          <p:cNvSpPr/>
          <p:nvPr/>
        </p:nvSpPr>
        <p:spPr>
          <a:xfrm>
            <a:off x="1600200" y="2926080"/>
            <a:ext cx="2651760" cy="411480"/>
          </a:xfrm>
          <a:prstGeom prst="rect">
            <a:avLst/>
          </a:prstGeom>
          <a:noFill/>
          <a:ln/>
        </p:spPr>
        <p:txBody>
          <a:bodyPr wrap="square" lIns="0" tIns="0" rIns="0" bIns="0" rtlCol="0" anchor="ctr"/>
          <a:lstStyle/>
          <a:p>
            <a:pPr indent="0" marL="0">
              <a:buNone/>
            </a:pPr>
            <a:r>
              <a:rPr lang="en-US" sz="950" dirty="0">
                <a:solidFill>
                  <a:srgbClr val="E2E8F0"/>
                </a:solidFill>
                <a:latin typeface="Calibri" pitchFamily="34" charset="0"/>
                <a:ea typeface="Calibri" pitchFamily="34" charset="-122"/>
                <a:cs typeface="Calibri" pitchFamily="34" charset="-120"/>
              </a:rPr>
              <a:t>Enable compatibility between proprietary and open systems.</a:t>
            </a:r>
            <a:endParaRPr lang="en-US" sz="950" dirty="0"/>
          </a:p>
        </p:txBody>
      </p:sp>
      <p:sp>
        <p:nvSpPr>
          <p:cNvPr id="26" name="Shape 24"/>
          <p:cNvSpPr/>
          <p:nvPr/>
        </p:nvSpPr>
        <p:spPr>
          <a:xfrm>
            <a:off x="4754880" y="2514600"/>
            <a:ext cx="4114800" cy="914400"/>
          </a:xfrm>
          <a:prstGeom prst="rect">
            <a:avLst/>
          </a:prstGeom>
          <a:solidFill>
            <a:srgbClr val="111827"/>
          </a:solidFill>
          <a:ln w="12700">
            <a:solidFill>
              <a:srgbClr val="A855F7"/>
            </a:solidFill>
            <a:prstDash val="solid"/>
          </a:ln>
        </p:spPr>
      </p:sp>
      <p:sp>
        <p:nvSpPr>
          <p:cNvPr id="27" name="Shape 25"/>
          <p:cNvSpPr/>
          <p:nvPr/>
        </p:nvSpPr>
        <p:spPr>
          <a:xfrm>
            <a:off x="5349240" y="2697480"/>
            <a:ext cx="548640" cy="548640"/>
          </a:xfrm>
          <a:prstGeom prst="rect">
            <a:avLst/>
          </a:prstGeom>
          <a:solidFill>
            <a:srgbClr val="A855F7">
              <a:alpha val="20000"/>
            </a:srgbClr>
          </a:solidFill>
          <a:ln w="12700">
            <a:solidFill>
              <a:srgbClr val="A855F7">
                <a:alpha val="20000"/>
              </a:srgbClr>
            </a:solidFill>
            <a:prstDash val="solid"/>
          </a:ln>
        </p:spPr>
      </p:sp>
      <p:sp>
        <p:nvSpPr>
          <p:cNvPr id="28" name="Text 26"/>
          <p:cNvSpPr/>
          <p:nvPr/>
        </p:nvSpPr>
        <p:spPr>
          <a:xfrm>
            <a:off x="5349240" y="2715768"/>
            <a:ext cx="548640" cy="502920"/>
          </a:xfrm>
          <a:prstGeom prst="rect">
            <a:avLst/>
          </a:prstGeom>
          <a:noFill/>
          <a:ln/>
        </p:spPr>
        <p:txBody>
          <a:bodyPr wrap="square" lIns="0" tIns="0" rIns="0" bIns="0" rtlCol="0" anchor="ctr"/>
          <a:lstStyle/>
          <a:p>
            <a:pPr algn="ctr" indent="0" marL="0">
              <a:buNone/>
            </a:pPr>
            <a:r>
              <a:rPr lang="en-US" sz="1800" dirty="0">
                <a:solidFill>
                  <a:srgbClr val="A855F7"/>
                </a:solidFill>
                <a:latin typeface="Consolas" pitchFamily="34" charset="0"/>
                <a:ea typeface="Consolas" pitchFamily="34" charset="-122"/>
                <a:cs typeface="Consolas" pitchFamily="34" charset="-120"/>
              </a:rPr>
              <a:t>◆</a:t>
            </a:r>
            <a:endParaRPr lang="en-US" sz="1800" dirty="0"/>
          </a:p>
        </p:txBody>
      </p:sp>
      <p:sp>
        <p:nvSpPr>
          <p:cNvPr id="29" name="Text 27"/>
          <p:cNvSpPr/>
          <p:nvPr/>
        </p:nvSpPr>
        <p:spPr>
          <a:xfrm>
            <a:off x="6035040" y="2606040"/>
            <a:ext cx="2651760" cy="320040"/>
          </a:xfrm>
          <a:prstGeom prst="rect">
            <a:avLst/>
          </a:prstGeom>
          <a:noFill/>
          <a:ln/>
        </p:spPr>
        <p:txBody>
          <a:bodyPr wrap="square" lIns="0" tIns="0" rIns="0" bIns="0" rtlCol="0" anchor="ctr"/>
          <a:lstStyle/>
          <a:p>
            <a:pPr indent="0" marL="0">
              <a:buNone/>
            </a:pPr>
            <a:r>
              <a:rPr lang="en-US" sz="1100" b="1" dirty="0">
                <a:solidFill>
                  <a:srgbClr val="A855F7"/>
                </a:solidFill>
                <a:latin typeface="Consolas" pitchFamily="34" charset="0"/>
                <a:ea typeface="Consolas" pitchFamily="34" charset="-122"/>
                <a:cs typeface="Consolas" pitchFamily="34" charset="-120"/>
              </a:rPr>
              <a:t>CTF Competitions</a:t>
            </a:r>
            <a:endParaRPr lang="en-US" sz="1100" dirty="0"/>
          </a:p>
        </p:txBody>
      </p:sp>
      <p:sp>
        <p:nvSpPr>
          <p:cNvPr id="30" name="Text 28"/>
          <p:cNvSpPr/>
          <p:nvPr/>
        </p:nvSpPr>
        <p:spPr>
          <a:xfrm>
            <a:off x="6035040" y="2926080"/>
            <a:ext cx="2651760" cy="411480"/>
          </a:xfrm>
          <a:prstGeom prst="rect">
            <a:avLst/>
          </a:prstGeom>
          <a:noFill/>
          <a:ln/>
        </p:spPr>
        <p:txBody>
          <a:bodyPr wrap="square" lIns="0" tIns="0" rIns="0" bIns="0" rtlCol="0" anchor="ctr"/>
          <a:lstStyle/>
          <a:p>
            <a:pPr indent="0" marL="0">
              <a:buNone/>
            </a:pPr>
            <a:r>
              <a:rPr lang="en-US" sz="950" dirty="0">
                <a:solidFill>
                  <a:srgbClr val="E2E8F0"/>
                </a:solidFill>
                <a:latin typeface="Calibri" pitchFamily="34" charset="0"/>
                <a:ea typeface="Calibri" pitchFamily="34" charset="-122"/>
                <a:cs typeface="Calibri" pitchFamily="34" charset="-120"/>
              </a:rPr>
              <a:t>Solve crackme and binary exploitation challenges.</a:t>
            </a:r>
            <a:endParaRPr lang="en-US" sz="950" dirty="0"/>
          </a:p>
        </p:txBody>
      </p:sp>
      <p:sp>
        <p:nvSpPr>
          <p:cNvPr id="31" name="Shape 29"/>
          <p:cNvSpPr/>
          <p:nvPr/>
        </p:nvSpPr>
        <p:spPr>
          <a:xfrm>
            <a:off x="320040" y="3611880"/>
            <a:ext cx="4114800" cy="914400"/>
          </a:xfrm>
          <a:prstGeom prst="rect">
            <a:avLst/>
          </a:prstGeom>
          <a:solidFill>
            <a:srgbClr val="111827"/>
          </a:solidFill>
          <a:ln w="12700">
            <a:solidFill>
              <a:srgbClr val="FFD700"/>
            </a:solidFill>
            <a:prstDash val="solid"/>
          </a:ln>
        </p:spPr>
      </p:sp>
      <p:sp>
        <p:nvSpPr>
          <p:cNvPr id="32" name="Shape 30"/>
          <p:cNvSpPr/>
          <p:nvPr/>
        </p:nvSpPr>
        <p:spPr>
          <a:xfrm>
            <a:off x="914400" y="3794760"/>
            <a:ext cx="548640" cy="548640"/>
          </a:xfrm>
          <a:prstGeom prst="rect">
            <a:avLst/>
          </a:prstGeom>
          <a:solidFill>
            <a:srgbClr val="FFD700">
              <a:alpha val="20000"/>
            </a:srgbClr>
          </a:solidFill>
          <a:ln w="12700">
            <a:solidFill>
              <a:srgbClr val="FFD700">
                <a:alpha val="20000"/>
              </a:srgbClr>
            </a:solidFill>
            <a:prstDash val="solid"/>
          </a:ln>
        </p:spPr>
      </p:sp>
      <p:sp>
        <p:nvSpPr>
          <p:cNvPr id="33" name="Text 31"/>
          <p:cNvSpPr/>
          <p:nvPr/>
        </p:nvSpPr>
        <p:spPr>
          <a:xfrm>
            <a:off x="914400" y="3813048"/>
            <a:ext cx="548640" cy="502920"/>
          </a:xfrm>
          <a:prstGeom prst="rect">
            <a:avLst/>
          </a:prstGeom>
          <a:noFill/>
          <a:ln/>
        </p:spPr>
        <p:txBody>
          <a:bodyPr wrap="square" lIns="0" tIns="0" rIns="0" bIns="0" rtlCol="0" anchor="ctr"/>
          <a:lstStyle/>
          <a:p>
            <a:pPr algn="ctr" indent="0" marL="0">
              <a:buNone/>
            </a:pPr>
            <a:r>
              <a:rPr lang="en-US" sz="1800" dirty="0">
                <a:solidFill>
                  <a:srgbClr val="FFD700"/>
                </a:solidFill>
                <a:latin typeface="Consolas" pitchFamily="34" charset="0"/>
                <a:ea typeface="Consolas" pitchFamily="34" charset="-122"/>
                <a:cs typeface="Consolas" pitchFamily="34" charset="-120"/>
              </a:rPr>
              <a:t>◆</a:t>
            </a:r>
            <a:endParaRPr lang="en-US" sz="1800" dirty="0"/>
          </a:p>
        </p:txBody>
      </p:sp>
      <p:sp>
        <p:nvSpPr>
          <p:cNvPr id="34" name="Text 32"/>
          <p:cNvSpPr/>
          <p:nvPr/>
        </p:nvSpPr>
        <p:spPr>
          <a:xfrm>
            <a:off x="1600200" y="3703320"/>
            <a:ext cx="2651760" cy="320040"/>
          </a:xfrm>
          <a:prstGeom prst="rect">
            <a:avLst/>
          </a:prstGeom>
          <a:noFill/>
          <a:ln/>
        </p:spPr>
        <p:txBody>
          <a:bodyPr wrap="square" lIns="0" tIns="0" rIns="0" bIns="0" rtlCol="0" anchor="ctr"/>
          <a:lstStyle/>
          <a:p>
            <a:pPr indent="0" marL="0">
              <a:buNone/>
            </a:pPr>
            <a:r>
              <a:rPr lang="en-US" sz="1100" b="1" dirty="0">
                <a:solidFill>
                  <a:srgbClr val="FFD700"/>
                </a:solidFill>
                <a:latin typeface="Consolas" pitchFamily="34" charset="0"/>
                <a:ea typeface="Consolas" pitchFamily="34" charset="-122"/>
                <a:cs typeface="Consolas" pitchFamily="34" charset="-120"/>
              </a:rPr>
              <a:t>Digital Forensics</a:t>
            </a:r>
            <a:endParaRPr lang="en-US" sz="1100" dirty="0"/>
          </a:p>
        </p:txBody>
      </p:sp>
      <p:sp>
        <p:nvSpPr>
          <p:cNvPr id="35" name="Text 33"/>
          <p:cNvSpPr/>
          <p:nvPr/>
        </p:nvSpPr>
        <p:spPr>
          <a:xfrm>
            <a:off x="1600200" y="4023360"/>
            <a:ext cx="2651760" cy="411480"/>
          </a:xfrm>
          <a:prstGeom prst="rect">
            <a:avLst/>
          </a:prstGeom>
          <a:noFill/>
          <a:ln/>
        </p:spPr>
        <p:txBody>
          <a:bodyPr wrap="square" lIns="0" tIns="0" rIns="0" bIns="0" rtlCol="0" anchor="ctr"/>
          <a:lstStyle/>
          <a:p>
            <a:pPr indent="0" marL="0">
              <a:buNone/>
            </a:pPr>
            <a:r>
              <a:rPr lang="en-US" sz="950" dirty="0">
                <a:solidFill>
                  <a:srgbClr val="E2E8F0"/>
                </a:solidFill>
                <a:latin typeface="Calibri" pitchFamily="34" charset="0"/>
                <a:ea typeface="Calibri" pitchFamily="34" charset="-122"/>
                <a:cs typeface="Calibri" pitchFamily="34" charset="-120"/>
              </a:rPr>
              <a:t>Investigate incidents and recover forensic evidence.</a:t>
            </a:r>
            <a:endParaRPr lang="en-US" sz="950" dirty="0"/>
          </a:p>
        </p:txBody>
      </p:sp>
      <p:sp>
        <p:nvSpPr>
          <p:cNvPr id="36" name="Shape 34"/>
          <p:cNvSpPr/>
          <p:nvPr/>
        </p:nvSpPr>
        <p:spPr>
          <a:xfrm>
            <a:off x="4754880" y="3611880"/>
            <a:ext cx="4114800" cy="914400"/>
          </a:xfrm>
          <a:prstGeom prst="rect">
            <a:avLst/>
          </a:prstGeom>
          <a:solidFill>
            <a:srgbClr val="111827"/>
          </a:solidFill>
          <a:ln w="12700">
            <a:solidFill>
              <a:srgbClr val="00FF88"/>
            </a:solidFill>
            <a:prstDash val="solid"/>
          </a:ln>
        </p:spPr>
      </p:sp>
      <p:sp>
        <p:nvSpPr>
          <p:cNvPr id="37" name="Shape 35"/>
          <p:cNvSpPr/>
          <p:nvPr/>
        </p:nvSpPr>
        <p:spPr>
          <a:xfrm>
            <a:off x="5349240" y="3794760"/>
            <a:ext cx="548640" cy="548640"/>
          </a:xfrm>
          <a:prstGeom prst="rect">
            <a:avLst/>
          </a:prstGeom>
          <a:solidFill>
            <a:srgbClr val="00FF88">
              <a:alpha val="20000"/>
            </a:srgbClr>
          </a:solidFill>
          <a:ln w="12700">
            <a:solidFill>
              <a:srgbClr val="00FF88">
                <a:alpha val="20000"/>
              </a:srgbClr>
            </a:solidFill>
            <a:prstDash val="solid"/>
          </a:ln>
        </p:spPr>
      </p:sp>
      <p:sp>
        <p:nvSpPr>
          <p:cNvPr id="38" name="Text 36"/>
          <p:cNvSpPr/>
          <p:nvPr/>
        </p:nvSpPr>
        <p:spPr>
          <a:xfrm>
            <a:off x="5349240" y="3813048"/>
            <a:ext cx="548640" cy="502920"/>
          </a:xfrm>
          <a:prstGeom prst="rect">
            <a:avLst/>
          </a:prstGeom>
          <a:noFill/>
          <a:ln/>
        </p:spPr>
        <p:txBody>
          <a:bodyPr wrap="square" lIns="0" tIns="0" rIns="0" bIns="0" rtlCol="0" anchor="ctr"/>
          <a:lstStyle/>
          <a:p>
            <a:pPr algn="ctr" indent="0" marL="0">
              <a:buNone/>
            </a:pPr>
            <a:r>
              <a:rPr lang="en-US" sz="1800" dirty="0">
                <a:solidFill>
                  <a:srgbClr val="00FF88"/>
                </a:solidFill>
                <a:latin typeface="Consolas" pitchFamily="34" charset="0"/>
                <a:ea typeface="Consolas" pitchFamily="34" charset="-122"/>
                <a:cs typeface="Consolas" pitchFamily="34" charset="-120"/>
              </a:rPr>
              <a:t>◆</a:t>
            </a:r>
            <a:endParaRPr lang="en-US" sz="1800" dirty="0"/>
          </a:p>
        </p:txBody>
      </p:sp>
      <p:sp>
        <p:nvSpPr>
          <p:cNvPr id="39" name="Text 37"/>
          <p:cNvSpPr/>
          <p:nvPr/>
        </p:nvSpPr>
        <p:spPr>
          <a:xfrm>
            <a:off x="6035040" y="3703320"/>
            <a:ext cx="2651760" cy="320040"/>
          </a:xfrm>
          <a:prstGeom prst="rect">
            <a:avLst/>
          </a:prstGeom>
          <a:noFill/>
          <a:ln/>
        </p:spPr>
        <p:txBody>
          <a:bodyPr wrap="square" lIns="0" tIns="0" rIns="0" bIns="0" rtlCol="0" anchor="ctr"/>
          <a:lstStyle/>
          <a:p>
            <a:pPr indent="0" marL="0">
              <a:buNone/>
            </a:pPr>
            <a:r>
              <a:rPr lang="en-US" sz="1100" b="1" dirty="0">
                <a:solidFill>
                  <a:srgbClr val="00FF88"/>
                </a:solidFill>
                <a:latin typeface="Consolas" pitchFamily="34" charset="0"/>
                <a:ea typeface="Consolas" pitchFamily="34" charset="-122"/>
                <a:cs typeface="Consolas" pitchFamily="34" charset="-120"/>
              </a:rPr>
              <a:t>Legacy Code Recovery</a:t>
            </a:r>
            <a:endParaRPr lang="en-US" sz="1100" dirty="0"/>
          </a:p>
        </p:txBody>
      </p:sp>
      <p:sp>
        <p:nvSpPr>
          <p:cNvPr id="40" name="Text 38"/>
          <p:cNvSpPr/>
          <p:nvPr/>
        </p:nvSpPr>
        <p:spPr>
          <a:xfrm>
            <a:off x="6035040" y="4023360"/>
            <a:ext cx="2651760" cy="411480"/>
          </a:xfrm>
          <a:prstGeom prst="rect">
            <a:avLst/>
          </a:prstGeom>
          <a:noFill/>
          <a:ln/>
        </p:spPr>
        <p:txBody>
          <a:bodyPr wrap="square" lIns="0" tIns="0" rIns="0" bIns="0" rtlCol="0" anchor="ctr"/>
          <a:lstStyle/>
          <a:p>
            <a:pPr indent="0" marL="0">
              <a:buNone/>
            </a:pPr>
            <a:r>
              <a:rPr lang="en-US" sz="950" dirty="0">
                <a:solidFill>
                  <a:srgbClr val="E2E8F0"/>
                </a:solidFill>
                <a:latin typeface="Calibri" pitchFamily="34" charset="0"/>
                <a:ea typeface="Calibri" pitchFamily="34" charset="-122"/>
                <a:cs typeface="Calibri" pitchFamily="34" charset="-120"/>
              </a:rPr>
              <a:t>Recover functionality from software with no source code.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164592" y="164592"/>
            <a:ext cx="365760" cy="45720"/>
          </a:xfrm>
          <a:prstGeom prst="rect">
            <a:avLst/>
          </a:prstGeom>
          <a:solidFill>
            <a:srgbClr val="00FF88"/>
          </a:solidFill>
          <a:ln w="12700">
            <a:solidFill>
              <a:srgbClr val="00FF88"/>
            </a:solidFill>
            <a:prstDash val="solid"/>
          </a:ln>
        </p:spPr>
      </p:sp>
      <p:sp>
        <p:nvSpPr>
          <p:cNvPr id="3" name="Shape 1"/>
          <p:cNvSpPr/>
          <p:nvPr/>
        </p:nvSpPr>
        <p:spPr>
          <a:xfrm>
            <a:off x="164592" y="164592"/>
            <a:ext cx="45720" cy="274320"/>
          </a:xfrm>
          <a:prstGeom prst="rect">
            <a:avLst/>
          </a:prstGeom>
          <a:solidFill>
            <a:srgbClr val="00FF88"/>
          </a:solidFill>
          <a:ln w="12700">
            <a:solidFill>
              <a:srgbClr val="00FF88"/>
            </a:solidFill>
            <a:prstDash val="solid"/>
          </a:ln>
        </p:spPr>
      </p:sp>
      <p:sp>
        <p:nvSpPr>
          <p:cNvPr id="4" name="Shape 2"/>
          <p:cNvSpPr/>
          <p:nvPr/>
        </p:nvSpPr>
        <p:spPr>
          <a:xfrm>
            <a:off x="8613648" y="4910328"/>
            <a:ext cx="365760" cy="45720"/>
          </a:xfrm>
          <a:prstGeom prst="rect">
            <a:avLst/>
          </a:prstGeom>
          <a:solidFill>
            <a:srgbClr val="00D4FF"/>
          </a:solidFill>
          <a:ln w="12700">
            <a:solidFill>
              <a:srgbClr val="00D4FF"/>
            </a:solidFill>
            <a:prstDash val="solid"/>
          </a:ln>
        </p:spPr>
      </p:sp>
      <p:sp>
        <p:nvSpPr>
          <p:cNvPr id="5" name="Shape 3"/>
          <p:cNvSpPr/>
          <p:nvPr/>
        </p:nvSpPr>
        <p:spPr>
          <a:xfrm>
            <a:off x="8933688" y="4681728"/>
            <a:ext cx="45720" cy="274320"/>
          </a:xfrm>
          <a:prstGeom prst="rect">
            <a:avLst/>
          </a:prstGeom>
          <a:solidFill>
            <a:srgbClr val="00D4FF"/>
          </a:solidFill>
          <a:ln w="12700">
            <a:solidFill>
              <a:srgbClr val="00D4FF"/>
            </a:solidFill>
            <a:prstDash val="solid"/>
          </a:ln>
        </p:spPr>
      </p:sp>
      <p:sp>
        <p:nvSpPr>
          <p:cNvPr id="6" name="Shape 4"/>
          <p:cNvSpPr/>
          <p:nvPr/>
        </p:nvSpPr>
        <p:spPr>
          <a:xfrm>
            <a:off x="411480" y="201168"/>
            <a:ext cx="2798064" cy="256032"/>
          </a:xfrm>
          <a:prstGeom prst="rect">
            <a:avLst/>
          </a:prstGeom>
          <a:solidFill>
            <a:srgbClr val="00FF88"/>
          </a:solidFill>
          <a:ln w="12700">
            <a:solidFill>
              <a:srgbClr val="00FF88"/>
            </a:solidFill>
            <a:prstDash val="solid"/>
          </a:ln>
        </p:spPr>
      </p:sp>
      <p:sp>
        <p:nvSpPr>
          <p:cNvPr id="7" name="Text 5"/>
          <p:cNvSpPr/>
          <p:nvPr/>
        </p:nvSpPr>
        <p:spPr>
          <a:xfrm>
            <a:off x="411480" y="201168"/>
            <a:ext cx="2798064" cy="256032"/>
          </a:xfrm>
          <a:prstGeom prst="rect">
            <a:avLst/>
          </a:prstGeom>
          <a:noFill/>
          <a:ln/>
        </p:spPr>
        <p:txBody>
          <a:bodyPr wrap="square" lIns="0" tIns="0" rIns="0" bIns="0" rtlCol="0" anchor="ctr"/>
          <a:lstStyle/>
          <a:p>
            <a:pPr algn="ctr" indent="0" marL="0">
              <a:buNone/>
            </a:pPr>
            <a:r>
              <a:rPr lang="en-US" sz="900" b="1" dirty="0">
                <a:solidFill>
                  <a:srgbClr val="0A0E1A"/>
                </a:solidFill>
                <a:latin typeface="Consolas" pitchFamily="34" charset="0"/>
                <a:ea typeface="Consolas" pitchFamily="34" charset="-122"/>
                <a:cs typeface="Consolas" pitchFamily="34" charset="-120"/>
              </a:rPr>
              <a:t>SECTION 1 · INTRODUCTION</a:t>
            </a:r>
            <a:endParaRPr lang="en-US" sz="900" dirty="0"/>
          </a:p>
        </p:txBody>
      </p:sp>
      <p:sp>
        <p:nvSpPr>
          <p:cNvPr id="8" name="Text 6"/>
          <p:cNvSpPr/>
          <p:nvPr/>
        </p:nvSpPr>
        <p:spPr>
          <a:xfrm>
            <a:off x="411480" y="530352"/>
            <a:ext cx="8321040" cy="594360"/>
          </a:xfrm>
          <a:prstGeom prst="rect">
            <a:avLst/>
          </a:prstGeom>
          <a:noFill/>
          <a:ln/>
        </p:spPr>
        <p:txBody>
          <a:bodyPr wrap="square" lIns="0" tIns="0" rIns="0" bIns="0" rtlCol="0" anchor="ctr"/>
          <a:lstStyle/>
          <a:p>
            <a:pPr algn="l" indent="0" marL="0">
              <a:buNone/>
            </a:pPr>
            <a:r>
              <a:rPr lang="en-US" sz="2800" b="1" dirty="0">
                <a:solidFill>
                  <a:srgbClr val="FF3355"/>
                </a:solidFill>
                <a:latin typeface="Consolas" pitchFamily="34" charset="0"/>
                <a:ea typeface="Consolas" pitchFamily="34" charset="-122"/>
                <a:cs typeface="Consolas" pitchFamily="34" charset="-120"/>
              </a:rPr>
              <a:t>Ethical &amp; Legal Considerations</a:t>
            </a:r>
            <a:endParaRPr lang="en-US" sz="2800" dirty="0"/>
          </a:p>
        </p:txBody>
      </p:sp>
      <p:sp>
        <p:nvSpPr>
          <p:cNvPr id="9" name="Text 7"/>
          <p:cNvSpPr/>
          <p:nvPr/>
        </p:nvSpPr>
        <p:spPr>
          <a:xfrm>
            <a:off x="411480" y="1051560"/>
            <a:ext cx="8321040" cy="320040"/>
          </a:xfrm>
          <a:prstGeom prst="rect">
            <a:avLst/>
          </a:prstGeom>
          <a:noFill/>
          <a:ln/>
        </p:spPr>
        <p:txBody>
          <a:bodyPr wrap="square" lIns="0" tIns="0" rIns="0" bIns="0" rtlCol="0" anchor="ctr"/>
          <a:lstStyle/>
          <a:p>
            <a:pPr algn="l" indent="0" marL="0">
              <a:buNone/>
            </a:pPr>
            <a:r>
              <a:rPr lang="en-US" sz="1300" dirty="0">
                <a:solidFill>
                  <a:srgbClr val="8B9BB4"/>
                </a:solidFill>
                <a:latin typeface="Calibri" pitchFamily="34" charset="0"/>
                <a:ea typeface="Calibri" pitchFamily="34" charset="-122"/>
                <a:cs typeface="Calibri" pitchFamily="34" charset="-120"/>
              </a:rPr>
              <a:t>Understanding the boundaries — reverse responsibly.</a:t>
            </a:r>
            <a:endParaRPr lang="en-US" sz="1300" dirty="0"/>
          </a:p>
        </p:txBody>
      </p:sp>
      <p:sp>
        <p:nvSpPr>
          <p:cNvPr id="10" name="Text 8"/>
          <p:cNvSpPr/>
          <p:nvPr/>
        </p:nvSpPr>
        <p:spPr>
          <a:xfrm>
            <a:off x="8686800" y="4754880"/>
            <a:ext cx="365760" cy="228600"/>
          </a:xfrm>
          <a:prstGeom prst="rect">
            <a:avLst/>
          </a:prstGeom>
          <a:noFill/>
          <a:ln/>
        </p:spPr>
        <p:txBody>
          <a:bodyPr wrap="square" lIns="0" tIns="0" rIns="0" bIns="0" rtlCol="0" anchor="ctr"/>
          <a:lstStyle/>
          <a:p>
            <a:pPr algn="r" indent="0" marL="0">
              <a:buNone/>
            </a:pPr>
            <a:r>
              <a:rPr lang="en-US" sz="900" dirty="0">
                <a:solidFill>
                  <a:srgbClr val="8B9BB4"/>
                </a:solidFill>
                <a:latin typeface="Consolas" pitchFamily="34" charset="0"/>
                <a:ea typeface="Consolas" pitchFamily="34" charset="-122"/>
                <a:cs typeface="Consolas" pitchFamily="34" charset="-120"/>
              </a:rPr>
              <a:t>05</a:t>
            </a:r>
            <a:endParaRPr lang="en-US" sz="900" dirty="0"/>
          </a:p>
        </p:txBody>
      </p:sp>
      <p:sp>
        <p:nvSpPr>
          <p:cNvPr id="11" name="Shape 9"/>
          <p:cNvSpPr/>
          <p:nvPr/>
        </p:nvSpPr>
        <p:spPr>
          <a:xfrm>
            <a:off x="320040" y="1234440"/>
            <a:ext cx="8503920" cy="502920"/>
          </a:xfrm>
          <a:prstGeom prst="rect">
            <a:avLst/>
          </a:prstGeom>
          <a:solidFill>
            <a:srgbClr val="1A0A0A"/>
          </a:solidFill>
          <a:ln w="12700">
            <a:solidFill>
              <a:srgbClr val="FF3355"/>
            </a:solidFill>
            <a:prstDash val="solid"/>
          </a:ln>
        </p:spPr>
      </p:sp>
      <p:sp>
        <p:nvSpPr>
          <p:cNvPr id="12" name="Text 10"/>
          <p:cNvSpPr/>
          <p:nvPr/>
        </p:nvSpPr>
        <p:spPr>
          <a:xfrm>
            <a:off x="457200" y="1234440"/>
            <a:ext cx="8229600" cy="502920"/>
          </a:xfrm>
          <a:prstGeom prst="rect">
            <a:avLst/>
          </a:prstGeom>
          <a:noFill/>
          <a:ln/>
        </p:spPr>
        <p:txBody>
          <a:bodyPr wrap="square" lIns="0" tIns="0" rIns="0" bIns="0" rtlCol="0" anchor="ctr"/>
          <a:lstStyle/>
          <a:p>
            <a:pPr indent="0" marL="0">
              <a:buNone/>
            </a:pPr>
            <a:r>
              <a:rPr lang="en-US" sz="1100" b="1" dirty="0">
                <a:solidFill>
                  <a:srgbClr val="FF3355"/>
                </a:solidFill>
                <a:latin typeface="Calibri" pitchFamily="34" charset="0"/>
                <a:ea typeface="Calibri" pitchFamily="34" charset="-122"/>
                <a:cs typeface="Calibri" pitchFamily="34" charset="-120"/>
              </a:rPr>
              <a:t>⚠  IMPORTANT: Always get explicit written permission before reverse engineering any software you do not own.</a:t>
            </a:r>
            <a:endParaRPr lang="en-US" sz="1100" dirty="0"/>
          </a:p>
        </p:txBody>
      </p:sp>
      <p:sp>
        <p:nvSpPr>
          <p:cNvPr id="13" name="Shape 11"/>
          <p:cNvSpPr/>
          <p:nvPr/>
        </p:nvSpPr>
        <p:spPr>
          <a:xfrm>
            <a:off x="320040" y="1874520"/>
            <a:ext cx="2651760" cy="2834640"/>
          </a:xfrm>
          <a:prstGeom prst="rect">
            <a:avLst/>
          </a:prstGeom>
          <a:solidFill>
            <a:srgbClr val="111827"/>
          </a:solidFill>
          <a:ln w="12700">
            <a:solidFill>
              <a:srgbClr val="00FF88"/>
            </a:solidFill>
            <a:prstDash val="solid"/>
          </a:ln>
        </p:spPr>
      </p:sp>
      <p:sp>
        <p:nvSpPr>
          <p:cNvPr id="14" name="Shape 12"/>
          <p:cNvSpPr/>
          <p:nvPr/>
        </p:nvSpPr>
        <p:spPr>
          <a:xfrm>
            <a:off x="320040" y="1874520"/>
            <a:ext cx="2651760" cy="347472"/>
          </a:xfrm>
          <a:prstGeom prst="rect">
            <a:avLst/>
          </a:prstGeom>
          <a:solidFill>
            <a:srgbClr val="00FF88">
              <a:alpha val="20000"/>
            </a:srgbClr>
          </a:solidFill>
          <a:ln w="12700">
            <a:solidFill>
              <a:srgbClr val="00FF88">
                <a:alpha val="20000"/>
              </a:srgbClr>
            </a:solidFill>
            <a:prstDash val="solid"/>
          </a:ln>
        </p:spPr>
      </p:sp>
      <p:sp>
        <p:nvSpPr>
          <p:cNvPr id="15" name="Text 13"/>
          <p:cNvSpPr/>
          <p:nvPr/>
        </p:nvSpPr>
        <p:spPr>
          <a:xfrm>
            <a:off x="411480" y="1901952"/>
            <a:ext cx="2468880" cy="301752"/>
          </a:xfrm>
          <a:prstGeom prst="rect">
            <a:avLst/>
          </a:prstGeom>
          <a:noFill/>
          <a:ln/>
        </p:spPr>
        <p:txBody>
          <a:bodyPr wrap="square" lIns="0" tIns="0" rIns="0" bIns="0" rtlCol="0" anchor="ctr"/>
          <a:lstStyle/>
          <a:p>
            <a:pPr indent="0" marL="0">
              <a:buNone/>
            </a:pPr>
            <a:r>
              <a:rPr lang="en-US" sz="1000" b="1" dirty="0">
                <a:solidFill>
                  <a:srgbClr val="00FF88"/>
                </a:solidFill>
                <a:latin typeface="Consolas" pitchFamily="34" charset="0"/>
                <a:ea typeface="Consolas" pitchFamily="34" charset="-122"/>
                <a:cs typeface="Consolas" pitchFamily="34" charset="-120"/>
              </a:rPr>
              <a:t>✅  Legal &amp; Ethical</a:t>
            </a:r>
            <a:endParaRPr lang="en-US" sz="1000" dirty="0"/>
          </a:p>
        </p:txBody>
      </p:sp>
      <p:sp>
        <p:nvSpPr>
          <p:cNvPr id="16" name="Text 14"/>
          <p:cNvSpPr/>
          <p:nvPr/>
        </p:nvSpPr>
        <p:spPr>
          <a:xfrm>
            <a:off x="411480" y="2286000"/>
            <a:ext cx="2468880" cy="2286000"/>
          </a:xfrm>
          <a:prstGeom prst="rect">
            <a:avLst/>
          </a:prstGeom>
          <a:noFill/>
          <a:ln/>
        </p:spPr>
        <p:txBody>
          <a:bodyPr wrap="square" lIns="0" tIns="0" rIns="0" bIns="0" rtlCol="0" anchor="t"/>
          <a:lstStyle/>
          <a:p>
            <a:pPr indent="0" marL="0">
              <a:buNone/>
            </a:pPr>
            <a:r>
              <a:rPr lang="en-US" sz="950" dirty="0">
                <a:solidFill>
                  <a:srgbClr val="E2E8F0"/>
                </a:solidFill>
                <a:latin typeface="Calibri" pitchFamily="34" charset="0"/>
                <a:ea typeface="Calibri" pitchFamily="34" charset="-122"/>
                <a:cs typeface="Calibri" pitchFamily="34" charset="-120"/>
              </a:rPr>
              <a:t>Malware you captured yourself</a:t>
            </a:r>
            <a:endParaRPr lang="en-US" sz="950" dirty="0"/>
          </a:p>
          <a:p>
            <a:pPr indent="0" marL="0">
              <a:buNone/>
            </a:pPr>
            <a:r>
              <a:rPr lang="en-US" sz="950" dirty="0">
                <a:solidFill>
                  <a:srgbClr val="E2E8F0"/>
                </a:solidFill>
                <a:latin typeface="Calibri" pitchFamily="34" charset="0"/>
                <a:ea typeface="Calibri" pitchFamily="34" charset="-122"/>
                <a:cs typeface="Calibri" pitchFamily="34" charset="-120"/>
              </a:rPr>
              <a:t>CTF/crackme challenges</a:t>
            </a:r>
            <a:endParaRPr lang="en-US" sz="950" dirty="0"/>
          </a:p>
          <a:p>
            <a:pPr indent="0" marL="0">
              <a:buNone/>
            </a:pPr>
            <a:r>
              <a:rPr lang="en-US" sz="950" dirty="0">
                <a:solidFill>
                  <a:srgbClr val="E2E8F0"/>
                </a:solidFill>
                <a:latin typeface="Calibri" pitchFamily="34" charset="0"/>
                <a:ea typeface="Calibri" pitchFamily="34" charset="-122"/>
                <a:cs typeface="Calibri" pitchFamily="34" charset="-120"/>
              </a:rPr>
              <a:t>Your own software</a:t>
            </a:r>
            <a:endParaRPr lang="en-US" sz="950" dirty="0"/>
          </a:p>
          <a:p>
            <a:pPr indent="0" marL="0">
              <a:buNone/>
            </a:pPr>
            <a:r>
              <a:rPr lang="en-US" sz="950" dirty="0">
                <a:solidFill>
                  <a:srgbClr val="E2E8F0"/>
                </a:solidFill>
                <a:latin typeface="Calibri" pitchFamily="34" charset="0"/>
                <a:ea typeface="Calibri" pitchFamily="34" charset="-122"/>
                <a:cs typeface="Calibri" pitchFamily="34" charset="-120"/>
              </a:rPr>
              <a:t>Open-source projects</a:t>
            </a:r>
            <a:endParaRPr lang="en-US" sz="950" dirty="0"/>
          </a:p>
          <a:p>
            <a:pPr indent="0" marL="0">
              <a:buNone/>
            </a:pPr>
            <a:r>
              <a:rPr lang="en-US" sz="950" dirty="0">
                <a:solidFill>
                  <a:srgbClr val="E2E8F0"/>
                </a:solidFill>
                <a:latin typeface="Calibri" pitchFamily="34" charset="0"/>
                <a:ea typeface="Calibri" pitchFamily="34" charset="-122"/>
                <a:cs typeface="Calibri" pitchFamily="34" charset="-120"/>
              </a:rPr>
              <a:t>Licensed bug bounty targets</a:t>
            </a:r>
            <a:endParaRPr lang="en-US" sz="950" dirty="0"/>
          </a:p>
        </p:txBody>
      </p:sp>
      <p:sp>
        <p:nvSpPr>
          <p:cNvPr id="17" name="Shape 15"/>
          <p:cNvSpPr/>
          <p:nvPr/>
        </p:nvSpPr>
        <p:spPr>
          <a:xfrm>
            <a:off x="3200400" y="1874520"/>
            <a:ext cx="2651760" cy="2834640"/>
          </a:xfrm>
          <a:prstGeom prst="rect">
            <a:avLst/>
          </a:prstGeom>
          <a:solidFill>
            <a:srgbClr val="111827"/>
          </a:solidFill>
          <a:ln w="12700">
            <a:solidFill>
              <a:srgbClr val="FF3355"/>
            </a:solidFill>
            <a:prstDash val="solid"/>
          </a:ln>
        </p:spPr>
      </p:sp>
      <p:sp>
        <p:nvSpPr>
          <p:cNvPr id="18" name="Shape 16"/>
          <p:cNvSpPr/>
          <p:nvPr/>
        </p:nvSpPr>
        <p:spPr>
          <a:xfrm>
            <a:off x="3200400" y="1874520"/>
            <a:ext cx="2651760" cy="347472"/>
          </a:xfrm>
          <a:prstGeom prst="rect">
            <a:avLst/>
          </a:prstGeom>
          <a:solidFill>
            <a:srgbClr val="FF3355">
              <a:alpha val="20000"/>
            </a:srgbClr>
          </a:solidFill>
          <a:ln w="12700">
            <a:solidFill>
              <a:srgbClr val="FF3355">
                <a:alpha val="20000"/>
              </a:srgbClr>
            </a:solidFill>
            <a:prstDash val="solid"/>
          </a:ln>
        </p:spPr>
      </p:sp>
      <p:sp>
        <p:nvSpPr>
          <p:cNvPr id="19" name="Text 17"/>
          <p:cNvSpPr/>
          <p:nvPr/>
        </p:nvSpPr>
        <p:spPr>
          <a:xfrm>
            <a:off x="3291840" y="1901952"/>
            <a:ext cx="2468880" cy="301752"/>
          </a:xfrm>
          <a:prstGeom prst="rect">
            <a:avLst/>
          </a:prstGeom>
          <a:noFill/>
          <a:ln/>
        </p:spPr>
        <p:txBody>
          <a:bodyPr wrap="square" lIns="0" tIns="0" rIns="0" bIns="0" rtlCol="0" anchor="ctr"/>
          <a:lstStyle/>
          <a:p>
            <a:pPr indent="0" marL="0">
              <a:buNone/>
            </a:pPr>
            <a:r>
              <a:rPr lang="en-US" sz="1000" b="1" dirty="0">
                <a:solidFill>
                  <a:srgbClr val="FF3355"/>
                </a:solidFill>
                <a:latin typeface="Consolas" pitchFamily="34" charset="0"/>
                <a:ea typeface="Consolas" pitchFamily="34" charset="-122"/>
                <a:cs typeface="Consolas" pitchFamily="34" charset="-120"/>
              </a:rPr>
              <a:t>❌  Potentially Illegal</a:t>
            </a:r>
            <a:endParaRPr lang="en-US" sz="1000" dirty="0"/>
          </a:p>
        </p:txBody>
      </p:sp>
      <p:sp>
        <p:nvSpPr>
          <p:cNvPr id="20" name="Text 18"/>
          <p:cNvSpPr/>
          <p:nvPr/>
        </p:nvSpPr>
        <p:spPr>
          <a:xfrm>
            <a:off x="3291840" y="2286000"/>
            <a:ext cx="2468880" cy="2286000"/>
          </a:xfrm>
          <a:prstGeom prst="rect">
            <a:avLst/>
          </a:prstGeom>
          <a:noFill/>
          <a:ln/>
        </p:spPr>
        <p:txBody>
          <a:bodyPr wrap="square" lIns="0" tIns="0" rIns="0" bIns="0" rtlCol="0" anchor="t"/>
          <a:lstStyle/>
          <a:p>
            <a:pPr indent="0" marL="0">
              <a:buNone/>
            </a:pPr>
            <a:r>
              <a:rPr lang="en-US" sz="950" dirty="0">
                <a:solidFill>
                  <a:srgbClr val="E2E8F0"/>
                </a:solidFill>
                <a:latin typeface="Calibri" pitchFamily="34" charset="0"/>
                <a:ea typeface="Calibri" pitchFamily="34" charset="-122"/>
                <a:cs typeface="Calibri" pitchFamily="34" charset="-120"/>
              </a:rPr>
              <a:t>Commercial software (check ToS)</a:t>
            </a:r>
            <a:endParaRPr lang="en-US" sz="950" dirty="0"/>
          </a:p>
          <a:p>
            <a:pPr indent="0" marL="0">
              <a:buNone/>
            </a:pPr>
            <a:r>
              <a:rPr lang="en-US" sz="950" dirty="0">
                <a:solidFill>
                  <a:srgbClr val="E2E8F0"/>
                </a:solidFill>
                <a:latin typeface="Calibri" pitchFamily="34" charset="0"/>
                <a:ea typeface="Calibri" pitchFamily="34" charset="-122"/>
                <a:cs typeface="Calibri" pitchFamily="34" charset="-120"/>
              </a:rPr>
              <a:t>DRM circumvention</a:t>
            </a:r>
            <a:endParaRPr lang="en-US" sz="950" dirty="0"/>
          </a:p>
          <a:p>
            <a:pPr indent="0" marL="0">
              <a:buNone/>
            </a:pPr>
            <a:r>
              <a:rPr lang="en-US" sz="950" dirty="0">
                <a:solidFill>
                  <a:srgbClr val="E2E8F0"/>
                </a:solidFill>
                <a:latin typeface="Calibri" pitchFamily="34" charset="0"/>
                <a:ea typeface="Calibri" pitchFamily="34" charset="-122"/>
                <a:cs typeface="Calibri" pitchFamily="34" charset="-120"/>
              </a:rPr>
              <a:t>Competitor products</a:t>
            </a:r>
            <a:endParaRPr lang="en-US" sz="950" dirty="0"/>
          </a:p>
          <a:p>
            <a:pPr indent="0" marL="0">
              <a:buNone/>
            </a:pPr>
            <a:r>
              <a:rPr lang="en-US" sz="950" dirty="0">
                <a:solidFill>
                  <a:srgbClr val="E2E8F0"/>
                </a:solidFill>
                <a:latin typeface="Calibri" pitchFamily="34" charset="0"/>
                <a:ea typeface="Calibri" pitchFamily="34" charset="-122"/>
                <a:cs typeface="Calibri" pitchFamily="34" charset="-120"/>
              </a:rPr>
              <a:t>Government systems</a:t>
            </a:r>
            <a:endParaRPr lang="en-US" sz="950" dirty="0"/>
          </a:p>
          <a:p>
            <a:pPr indent="0" marL="0">
              <a:buNone/>
            </a:pPr>
            <a:r>
              <a:rPr lang="en-US" sz="950" dirty="0">
                <a:solidFill>
                  <a:srgbClr val="E2E8F0"/>
                </a:solidFill>
                <a:latin typeface="Calibri" pitchFamily="34" charset="0"/>
                <a:ea typeface="Calibri" pitchFamily="34" charset="-122"/>
                <a:cs typeface="Calibri" pitchFamily="34" charset="-120"/>
              </a:rPr>
              <a:t>Without owner consent</a:t>
            </a:r>
            <a:endParaRPr lang="en-US" sz="950" dirty="0"/>
          </a:p>
        </p:txBody>
      </p:sp>
      <p:sp>
        <p:nvSpPr>
          <p:cNvPr id="21" name="Shape 19"/>
          <p:cNvSpPr/>
          <p:nvPr/>
        </p:nvSpPr>
        <p:spPr>
          <a:xfrm>
            <a:off x="6080760" y="1874520"/>
            <a:ext cx="2651760" cy="2834640"/>
          </a:xfrm>
          <a:prstGeom prst="rect">
            <a:avLst/>
          </a:prstGeom>
          <a:solidFill>
            <a:srgbClr val="111827"/>
          </a:solidFill>
          <a:ln w="12700">
            <a:solidFill>
              <a:srgbClr val="FF6B35"/>
            </a:solidFill>
            <a:prstDash val="solid"/>
          </a:ln>
        </p:spPr>
      </p:sp>
      <p:sp>
        <p:nvSpPr>
          <p:cNvPr id="22" name="Shape 20"/>
          <p:cNvSpPr/>
          <p:nvPr/>
        </p:nvSpPr>
        <p:spPr>
          <a:xfrm>
            <a:off x="6080760" y="1874520"/>
            <a:ext cx="2651760" cy="347472"/>
          </a:xfrm>
          <a:prstGeom prst="rect">
            <a:avLst/>
          </a:prstGeom>
          <a:solidFill>
            <a:srgbClr val="FF6B35">
              <a:alpha val="20000"/>
            </a:srgbClr>
          </a:solidFill>
          <a:ln w="12700">
            <a:solidFill>
              <a:srgbClr val="FF6B35">
                <a:alpha val="20000"/>
              </a:srgbClr>
            </a:solidFill>
            <a:prstDash val="solid"/>
          </a:ln>
        </p:spPr>
      </p:sp>
      <p:sp>
        <p:nvSpPr>
          <p:cNvPr id="23" name="Text 21"/>
          <p:cNvSpPr/>
          <p:nvPr/>
        </p:nvSpPr>
        <p:spPr>
          <a:xfrm>
            <a:off x="6172200" y="1901952"/>
            <a:ext cx="2468880" cy="301752"/>
          </a:xfrm>
          <a:prstGeom prst="rect">
            <a:avLst/>
          </a:prstGeom>
          <a:noFill/>
          <a:ln/>
        </p:spPr>
        <p:txBody>
          <a:bodyPr wrap="square" lIns="0" tIns="0" rIns="0" bIns="0" rtlCol="0" anchor="ctr"/>
          <a:lstStyle/>
          <a:p>
            <a:pPr indent="0" marL="0">
              <a:buNone/>
            </a:pPr>
            <a:r>
              <a:rPr lang="en-US" sz="1000" b="1" dirty="0">
                <a:solidFill>
                  <a:srgbClr val="FF6B35"/>
                </a:solidFill>
                <a:latin typeface="Consolas" pitchFamily="34" charset="0"/>
                <a:ea typeface="Consolas" pitchFamily="34" charset="-122"/>
                <a:cs typeface="Consolas" pitchFamily="34" charset="-120"/>
              </a:rPr>
              <a:t>📜  Key Laws</a:t>
            </a:r>
            <a:endParaRPr lang="en-US" sz="1000" dirty="0"/>
          </a:p>
        </p:txBody>
      </p:sp>
      <p:sp>
        <p:nvSpPr>
          <p:cNvPr id="24" name="Text 22"/>
          <p:cNvSpPr/>
          <p:nvPr/>
        </p:nvSpPr>
        <p:spPr>
          <a:xfrm>
            <a:off x="6172200" y="2286000"/>
            <a:ext cx="2468880" cy="2286000"/>
          </a:xfrm>
          <a:prstGeom prst="rect">
            <a:avLst/>
          </a:prstGeom>
          <a:noFill/>
          <a:ln/>
        </p:spPr>
        <p:txBody>
          <a:bodyPr wrap="square" lIns="0" tIns="0" rIns="0" bIns="0" rtlCol="0" anchor="t"/>
          <a:lstStyle/>
          <a:p>
            <a:pPr indent="0" marL="0">
              <a:buNone/>
            </a:pPr>
            <a:r>
              <a:rPr lang="en-US" sz="950" dirty="0">
                <a:solidFill>
                  <a:srgbClr val="E2E8F0"/>
                </a:solidFill>
                <a:latin typeface="Calibri" pitchFamily="34" charset="0"/>
                <a:ea typeface="Calibri" pitchFamily="34" charset="-122"/>
                <a:cs typeface="Calibri" pitchFamily="34" charset="-120"/>
              </a:rPr>
              <a:t>CFAA (US) — Computer Fraud &amp; Abuse</a:t>
            </a:r>
            <a:endParaRPr lang="en-US" sz="950" dirty="0"/>
          </a:p>
          <a:p>
            <a:pPr indent="0" marL="0">
              <a:buNone/>
            </a:pPr>
            <a:r>
              <a:rPr lang="en-US" sz="950" dirty="0">
                <a:solidFill>
                  <a:srgbClr val="E2E8F0"/>
                </a:solidFill>
                <a:latin typeface="Calibri" pitchFamily="34" charset="0"/>
                <a:ea typeface="Calibri" pitchFamily="34" charset="-122"/>
                <a:cs typeface="Calibri" pitchFamily="34" charset="-120"/>
              </a:rPr>
              <a:t>DMCA §1201 — Anti-circumvention</a:t>
            </a:r>
            <a:endParaRPr lang="en-US" sz="950" dirty="0"/>
          </a:p>
          <a:p>
            <a:pPr indent="0" marL="0">
              <a:buNone/>
            </a:pPr>
            <a:r>
              <a:rPr lang="en-US" sz="950" dirty="0">
                <a:solidFill>
                  <a:srgbClr val="E2E8F0"/>
                </a:solidFill>
                <a:latin typeface="Calibri" pitchFamily="34" charset="0"/>
                <a:ea typeface="Calibri" pitchFamily="34" charset="-122"/>
                <a:cs typeface="Calibri" pitchFamily="34" charset="-120"/>
              </a:rPr>
              <a:t>EU Directive 2016/1148 (NIS)</a:t>
            </a:r>
            <a:endParaRPr lang="en-US" sz="950" dirty="0"/>
          </a:p>
          <a:p>
            <a:pPr indent="0" marL="0">
              <a:buNone/>
            </a:pPr>
            <a:r>
              <a:rPr lang="en-US" sz="950" dirty="0">
                <a:solidFill>
                  <a:srgbClr val="E2E8F0"/>
                </a:solidFill>
                <a:latin typeface="Calibri" pitchFamily="34" charset="0"/>
                <a:ea typeface="Calibri" pitchFamily="34" charset="-122"/>
                <a:cs typeface="Calibri" pitchFamily="34" charset="-120"/>
              </a:rPr>
              <a:t>Local cybercrime laws</a:t>
            </a:r>
            <a:endParaRPr lang="en-US" sz="950" dirty="0"/>
          </a:p>
          <a:p>
            <a:pPr indent="0" marL="0">
              <a:buNone/>
            </a:pPr>
            <a:r>
              <a:rPr lang="en-US" sz="950" dirty="0">
                <a:solidFill>
                  <a:srgbClr val="E2E8F0"/>
                </a:solidFill>
                <a:latin typeface="Calibri" pitchFamily="34" charset="0"/>
                <a:ea typeface="Calibri" pitchFamily="34" charset="-122"/>
                <a:cs typeface="Calibri" pitchFamily="34" charset="-120"/>
              </a:rPr>
              <a:t>Always consult a lawyer</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3200400" cy="5143500"/>
          </a:xfrm>
          <a:prstGeom prst="rect">
            <a:avLst/>
          </a:prstGeom>
          <a:solidFill>
            <a:srgbClr val="111827"/>
          </a:solidFill>
          <a:ln w="12700">
            <a:solidFill>
              <a:srgbClr val="111827"/>
            </a:solidFill>
            <a:prstDash val="solid"/>
          </a:ln>
        </p:spPr>
      </p:sp>
      <p:sp>
        <p:nvSpPr>
          <p:cNvPr id="3" name="Shape 1"/>
          <p:cNvSpPr/>
          <p:nvPr/>
        </p:nvSpPr>
        <p:spPr>
          <a:xfrm>
            <a:off x="3163824" y="0"/>
            <a:ext cx="36576" cy="5143500"/>
          </a:xfrm>
          <a:prstGeom prst="rect">
            <a:avLst/>
          </a:prstGeom>
          <a:solidFill>
            <a:srgbClr val="00D4FF"/>
          </a:solidFill>
          <a:ln w="12700">
            <a:solidFill>
              <a:srgbClr val="00D4FF"/>
            </a:solidFill>
            <a:prstDash val="solid"/>
          </a:ln>
        </p:spPr>
      </p:sp>
      <p:sp>
        <p:nvSpPr>
          <p:cNvPr id="4" name="Text 2"/>
          <p:cNvSpPr/>
          <p:nvPr/>
        </p:nvSpPr>
        <p:spPr>
          <a:xfrm>
            <a:off x="274320" y="365760"/>
            <a:ext cx="2560320" cy="365760"/>
          </a:xfrm>
          <a:prstGeom prst="rect">
            <a:avLst/>
          </a:prstGeom>
          <a:noFill/>
          <a:ln/>
        </p:spPr>
        <p:txBody>
          <a:bodyPr wrap="square" lIns="0" tIns="0" rIns="0" bIns="0" rtlCol="0" anchor="ctr"/>
          <a:lstStyle/>
          <a:p>
            <a:pPr indent="0" marL="0">
              <a:buNone/>
            </a:pPr>
            <a:r>
              <a:rPr lang="en-US" sz="1000" spc="400" kern="0" dirty="0">
                <a:solidFill>
                  <a:srgbClr val="8B9BB4"/>
                </a:solidFill>
                <a:latin typeface="Consolas" pitchFamily="34" charset="0"/>
                <a:ea typeface="Consolas" pitchFamily="34" charset="-122"/>
                <a:cs typeface="Consolas" pitchFamily="34" charset="-120"/>
              </a:rPr>
              <a:t>SECTION 2</a:t>
            </a:r>
            <a:endParaRPr lang="en-US" sz="1000" dirty="0"/>
          </a:p>
        </p:txBody>
      </p:sp>
      <p:sp>
        <p:nvSpPr>
          <p:cNvPr id="5" name="Text 3"/>
          <p:cNvSpPr/>
          <p:nvPr/>
        </p:nvSpPr>
        <p:spPr>
          <a:xfrm>
            <a:off x="274320" y="731520"/>
            <a:ext cx="2560320" cy="1645920"/>
          </a:xfrm>
          <a:prstGeom prst="rect">
            <a:avLst/>
          </a:prstGeom>
          <a:noFill/>
          <a:ln/>
        </p:spPr>
        <p:txBody>
          <a:bodyPr wrap="square" lIns="0" tIns="0" rIns="0" bIns="0" rtlCol="0" anchor="ctr"/>
          <a:lstStyle/>
          <a:p>
            <a:pPr indent="0" marL="0">
              <a:buNone/>
            </a:pPr>
            <a:r>
              <a:rPr lang="en-US" sz="10000" b="1" dirty="0">
                <a:solidFill>
                  <a:srgbClr val="00D4FF">
                    <a:alpha val="90000"/>
                  </a:srgbClr>
                </a:solidFill>
                <a:latin typeface="Consolas" pitchFamily="34" charset="0"/>
                <a:ea typeface="Consolas" pitchFamily="34" charset="-122"/>
                <a:cs typeface="Consolas" pitchFamily="34" charset="-120"/>
              </a:rPr>
              <a:t>02</a:t>
            </a:r>
            <a:endParaRPr lang="en-US" sz="10000" dirty="0"/>
          </a:p>
        </p:txBody>
      </p:sp>
      <p:pic>
        <p:nvPicPr>
          <p:cNvPr id="6" name="Image 0" descr="preencoded.png">    </p:cNvPr>
          <p:cNvPicPr>
            <a:picLocks noChangeAspect="1"/>
          </p:cNvPicPr>
          <p:nvPr/>
        </p:nvPicPr>
        <p:blipFill>
          <a:blip r:embed="rId1"/>
          <a:stretch>
            <a:fillRect/>
          </a:stretch>
        </p:blipFill>
        <p:spPr>
          <a:xfrm>
            <a:off x="822960" y="2926080"/>
            <a:ext cx="1463040" cy="1463040"/>
          </a:xfrm>
          <a:prstGeom prst="rect">
            <a:avLst/>
          </a:prstGeom>
        </p:spPr>
      </p:pic>
      <p:sp>
        <p:nvSpPr>
          <p:cNvPr id="7" name="Text 4"/>
          <p:cNvSpPr/>
          <p:nvPr/>
        </p:nvSpPr>
        <p:spPr>
          <a:xfrm>
            <a:off x="3474720" y="1463040"/>
            <a:ext cx="5394960" cy="1371600"/>
          </a:xfrm>
          <a:prstGeom prst="rect">
            <a:avLst/>
          </a:prstGeom>
          <a:noFill/>
          <a:ln/>
        </p:spPr>
        <p:txBody>
          <a:bodyPr wrap="square" lIns="0" tIns="0" rIns="0" bIns="0" rtlCol="0" anchor="ctr"/>
          <a:lstStyle/>
          <a:p>
            <a:pPr indent="0" marL="0">
              <a:buNone/>
            </a:pPr>
            <a:r>
              <a:rPr lang="en-US" sz="3600" b="1" dirty="0">
                <a:solidFill>
                  <a:srgbClr val="FFFFFF"/>
                </a:solidFill>
                <a:latin typeface="Consolas" pitchFamily="34" charset="0"/>
                <a:ea typeface="Consolas" pitchFamily="34" charset="-122"/>
                <a:cs typeface="Consolas" pitchFamily="34" charset="-120"/>
              </a:rPr>
              <a:t>Computer Architecture</a:t>
            </a:r>
            <a:endParaRPr lang="en-US" sz="3600" dirty="0"/>
          </a:p>
        </p:txBody>
      </p:sp>
      <p:sp>
        <p:nvSpPr>
          <p:cNvPr id="8" name="Text 5"/>
          <p:cNvSpPr/>
          <p:nvPr/>
        </p:nvSpPr>
        <p:spPr>
          <a:xfrm>
            <a:off x="3474720" y="2926080"/>
            <a:ext cx="5394960" cy="1097280"/>
          </a:xfrm>
          <a:prstGeom prst="rect">
            <a:avLst/>
          </a:prstGeom>
          <a:noFill/>
          <a:ln/>
        </p:spPr>
        <p:txBody>
          <a:bodyPr wrap="square" lIns="0" tIns="0" rIns="0" bIns="0" rtlCol="0" anchor="ctr"/>
          <a:lstStyle/>
          <a:p>
            <a:pPr indent="0" marL="0">
              <a:buNone/>
            </a:pPr>
            <a:r>
              <a:rPr lang="en-US" sz="1400" dirty="0">
                <a:solidFill>
                  <a:srgbClr val="8B9BB4"/>
                </a:solidFill>
                <a:latin typeface="Calibri" pitchFamily="34" charset="0"/>
                <a:ea typeface="Calibri" pitchFamily="34" charset="-122"/>
                <a:cs typeface="Calibri" pitchFamily="34" charset="-120"/>
              </a:rPr>
              <a:t>CPU, registers, memory, and how instructions execute.</a:t>
            </a:r>
            <a:endParaRPr lang="en-US" sz="1400" dirty="0"/>
          </a:p>
        </p:txBody>
      </p:sp>
      <p:sp>
        <p:nvSpPr>
          <p:cNvPr id="9" name="Shape 6"/>
          <p:cNvSpPr/>
          <p:nvPr/>
        </p:nvSpPr>
        <p:spPr>
          <a:xfrm>
            <a:off x="3474720" y="4297680"/>
            <a:ext cx="91440" cy="91440"/>
          </a:xfrm>
          <a:prstGeom prst="ellipse">
            <a:avLst/>
          </a:prstGeom>
          <a:solidFill>
            <a:srgbClr val="00D4FF"/>
          </a:solidFill>
          <a:ln w="12700">
            <a:solidFill>
              <a:srgbClr val="00D4FF"/>
            </a:solidFill>
            <a:prstDash val="solid"/>
          </a:ln>
        </p:spPr>
      </p:sp>
      <p:sp>
        <p:nvSpPr>
          <p:cNvPr id="10" name="Shape 7"/>
          <p:cNvSpPr/>
          <p:nvPr/>
        </p:nvSpPr>
        <p:spPr>
          <a:xfrm>
            <a:off x="3794760" y="4297680"/>
            <a:ext cx="91440" cy="91440"/>
          </a:xfrm>
          <a:prstGeom prst="ellipse">
            <a:avLst/>
          </a:prstGeom>
          <a:solidFill>
            <a:srgbClr val="00D4FF">
              <a:alpha val="85000"/>
            </a:srgbClr>
          </a:solidFill>
          <a:ln w="12700">
            <a:solidFill>
              <a:srgbClr val="00D4FF">
                <a:alpha val="85000"/>
              </a:srgbClr>
            </a:solidFill>
            <a:prstDash val="solid"/>
          </a:ln>
        </p:spPr>
      </p:sp>
      <p:sp>
        <p:nvSpPr>
          <p:cNvPr id="11" name="Shape 8"/>
          <p:cNvSpPr/>
          <p:nvPr/>
        </p:nvSpPr>
        <p:spPr>
          <a:xfrm>
            <a:off x="4114800" y="4297680"/>
            <a:ext cx="91440" cy="91440"/>
          </a:xfrm>
          <a:prstGeom prst="ellipse">
            <a:avLst/>
          </a:prstGeom>
          <a:solidFill>
            <a:srgbClr val="00D4FF">
              <a:alpha val="70000"/>
            </a:srgbClr>
          </a:solidFill>
          <a:ln w="12700">
            <a:solidFill>
              <a:srgbClr val="00D4FF">
                <a:alpha val="70000"/>
              </a:srgbClr>
            </a:solidFill>
            <a:prstDash val="solid"/>
          </a:ln>
        </p:spPr>
      </p:sp>
      <p:sp>
        <p:nvSpPr>
          <p:cNvPr id="12" name="Shape 9"/>
          <p:cNvSpPr/>
          <p:nvPr/>
        </p:nvSpPr>
        <p:spPr>
          <a:xfrm>
            <a:off x="4434840" y="4297680"/>
            <a:ext cx="91440" cy="91440"/>
          </a:xfrm>
          <a:prstGeom prst="ellipse">
            <a:avLst/>
          </a:prstGeom>
          <a:solidFill>
            <a:srgbClr val="00D4FF">
              <a:alpha val="55000"/>
            </a:srgbClr>
          </a:solidFill>
          <a:ln w="12700">
            <a:solidFill>
              <a:srgbClr val="00D4FF">
                <a:alpha val="55000"/>
              </a:srgbClr>
            </a:solidFill>
            <a:prstDash val="solid"/>
          </a:ln>
        </p:spPr>
      </p:sp>
      <p:sp>
        <p:nvSpPr>
          <p:cNvPr id="13" name="Shape 10"/>
          <p:cNvSpPr/>
          <p:nvPr/>
        </p:nvSpPr>
        <p:spPr>
          <a:xfrm>
            <a:off x="4754880" y="4297680"/>
            <a:ext cx="91440" cy="91440"/>
          </a:xfrm>
          <a:prstGeom prst="ellipse">
            <a:avLst/>
          </a:prstGeom>
          <a:solidFill>
            <a:srgbClr val="00D4FF">
              <a:alpha val="40000"/>
            </a:srgbClr>
          </a:solidFill>
          <a:ln w="12700">
            <a:solidFill>
              <a:srgbClr val="00D4FF">
                <a:alpha val="40000"/>
              </a:srgbClr>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164592" y="164592"/>
            <a:ext cx="365760" cy="45720"/>
          </a:xfrm>
          <a:prstGeom prst="rect">
            <a:avLst/>
          </a:prstGeom>
          <a:solidFill>
            <a:srgbClr val="00FF88"/>
          </a:solidFill>
          <a:ln w="12700">
            <a:solidFill>
              <a:srgbClr val="00FF88"/>
            </a:solidFill>
            <a:prstDash val="solid"/>
          </a:ln>
        </p:spPr>
      </p:sp>
      <p:sp>
        <p:nvSpPr>
          <p:cNvPr id="3" name="Shape 1"/>
          <p:cNvSpPr/>
          <p:nvPr/>
        </p:nvSpPr>
        <p:spPr>
          <a:xfrm>
            <a:off x="164592" y="164592"/>
            <a:ext cx="45720" cy="274320"/>
          </a:xfrm>
          <a:prstGeom prst="rect">
            <a:avLst/>
          </a:prstGeom>
          <a:solidFill>
            <a:srgbClr val="00FF88"/>
          </a:solidFill>
          <a:ln w="12700">
            <a:solidFill>
              <a:srgbClr val="00FF88"/>
            </a:solidFill>
            <a:prstDash val="solid"/>
          </a:ln>
        </p:spPr>
      </p:sp>
      <p:sp>
        <p:nvSpPr>
          <p:cNvPr id="4" name="Shape 2"/>
          <p:cNvSpPr/>
          <p:nvPr/>
        </p:nvSpPr>
        <p:spPr>
          <a:xfrm>
            <a:off x="8613648" y="4910328"/>
            <a:ext cx="365760" cy="45720"/>
          </a:xfrm>
          <a:prstGeom prst="rect">
            <a:avLst/>
          </a:prstGeom>
          <a:solidFill>
            <a:srgbClr val="00D4FF"/>
          </a:solidFill>
          <a:ln w="12700">
            <a:solidFill>
              <a:srgbClr val="00D4FF"/>
            </a:solidFill>
            <a:prstDash val="solid"/>
          </a:ln>
        </p:spPr>
      </p:sp>
      <p:sp>
        <p:nvSpPr>
          <p:cNvPr id="5" name="Shape 3"/>
          <p:cNvSpPr/>
          <p:nvPr/>
        </p:nvSpPr>
        <p:spPr>
          <a:xfrm>
            <a:off x="8933688" y="4681728"/>
            <a:ext cx="45720" cy="274320"/>
          </a:xfrm>
          <a:prstGeom prst="rect">
            <a:avLst/>
          </a:prstGeom>
          <a:solidFill>
            <a:srgbClr val="00D4FF"/>
          </a:solidFill>
          <a:ln w="12700">
            <a:solidFill>
              <a:srgbClr val="00D4FF"/>
            </a:solidFill>
            <a:prstDash val="solid"/>
          </a:ln>
        </p:spPr>
      </p:sp>
      <p:sp>
        <p:nvSpPr>
          <p:cNvPr id="6" name="Shape 4"/>
          <p:cNvSpPr/>
          <p:nvPr/>
        </p:nvSpPr>
        <p:spPr>
          <a:xfrm>
            <a:off x="411480" y="201168"/>
            <a:ext cx="2798064" cy="256032"/>
          </a:xfrm>
          <a:prstGeom prst="rect">
            <a:avLst/>
          </a:prstGeom>
          <a:solidFill>
            <a:srgbClr val="00D4FF"/>
          </a:solidFill>
          <a:ln w="12700">
            <a:solidFill>
              <a:srgbClr val="00D4FF"/>
            </a:solidFill>
            <a:prstDash val="solid"/>
          </a:ln>
        </p:spPr>
      </p:sp>
      <p:sp>
        <p:nvSpPr>
          <p:cNvPr id="7" name="Text 5"/>
          <p:cNvSpPr/>
          <p:nvPr/>
        </p:nvSpPr>
        <p:spPr>
          <a:xfrm>
            <a:off x="411480" y="201168"/>
            <a:ext cx="2798064" cy="256032"/>
          </a:xfrm>
          <a:prstGeom prst="rect">
            <a:avLst/>
          </a:prstGeom>
          <a:noFill/>
          <a:ln/>
        </p:spPr>
        <p:txBody>
          <a:bodyPr wrap="square" lIns="0" tIns="0" rIns="0" bIns="0" rtlCol="0" anchor="ctr"/>
          <a:lstStyle/>
          <a:p>
            <a:pPr algn="ctr" indent="0" marL="0">
              <a:buNone/>
            </a:pPr>
            <a:r>
              <a:rPr lang="en-US" sz="900" b="1" dirty="0">
                <a:solidFill>
                  <a:srgbClr val="0A0E1A"/>
                </a:solidFill>
                <a:latin typeface="Consolas" pitchFamily="34" charset="0"/>
                <a:ea typeface="Consolas" pitchFamily="34" charset="-122"/>
                <a:cs typeface="Consolas" pitchFamily="34" charset="-120"/>
              </a:rPr>
              <a:t>SECTION 2 · ARCHITECTURE</a:t>
            </a:r>
            <a:endParaRPr lang="en-US" sz="900" dirty="0"/>
          </a:p>
        </p:txBody>
      </p:sp>
      <p:sp>
        <p:nvSpPr>
          <p:cNvPr id="8" name="Text 6"/>
          <p:cNvSpPr/>
          <p:nvPr/>
        </p:nvSpPr>
        <p:spPr>
          <a:xfrm>
            <a:off x="411480" y="530352"/>
            <a:ext cx="8321040" cy="594360"/>
          </a:xfrm>
          <a:prstGeom prst="rect">
            <a:avLst/>
          </a:prstGeom>
          <a:noFill/>
          <a:ln/>
        </p:spPr>
        <p:txBody>
          <a:bodyPr wrap="square" lIns="0" tIns="0" rIns="0" bIns="0" rtlCol="0" anchor="ctr"/>
          <a:lstStyle/>
          <a:p>
            <a:pPr algn="l" indent="0" marL="0">
              <a:buNone/>
            </a:pPr>
            <a:r>
              <a:rPr lang="en-US" sz="2800" b="1" dirty="0">
                <a:solidFill>
                  <a:srgbClr val="00D4FF"/>
                </a:solidFill>
                <a:latin typeface="Consolas" pitchFamily="34" charset="0"/>
                <a:ea typeface="Consolas" pitchFamily="34" charset="-122"/>
                <a:cs typeface="Consolas" pitchFamily="34" charset="-120"/>
              </a:rPr>
              <a:t>CPU Basics &amp; Registers</a:t>
            </a:r>
            <a:endParaRPr lang="en-US" sz="2800" dirty="0"/>
          </a:p>
        </p:txBody>
      </p:sp>
      <p:sp>
        <p:nvSpPr>
          <p:cNvPr id="9" name="Text 7"/>
          <p:cNvSpPr/>
          <p:nvPr/>
        </p:nvSpPr>
        <p:spPr>
          <a:xfrm>
            <a:off x="411480" y="1051560"/>
            <a:ext cx="8321040" cy="320040"/>
          </a:xfrm>
          <a:prstGeom prst="rect">
            <a:avLst/>
          </a:prstGeom>
          <a:noFill/>
          <a:ln/>
        </p:spPr>
        <p:txBody>
          <a:bodyPr wrap="square" lIns="0" tIns="0" rIns="0" bIns="0" rtlCol="0" anchor="ctr"/>
          <a:lstStyle/>
          <a:p>
            <a:pPr algn="l" indent="0" marL="0">
              <a:buNone/>
            </a:pPr>
            <a:r>
              <a:rPr lang="en-US" sz="1300" dirty="0">
                <a:solidFill>
                  <a:srgbClr val="8B9BB4"/>
                </a:solidFill>
                <a:latin typeface="Calibri" pitchFamily="34" charset="0"/>
                <a:ea typeface="Calibri" pitchFamily="34" charset="-122"/>
                <a:cs typeface="Calibri" pitchFamily="34" charset="-120"/>
              </a:rPr>
              <a:t>The CPU is the brain — registers are its fastest memory slots.</a:t>
            </a:r>
            <a:endParaRPr lang="en-US" sz="1300" dirty="0"/>
          </a:p>
        </p:txBody>
      </p:sp>
      <p:sp>
        <p:nvSpPr>
          <p:cNvPr id="10" name="Text 8"/>
          <p:cNvSpPr/>
          <p:nvPr/>
        </p:nvSpPr>
        <p:spPr>
          <a:xfrm>
            <a:off x="8686800" y="4754880"/>
            <a:ext cx="365760" cy="228600"/>
          </a:xfrm>
          <a:prstGeom prst="rect">
            <a:avLst/>
          </a:prstGeom>
          <a:noFill/>
          <a:ln/>
        </p:spPr>
        <p:txBody>
          <a:bodyPr wrap="square" lIns="0" tIns="0" rIns="0" bIns="0" rtlCol="0" anchor="ctr"/>
          <a:lstStyle/>
          <a:p>
            <a:pPr algn="r" indent="0" marL="0">
              <a:buNone/>
            </a:pPr>
            <a:r>
              <a:rPr lang="en-US" sz="900" dirty="0">
                <a:solidFill>
                  <a:srgbClr val="8B9BB4"/>
                </a:solidFill>
                <a:latin typeface="Consolas" pitchFamily="34" charset="0"/>
                <a:ea typeface="Consolas" pitchFamily="34" charset="-122"/>
                <a:cs typeface="Consolas" pitchFamily="34" charset="-120"/>
              </a:rPr>
              <a:t>07</a:t>
            </a:r>
            <a:endParaRPr lang="en-US" sz="900" dirty="0"/>
          </a:p>
        </p:txBody>
      </p:sp>
      <p:sp>
        <p:nvSpPr>
          <p:cNvPr id="11" name="Shape 9"/>
          <p:cNvSpPr/>
          <p:nvPr/>
        </p:nvSpPr>
        <p:spPr>
          <a:xfrm>
            <a:off x="320040" y="1371600"/>
            <a:ext cx="3840480" cy="3520440"/>
          </a:xfrm>
          <a:prstGeom prst="rect">
            <a:avLst/>
          </a:prstGeom>
          <a:solidFill>
            <a:srgbClr val="111827"/>
          </a:solidFill>
          <a:ln w="12700">
            <a:solidFill>
              <a:srgbClr val="00D4FF"/>
            </a:solidFill>
            <a:prstDash val="solid"/>
          </a:ln>
        </p:spPr>
      </p:sp>
      <p:sp>
        <p:nvSpPr>
          <p:cNvPr id="12" name="Text 10"/>
          <p:cNvSpPr/>
          <p:nvPr/>
        </p:nvSpPr>
        <p:spPr>
          <a:xfrm>
            <a:off x="320040" y="1371600"/>
            <a:ext cx="3840480" cy="365760"/>
          </a:xfrm>
          <a:prstGeom prst="rect">
            <a:avLst/>
          </a:prstGeom>
          <a:noFill/>
          <a:ln/>
        </p:spPr>
        <p:txBody>
          <a:bodyPr wrap="square" lIns="0" tIns="0" rIns="0" bIns="0" rtlCol="0" anchor="ctr"/>
          <a:lstStyle/>
          <a:p>
            <a:pPr algn="ctr" indent="0" marL="0">
              <a:buNone/>
            </a:pPr>
            <a:r>
              <a:rPr lang="en-US" sz="1300" b="1" dirty="0">
                <a:solidFill>
                  <a:srgbClr val="00D4FF"/>
                </a:solidFill>
                <a:latin typeface="Consolas" pitchFamily="34" charset="0"/>
                <a:ea typeface="Consolas" pitchFamily="34" charset="-122"/>
                <a:cs typeface="Consolas" pitchFamily="34" charset="-120"/>
              </a:rPr>
              <a:t>CPU</a:t>
            </a:r>
            <a:endParaRPr lang="en-US" sz="1300" dirty="0"/>
          </a:p>
        </p:txBody>
      </p:sp>
      <p:sp>
        <p:nvSpPr>
          <p:cNvPr id="13" name="Shape 11"/>
          <p:cNvSpPr/>
          <p:nvPr/>
        </p:nvSpPr>
        <p:spPr>
          <a:xfrm>
            <a:off x="457200" y="1847088"/>
            <a:ext cx="822960" cy="310896"/>
          </a:xfrm>
          <a:prstGeom prst="rect">
            <a:avLst/>
          </a:prstGeom>
          <a:solidFill>
            <a:srgbClr val="00D4FF">
              <a:alpha val="40000"/>
            </a:srgbClr>
          </a:solidFill>
          <a:ln w="12700">
            <a:solidFill>
              <a:srgbClr val="00D4FF"/>
            </a:solidFill>
            <a:prstDash val="solid"/>
          </a:ln>
        </p:spPr>
      </p:sp>
      <p:sp>
        <p:nvSpPr>
          <p:cNvPr id="14" name="Text 12"/>
          <p:cNvSpPr/>
          <p:nvPr/>
        </p:nvSpPr>
        <p:spPr>
          <a:xfrm>
            <a:off x="457200" y="1847088"/>
            <a:ext cx="822960" cy="310896"/>
          </a:xfrm>
          <a:prstGeom prst="rect">
            <a:avLst/>
          </a:prstGeom>
          <a:noFill/>
          <a:ln/>
        </p:spPr>
        <p:txBody>
          <a:bodyPr wrap="square" lIns="0" tIns="0" rIns="0" bIns="0" rtlCol="0" anchor="ctr"/>
          <a:lstStyle/>
          <a:p>
            <a:pPr algn="ctr" indent="0" marL="0">
              <a:buNone/>
            </a:pPr>
            <a:r>
              <a:rPr lang="en-US" sz="1000" b="1" dirty="0">
                <a:solidFill>
                  <a:srgbClr val="00D4FF"/>
                </a:solidFill>
                <a:latin typeface="Consolas" pitchFamily="34" charset="0"/>
                <a:ea typeface="Consolas" pitchFamily="34" charset="-122"/>
                <a:cs typeface="Consolas" pitchFamily="34" charset="-120"/>
              </a:rPr>
              <a:t>EAX</a:t>
            </a:r>
            <a:endParaRPr lang="en-US" sz="1000" dirty="0"/>
          </a:p>
        </p:txBody>
      </p:sp>
      <p:sp>
        <p:nvSpPr>
          <p:cNvPr id="15" name="Text 13"/>
          <p:cNvSpPr/>
          <p:nvPr/>
        </p:nvSpPr>
        <p:spPr>
          <a:xfrm>
            <a:off x="1371600" y="1883664"/>
            <a:ext cx="2651760" cy="237744"/>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Accumulator / Return value</a:t>
            </a:r>
            <a:endParaRPr lang="en-US" sz="900" dirty="0"/>
          </a:p>
        </p:txBody>
      </p:sp>
      <p:sp>
        <p:nvSpPr>
          <p:cNvPr id="16" name="Shape 14"/>
          <p:cNvSpPr/>
          <p:nvPr/>
        </p:nvSpPr>
        <p:spPr>
          <a:xfrm>
            <a:off x="457200" y="2267712"/>
            <a:ext cx="822960" cy="310896"/>
          </a:xfrm>
          <a:prstGeom prst="rect">
            <a:avLst/>
          </a:prstGeom>
          <a:solidFill>
            <a:srgbClr val="00D4FF">
              <a:alpha val="40000"/>
            </a:srgbClr>
          </a:solidFill>
          <a:ln w="12700">
            <a:solidFill>
              <a:srgbClr val="00D4FF"/>
            </a:solidFill>
            <a:prstDash val="solid"/>
          </a:ln>
        </p:spPr>
      </p:sp>
      <p:sp>
        <p:nvSpPr>
          <p:cNvPr id="17" name="Text 15"/>
          <p:cNvSpPr/>
          <p:nvPr/>
        </p:nvSpPr>
        <p:spPr>
          <a:xfrm>
            <a:off x="457200" y="2267712"/>
            <a:ext cx="822960" cy="310896"/>
          </a:xfrm>
          <a:prstGeom prst="rect">
            <a:avLst/>
          </a:prstGeom>
          <a:noFill/>
          <a:ln/>
        </p:spPr>
        <p:txBody>
          <a:bodyPr wrap="square" lIns="0" tIns="0" rIns="0" bIns="0" rtlCol="0" anchor="ctr"/>
          <a:lstStyle/>
          <a:p>
            <a:pPr algn="ctr" indent="0" marL="0">
              <a:buNone/>
            </a:pPr>
            <a:r>
              <a:rPr lang="en-US" sz="1000" b="1" dirty="0">
                <a:solidFill>
                  <a:srgbClr val="00D4FF"/>
                </a:solidFill>
                <a:latin typeface="Consolas" pitchFamily="34" charset="0"/>
                <a:ea typeface="Consolas" pitchFamily="34" charset="-122"/>
                <a:cs typeface="Consolas" pitchFamily="34" charset="-120"/>
              </a:rPr>
              <a:t>EBX</a:t>
            </a:r>
            <a:endParaRPr lang="en-US" sz="1000" dirty="0"/>
          </a:p>
        </p:txBody>
      </p:sp>
      <p:sp>
        <p:nvSpPr>
          <p:cNvPr id="18" name="Text 16"/>
          <p:cNvSpPr/>
          <p:nvPr/>
        </p:nvSpPr>
        <p:spPr>
          <a:xfrm>
            <a:off x="1371600" y="2304288"/>
            <a:ext cx="2651760" cy="237744"/>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Base register / General purpose</a:t>
            </a:r>
            <a:endParaRPr lang="en-US" sz="900" dirty="0"/>
          </a:p>
        </p:txBody>
      </p:sp>
      <p:sp>
        <p:nvSpPr>
          <p:cNvPr id="19" name="Shape 17"/>
          <p:cNvSpPr/>
          <p:nvPr/>
        </p:nvSpPr>
        <p:spPr>
          <a:xfrm>
            <a:off x="457200" y="2688336"/>
            <a:ext cx="822960" cy="310896"/>
          </a:xfrm>
          <a:prstGeom prst="rect">
            <a:avLst/>
          </a:prstGeom>
          <a:solidFill>
            <a:srgbClr val="00D4FF">
              <a:alpha val="40000"/>
            </a:srgbClr>
          </a:solidFill>
          <a:ln w="12700">
            <a:solidFill>
              <a:srgbClr val="00D4FF"/>
            </a:solidFill>
            <a:prstDash val="solid"/>
          </a:ln>
        </p:spPr>
      </p:sp>
      <p:sp>
        <p:nvSpPr>
          <p:cNvPr id="20" name="Text 18"/>
          <p:cNvSpPr/>
          <p:nvPr/>
        </p:nvSpPr>
        <p:spPr>
          <a:xfrm>
            <a:off x="457200" y="2688336"/>
            <a:ext cx="822960" cy="310896"/>
          </a:xfrm>
          <a:prstGeom prst="rect">
            <a:avLst/>
          </a:prstGeom>
          <a:noFill/>
          <a:ln/>
        </p:spPr>
        <p:txBody>
          <a:bodyPr wrap="square" lIns="0" tIns="0" rIns="0" bIns="0" rtlCol="0" anchor="ctr"/>
          <a:lstStyle/>
          <a:p>
            <a:pPr algn="ctr" indent="0" marL="0">
              <a:buNone/>
            </a:pPr>
            <a:r>
              <a:rPr lang="en-US" sz="1000" b="1" dirty="0">
                <a:solidFill>
                  <a:srgbClr val="00D4FF"/>
                </a:solidFill>
                <a:latin typeface="Consolas" pitchFamily="34" charset="0"/>
                <a:ea typeface="Consolas" pitchFamily="34" charset="-122"/>
                <a:cs typeface="Consolas" pitchFamily="34" charset="-120"/>
              </a:rPr>
              <a:t>ECX</a:t>
            </a:r>
            <a:endParaRPr lang="en-US" sz="1000" dirty="0"/>
          </a:p>
        </p:txBody>
      </p:sp>
      <p:sp>
        <p:nvSpPr>
          <p:cNvPr id="21" name="Text 19"/>
          <p:cNvSpPr/>
          <p:nvPr/>
        </p:nvSpPr>
        <p:spPr>
          <a:xfrm>
            <a:off x="1371600" y="2724912"/>
            <a:ext cx="2651760" cy="237744"/>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Counter for loops</a:t>
            </a:r>
            <a:endParaRPr lang="en-US" sz="900" dirty="0"/>
          </a:p>
        </p:txBody>
      </p:sp>
      <p:sp>
        <p:nvSpPr>
          <p:cNvPr id="22" name="Shape 20"/>
          <p:cNvSpPr/>
          <p:nvPr/>
        </p:nvSpPr>
        <p:spPr>
          <a:xfrm>
            <a:off x="457200" y="3108960"/>
            <a:ext cx="822960" cy="310896"/>
          </a:xfrm>
          <a:prstGeom prst="rect">
            <a:avLst/>
          </a:prstGeom>
          <a:solidFill>
            <a:srgbClr val="00D4FF">
              <a:alpha val="40000"/>
            </a:srgbClr>
          </a:solidFill>
          <a:ln w="12700">
            <a:solidFill>
              <a:srgbClr val="00D4FF"/>
            </a:solidFill>
            <a:prstDash val="solid"/>
          </a:ln>
        </p:spPr>
      </p:sp>
      <p:sp>
        <p:nvSpPr>
          <p:cNvPr id="23" name="Text 21"/>
          <p:cNvSpPr/>
          <p:nvPr/>
        </p:nvSpPr>
        <p:spPr>
          <a:xfrm>
            <a:off x="457200" y="3108960"/>
            <a:ext cx="822960" cy="310896"/>
          </a:xfrm>
          <a:prstGeom prst="rect">
            <a:avLst/>
          </a:prstGeom>
          <a:noFill/>
          <a:ln/>
        </p:spPr>
        <p:txBody>
          <a:bodyPr wrap="square" lIns="0" tIns="0" rIns="0" bIns="0" rtlCol="0" anchor="ctr"/>
          <a:lstStyle/>
          <a:p>
            <a:pPr algn="ctr" indent="0" marL="0">
              <a:buNone/>
            </a:pPr>
            <a:r>
              <a:rPr lang="en-US" sz="1000" b="1" dirty="0">
                <a:solidFill>
                  <a:srgbClr val="00D4FF"/>
                </a:solidFill>
                <a:latin typeface="Consolas" pitchFamily="34" charset="0"/>
                <a:ea typeface="Consolas" pitchFamily="34" charset="-122"/>
                <a:cs typeface="Consolas" pitchFamily="34" charset="-120"/>
              </a:rPr>
              <a:t>EDX</a:t>
            </a:r>
            <a:endParaRPr lang="en-US" sz="1000" dirty="0"/>
          </a:p>
        </p:txBody>
      </p:sp>
      <p:sp>
        <p:nvSpPr>
          <p:cNvPr id="24" name="Text 22"/>
          <p:cNvSpPr/>
          <p:nvPr/>
        </p:nvSpPr>
        <p:spPr>
          <a:xfrm>
            <a:off x="1371600" y="3145536"/>
            <a:ext cx="2651760" cy="237744"/>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Data / I-O pointer</a:t>
            </a:r>
            <a:endParaRPr lang="en-US" sz="900" dirty="0"/>
          </a:p>
        </p:txBody>
      </p:sp>
      <p:sp>
        <p:nvSpPr>
          <p:cNvPr id="25" name="Shape 23"/>
          <p:cNvSpPr/>
          <p:nvPr/>
        </p:nvSpPr>
        <p:spPr>
          <a:xfrm>
            <a:off x="457200" y="3529584"/>
            <a:ext cx="822960" cy="310896"/>
          </a:xfrm>
          <a:prstGeom prst="rect">
            <a:avLst/>
          </a:prstGeom>
          <a:solidFill>
            <a:srgbClr val="00D4FF">
              <a:alpha val="40000"/>
            </a:srgbClr>
          </a:solidFill>
          <a:ln w="12700">
            <a:solidFill>
              <a:srgbClr val="00D4FF"/>
            </a:solidFill>
            <a:prstDash val="solid"/>
          </a:ln>
        </p:spPr>
      </p:sp>
      <p:sp>
        <p:nvSpPr>
          <p:cNvPr id="26" name="Text 24"/>
          <p:cNvSpPr/>
          <p:nvPr/>
        </p:nvSpPr>
        <p:spPr>
          <a:xfrm>
            <a:off x="457200" y="3529584"/>
            <a:ext cx="822960" cy="310896"/>
          </a:xfrm>
          <a:prstGeom prst="rect">
            <a:avLst/>
          </a:prstGeom>
          <a:noFill/>
          <a:ln/>
        </p:spPr>
        <p:txBody>
          <a:bodyPr wrap="square" lIns="0" tIns="0" rIns="0" bIns="0" rtlCol="0" anchor="ctr"/>
          <a:lstStyle/>
          <a:p>
            <a:pPr algn="ctr" indent="0" marL="0">
              <a:buNone/>
            </a:pPr>
            <a:r>
              <a:rPr lang="en-US" sz="1000" b="1" dirty="0">
                <a:solidFill>
                  <a:srgbClr val="00D4FF"/>
                </a:solidFill>
                <a:latin typeface="Consolas" pitchFamily="34" charset="0"/>
                <a:ea typeface="Consolas" pitchFamily="34" charset="-122"/>
                <a:cs typeface="Consolas" pitchFamily="34" charset="-120"/>
              </a:rPr>
              <a:t>ESP</a:t>
            </a:r>
            <a:endParaRPr lang="en-US" sz="1000" dirty="0"/>
          </a:p>
        </p:txBody>
      </p:sp>
      <p:sp>
        <p:nvSpPr>
          <p:cNvPr id="27" name="Text 25"/>
          <p:cNvSpPr/>
          <p:nvPr/>
        </p:nvSpPr>
        <p:spPr>
          <a:xfrm>
            <a:off x="1371600" y="3566160"/>
            <a:ext cx="2651760" cy="237744"/>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Stack Pointer (top of stack)</a:t>
            </a:r>
            <a:endParaRPr lang="en-US" sz="900" dirty="0"/>
          </a:p>
        </p:txBody>
      </p:sp>
      <p:sp>
        <p:nvSpPr>
          <p:cNvPr id="28" name="Shape 26"/>
          <p:cNvSpPr/>
          <p:nvPr/>
        </p:nvSpPr>
        <p:spPr>
          <a:xfrm>
            <a:off x="457200" y="3950208"/>
            <a:ext cx="822960" cy="310896"/>
          </a:xfrm>
          <a:prstGeom prst="rect">
            <a:avLst/>
          </a:prstGeom>
          <a:solidFill>
            <a:srgbClr val="00D4FF">
              <a:alpha val="40000"/>
            </a:srgbClr>
          </a:solidFill>
          <a:ln w="12700">
            <a:solidFill>
              <a:srgbClr val="00D4FF"/>
            </a:solidFill>
            <a:prstDash val="solid"/>
          </a:ln>
        </p:spPr>
      </p:sp>
      <p:sp>
        <p:nvSpPr>
          <p:cNvPr id="29" name="Text 27"/>
          <p:cNvSpPr/>
          <p:nvPr/>
        </p:nvSpPr>
        <p:spPr>
          <a:xfrm>
            <a:off x="457200" y="3950208"/>
            <a:ext cx="822960" cy="310896"/>
          </a:xfrm>
          <a:prstGeom prst="rect">
            <a:avLst/>
          </a:prstGeom>
          <a:noFill/>
          <a:ln/>
        </p:spPr>
        <p:txBody>
          <a:bodyPr wrap="square" lIns="0" tIns="0" rIns="0" bIns="0" rtlCol="0" anchor="ctr"/>
          <a:lstStyle/>
          <a:p>
            <a:pPr algn="ctr" indent="0" marL="0">
              <a:buNone/>
            </a:pPr>
            <a:r>
              <a:rPr lang="en-US" sz="1000" b="1" dirty="0">
                <a:solidFill>
                  <a:srgbClr val="00D4FF"/>
                </a:solidFill>
                <a:latin typeface="Consolas" pitchFamily="34" charset="0"/>
                <a:ea typeface="Consolas" pitchFamily="34" charset="-122"/>
                <a:cs typeface="Consolas" pitchFamily="34" charset="-120"/>
              </a:rPr>
              <a:t>EBP</a:t>
            </a:r>
            <a:endParaRPr lang="en-US" sz="1000" dirty="0"/>
          </a:p>
        </p:txBody>
      </p:sp>
      <p:sp>
        <p:nvSpPr>
          <p:cNvPr id="30" name="Text 28"/>
          <p:cNvSpPr/>
          <p:nvPr/>
        </p:nvSpPr>
        <p:spPr>
          <a:xfrm>
            <a:off x="1371600" y="3986784"/>
            <a:ext cx="2651760" cy="237744"/>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Base Pointer (stack frame)</a:t>
            </a:r>
            <a:endParaRPr lang="en-US" sz="900" dirty="0"/>
          </a:p>
        </p:txBody>
      </p:sp>
      <p:sp>
        <p:nvSpPr>
          <p:cNvPr id="31" name="Shape 29"/>
          <p:cNvSpPr/>
          <p:nvPr/>
        </p:nvSpPr>
        <p:spPr>
          <a:xfrm>
            <a:off x="457200" y="4370832"/>
            <a:ext cx="822960" cy="310896"/>
          </a:xfrm>
          <a:prstGeom prst="rect">
            <a:avLst/>
          </a:prstGeom>
          <a:solidFill>
            <a:srgbClr val="00D4FF">
              <a:alpha val="40000"/>
            </a:srgbClr>
          </a:solidFill>
          <a:ln w="12700">
            <a:solidFill>
              <a:srgbClr val="00D4FF"/>
            </a:solidFill>
            <a:prstDash val="solid"/>
          </a:ln>
        </p:spPr>
      </p:sp>
      <p:sp>
        <p:nvSpPr>
          <p:cNvPr id="32" name="Text 30"/>
          <p:cNvSpPr/>
          <p:nvPr/>
        </p:nvSpPr>
        <p:spPr>
          <a:xfrm>
            <a:off x="457200" y="4370832"/>
            <a:ext cx="822960" cy="310896"/>
          </a:xfrm>
          <a:prstGeom prst="rect">
            <a:avLst/>
          </a:prstGeom>
          <a:noFill/>
          <a:ln/>
        </p:spPr>
        <p:txBody>
          <a:bodyPr wrap="square" lIns="0" tIns="0" rIns="0" bIns="0" rtlCol="0" anchor="ctr"/>
          <a:lstStyle/>
          <a:p>
            <a:pPr algn="ctr" indent="0" marL="0">
              <a:buNone/>
            </a:pPr>
            <a:r>
              <a:rPr lang="en-US" sz="1000" b="1" dirty="0">
                <a:solidFill>
                  <a:srgbClr val="00D4FF"/>
                </a:solidFill>
                <a:latin typeface="Consolas" pitchFamily="34" charset="0"/>
                <a:ea typeface="Consolas" pitchFamily="34" charset="-122"/>
                <a:cs typeface="Consolas" pitchFamily="34" charset="-120"/>
              </a:rPr>
              <a:t>EIP</a:t>
            </a:r>
            <a:endParaRPr lang="en-US" sz="1000" dirty="0"/>
          </a:p>
        </p:txBody>
      </p:sp>
      <p:sp>
        <p:nvSpPr>
          <p:cNvPr id="33" name="Text 31"/>
          <p:cNvSpPr/>
          <p:nvPr/>
        </p:nvSpPr>
        <p:spPr>
          <a:xfrm>
            <a:off x="1371600" y="4407408"/>
            <a:ext cx="2651760" cy="237744"/>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Instruction Pointer (next instr)</a:t>
            </a:r>
            <a:endParaRPr lang="en-US" sz="900" dirty="0"/>
          </a:p>
        </p:txBody>
      </p:sp>
      <p:sp>
        <p:nvSpPr>
          <p:cNvPr id="34" name="Shape 32"/>
          <p:cNvSpPr/>
          <p:nvPr/>
        </p:nvSpPr>
        <p:spPr>
          <a:xfrm>
            <a:off x="4389120" y="1371600"/>
            <a:ext cx="4434840" cy="1691640"/>
          </a:xfrm>
          <a:prstGeom prst="rect">
            <a:avLst/>
          </a:prstGeom>
          <a:solidFill>
            <a:srgbClr val="1A2235"/>
          </a:solidFill>
          <a:ln w="12700">
            <a:solidFill>
              <a:srgbClr val="1E3A5F"/>
            </a:solidFill>
            <a:prstDash val="solid"/>
          </a:ln>
        </p:spPr>
      </p:sp>
      <p:sp>
        <p:nvSpPr>
          <p:cNvPr id="35" name="Text 33"/>
          <p:cNvSpPr/>
          <p:nvPr/>
        </p:nvSpPr>
        <p:spPr>
          <a:xfrm>
            <a:off x="4480560" y="1435608"/>
            <a:ext cx="4206240" cy="320040"/>
          </a:xfrm>
          <a:prstGeom prst="rect">
            <a:avLst/>
          </a:prstGeom>
          <a:noFill/>
          <a:ln/>
        </p:spPr>
        <p:txBody>
          <a:bodyPr wrap="square" lIns="0" tIns="0" rIns="0" bIns="0" rtlCol="0" anchor="ctr"/>
          <a:lstStyle/>
          <a:p>
            <a:pPr indent="0" marL="0">
              <a:buNone/>
            </a:pPr>
            <a:r>
              <a:rPr lang="en-US" sz="1100" b="1" dirty="0">
                <a:solidFill>
                  <a:srgbClr val="FFD700"/>
                </a:solidFill>
                <a:latin typeface="Consolas" pitchFamily="34" charset="0"/>
                <a:ea typeface="Consolas" pitchFamily="34" charset="-122"/>
                <a:cs typeface="Consolas" pitchFamily="34" charset="-120"/>
              </a:rPr>
              <a:t>Instruction Execution Cycle</a:t>
            </a:r>
            <a:endParaRPr lang="en-US" sz="1100" dirty="0"/>
          </a:p>
        </p:txBody>
      </p:sp>
      <p:sp>
        <p:nvSpPr>
          <p:cNvPr id="36" name="Text 34"/>
          <p:cNvSpPr/>
          <p:nvPr/>
        </p:nvSpPr>
        <p:spPr>
          <a:xfrm>
            <a:off x="4480560" y="1801368"/>
            <a:ext cx="4206240" cy="228600"/>
          </a:xfrm>
          <a:prstGeom prst="rect">
            <a:avLst/>
          </a:prstGeom>
          <a:noFill/>
          <a:ln/>
        </p:spPr>
        <p:txBody>
          <a:bodyPr wrap="square" lIns="0" tIns="0" rIns="0" bIns="0" rtlCol="0" anchor="ctr"/>
          <a:lstStyle/>
          <a:p>
            <a:pPr indent="0" marL="0">
              <a:buNone/>
            </a:pPr>
            <a:r>
              <a:rPr lang="en-US" sz="950" dirty="0">
                <a:solidFill>
                  <a:srgbClr val="E2E8F0"/>
                </a:solidFill>
                <a:latin typeface="Calibri" pitchFamily="34" charset="0"/>
                <a:ea typeface="Calibri" pitchFamily="34" charset="-122"/>
                <a:cs typeface="Calibri" pitchFamily="34" charset="-120"/>
              </a:rPr>
              <a:t>1. FETCH — Read instruction from memory (EIP)</a:t>
            </a:r>
            <a:endParaRPr lang="en-US" sz="950" dirty="0"/>
          </a:p>
        </p:txBody>
      </p:sp>
      <p:sp>
        <p:nvSpPr>
          <p:cNvPr id="37" name="Text 35"/>
          <p:cNvSpPr/>
          <p:nvPr/>
        </p:nvSpPr>
        <p:spPr>
          <a:xfrm>
            <a:off x="4480560" y="2048256"/>
            <a:ext cx="4206240" cy="228600"/>
          </a:xfrm>
          <a:prstGeom prst="rect">
            <a:avLst/>
          </a:prstGeom>
          <a:noFill/>
          <a:ln/>
        </p:spPr>
        <p:txBody>
          <a:bodyPr wrap="square" lIns="0" tIns="0" rIns="0" bIns="0" rtlCol="0" anchor="ctr"/>
          <a:lstStyle/>
          <a:p>
            <a:pPr indent="0" marL="0">
              <a:buNone/>
            </a:pPr>
            <a:r>
              <a:rPr lang="en-US" sz="950" dirty="0">
                <a:solidFill>
                  <a:srgbClr val="E2E8F0"/>
                </a:solidFill>
                <a:latin typeface="Calibri" pitchFamily="34" charset="0"/>
                <a:ea typeface="Calibri" pitchFamily="34" charset="-122"/>
                <a:cs typeface="Calibri" pitchFamily="34" charset="-120"/>
              </a:rPr>
              <a:t>2. DECODE — CPU decodes the opcode</a:t>
            </a:r>
            <a:endParaRPr lang="en-US" sz="950" dirty="0"/>
          </a:p>
        </p:txBody>
      </p:sp>
      <p:sp>
        <p:nvSpPr>
          <p:cNvPr id="38" name="Text 36"/>
          <p:cNvSpPr/>
          <p:nvPr/>
        </p:nvSpPr>
        <p:spPr>
          <a:xfrm>
            <a:off x="4480560" y="2295144"/>
            <a:ext cx="4206240" cy="228600"/>
          </a:xfrm>
          <a:prstGeom prst="rect">
            <a:avLst/>
          </a:prstGeom>
          <a:noFill/>
          <a:ln/>
        </p:spPr>
        <p:txBody>
          <a:bodyPr wrap="square" lIns="0" tIns="0" rIns="0" bIns="0" rtlCol="0" anchor="ctr"/>
          <a:lstStyle/>
          <a:p>
            <a:pPr indent="0" marL="0">
              <a:buNone/>
            </a:pPr>
            <a:r>
              <a:rPr lang="en-US" sz="950" dirty="0">
                <a:solidFill>
                  <a:srgbClr val="E2E8F0"/>
                </a:solidFill>
                <a:latin typeface="Calibri" pitchFamily="34" charset="0"/>
                <a:ea typeface="Calibri" pitchFamily="34" charset="-122"/>
                <a:cs typeface="Calibri" pitchFamily="34" charset="-120"/>
              </a:rPr>
              <a:t>3. EXECUTE — ALU performs the operation</a:t>
            </a:r>
            <a:endParaRPr lang="en-US" sz="950" dirty="0"/>
          </a:p>
        </p:txBody>
      </p:sp>
      <p:sp>
        <p:nvSpPr>
          <p:cNvPr id="39" name="Text 37"/>
          <p:cNvSpPr/>
          <p:nvPr/>
        </p:nvSpPr>
        <p:spPr>
          <a:xfrm>
            <a:off x="4480560" y="2542032"/>
            <a:ext cx="4206240" cy="228600"/>
          </a:xfrm>
          <a:prstGeom prst="rect">
            <a:avLst/>
          </a:prstGeom>
          <a:noFill/>
          <a:ln/>
        </p:spPr>
        <p:txBody>
          <a:bodyPr wrap="square" lIns="0" tIns="0" rIns="0" bIns="0" rtlCol="0" anchor="ctr"/>
          <a:lstStyle/>
          <a:p>
            <a:pPr indent="0" marL="0">
              <a:buNone/>
            </a:pPr>
            <a:r>
              <a:rPr lang="en-US" sz="950" dirty="0">
                <a:solidFill>
                  <a:srgbClr val="E2E8F0"/>
                </a:solidFill>
                <a:latin typeface="Calibri" pitchFamily="34" charset="0"/>
                <a:ea typeface="Calibri" pitchFamily="34" charset="-122"/>
                <a:cs typeface="Calibri" pitchFamily="34" charset="-120"/>
              </a:rPr>
              <a:t>4. WRITE-BACK — Result stored in register/memory</a:t>
            </a:r>
            <a:endParaRPr lang="en-US" sz="950" dirty="0"/>
          </a:p>
        </p:txBody>
      </p:sp>
      <p:sp>
        <p:nvSpPr>
          <p:cNvPr id="40" name="Text 38"/>
          <p:cNvSpPr/>
          <p:nvPr/>
        </p:nvSpPr>
        <p:spPr>
          <a:xfrm>
            <a:off x="4480560" y="2788920"/>
            <a:ext cx="4206240" cy="228600"/>
          </a:xfrm>
          <a:prstGeom prst="rect">
            <a:avLst/>
          </a:prstGeom>
          <a:noFill/>
          <a:ln/>
        </p:spPr>
        <p:txBody>
          <a:bodyPr wrap="square" lIns="0" tIns="0" rIns="0" bIns="0" rtlCol="0" anchor="ctr"/>
          <a:lstStyle/>
          <a:p>
            <a:pPr indent="0" marL="0">
              <a:buNone/>
            </a:pPr>
            <a:r>
              <a:rPr lang="en-US" sz="950" dirty="0">
                <a:solidFill>
                  <a:srgbClr val="00FF88"/>
                </a:solidFill>
                <a:latin typeface="Calibri" pitchFamily="34" charset="0"/>
                <a:ea typeface="Calibri" pitchFamily="34" charset="-122"/>
                <a:cs typeface="Calibri" pitchFamily="34" charset="-120"/>
              </a:rPr>
              <a:t>5. UPDATE EIP — Point to next instruction</a:t>
            </a:r>
            <a:endParaRPr lang="en-US" sz="950" dirty="0"/>
          </a:p>
        </p:txBody>
      </p:sp>
      <p:sp>
        <p:nvSpPr>
          <p:cNvPr id="41" name="Shape 39"/>
          <p:cNvSpPr/>
          <p:nvPr/>
        </p:nvSpPr>
        <p:spPr>
          <a:xfrm>
            <a:off x="4389120" y="3200400"/>
            <a:ext cx="2103120" cy="1691640"/>
          </a:xfrm>
          <a:prstGeom prst="rect">
            <a:avLst/>
          </a:prstGeom>
          <a:solidFill>
            <a:srgbClr val="1A2235"/>
          </a:solidFill>
          <a:ln w="12700">
            <a:solidFill>
              <a:srgbClr val="FF6B35"/>
            </a:solidFill>
            <a:prstDash val="solid"/>
          </a:ln>
        </p:spPr>
      </p:sp>
      <p:sp>
        <p:nvSpPr>
          <p:cNvPr id="42" name="Text 40"/>
          <p:cNvSpPr/>
          <p:nvPr/>
        </p:nvSpPr>
        <p:spPr>
          <a:xfrm>
            <a:off x="4389120" y="3200400"/>
            <a:ext cx="2103120" cy="320040"/>
          </a:xfrm>
          <a:prstGeom prst="rect">
            <a:avLst/>
          </a:prstGeom>
          <a:noFill/>
          <a:ln/>
        </p:spPr>
        <p:txBody>
          <a:bodyPr wrap="square" lIns="0" tIns="0" rIns="0" bIns="0" rtlCol="0" anchor="ctr"/>
          <a:lstStyle/>
          <a:p>
            <a:pPr algn="ctr" indent="0" marL="0">
              <a:buNone/>
            </a:pPr>
            <a:r>
              <a:rPr lang="en-US" sz="1100" b="1" dirty="0">
                <a:solidFill>
                  <a:srgbClr val="FF6B35"/>
                </a:solidFill>
                <a:latin typeface="Consolas" pitchFamily="34" charset="0"/>
                <a:ea typeface="Consolas" pitchFamily="34" charset="-122"/>
                <a:cs typeface="Consolas" pitchFamily="34" charset="-120"/>
              </a:rPr>
              <a:t>STACK</a:t>
            </a:r>
            <a:endParaRPr lang="en-US" sz="1100" dirty="0"/>
          </a:p>
        </p:txBody>
      </p:sp>
      <p:sp>
        <p:nvSpPr>
          <p:cNvPr id="43" name="Text 41"/>
          <p:cNvSpPr/>
          <p:nvPr/>
        </p:nvSpPr>
        <p:spPr>
          <a:xfrm>
            <a:off x="4480560" y="3547872"/>
            <a:ext cx="1920240" cy="1280160"/>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 LIFO structure</a:t>
            </a:r>
            <a:endParaRPr lang="en-US" sz="900" dirty="0"/>
          </a:p>
          <a:p>
            <a:pPr indent="0" marL="0">
              <a:buNone/>
            </a:pPr>
            <a:r>
              <a:rPr lang="en-US" sz="900" dirty="0">
                <a:solidFill>
                  <a:srgbClr val="E2E8F0"/>
                </a:solidFill>
                <a:latin typeface="Calibri" pitchFamily="34" charset="0"/>
                <a:ea typeface="Calibri" pitchFamily="34" charset="-122"/>
                <a:cs typeface="Calibri" pitchFamily="34" charset="-120"/>
              </a:rPr>
              <a:t>• Local variables</a:t>
            </a:r>
            <a:endParaRPr lang="en-US" sz="900" dirty="0"/>
          </a:p>
          <a:p>
            <a:pPr indent="0" marL="0">
              <a:buNone/>
            </a:pPr>
            <a:r>
              <a:rPr lang="en-US" sz="900" dirty="0">
                <a:solidFill>
                  <a:srgbClr val="E2E8F0"/>
                </a:solidFill>
                <a:latin typeface="Calibri" pitchFamily="34" charset="0"/>
                <a:ea typeface="Calibri" pitchFamily="34" charset="-122"/>
                <a:cs typeface="Calibri" pitchFamily="34" charset="-120"/>
              </a:rPr>
              <a:t>• Function calls</a:t>
            </a:r>
            <a:endParaRPr lang="en-US" sz="900" dirty="0"/>
          </a:p>
          <a:p>
            <a:pPr indent="0" marL="0">
              <a:buNone/>
            </a:pPr>
            <a:r>
              <a:rPr lang="en-US" sz="900" dirty="0">
                <a:solidFill>
                  <a:srgbClr val="E2E8F0"/>
                </a:solidFill>
                <a:latin typeface="Calibri" pitchFamily="34" charset="0"/>
                <a:ea typeface="Calibri" pitchFamily="34" charset="-122"/>
                <a:cs typeface="Calibri" pitchFamily="34" charset="-120"/>
              </a:rPr>
              <a:t>• Fixed size</a:t>
            </a:r>
            <a:endParaRPr lang="en-US" sz="900" dirty="0"/>
          </a:p>
          <a:p>
            <a:pPr indent="0" marL="0">
              <a:buNone/>
            </a:pPr>
            <a:r>
              <a:rPr lang="en-US" sz="900" dirty="0">
                <a:solidFill>
                  <a:srgbClr val="E2E8F0"/>
                </a:solidFill>
                <a:latin typeface="Calibri" pitchFamily="34" charset="0"/>
                <a:ea typeface="Calibri" pitchFamily="34" charset="-122"/>
                <a:cs typeface="Calibri" pitchFamily="34" charset="-120"/>
              </a:rPr>
              <a:t>• Grows DOWN ↓</a:t>
            </a:r>
            <a:endParaRPr lang="en-US" sz="900" dirty="0"/>
          </a:p>
        </p:txBody>
      </p:sp>
      <p:sp>
        <p:nvSpPr>
          <p:cNvPr id="44" name="Shape 42"/>
          <p:cNvSpPr/>
          <p:nvPr/>
        </p:nvSpPr>
        <p:spPr>
          <a:xfrm>
            <a:off x="6720840" y="3200400"/>
            <a:ext cx="2103120" cy="1691640"/>
          </a:xfrm>
          <a:prstGeom prst="rect">
            <a:avLst/>
          </a:prstGeom>
          <a:solidFill>
            <a:srgbClr val="1A2235"/>
          </a:solidFill>
          <a:ln w="12700">
            <a:solidFill>
              <a:srgbClr val="A855F7"/>
            </a:solidFill>
            <a:prstDash val="solid"/>
          </a:ln>
        </p:spPr>
      </p:sp>
      <p:sp>
        <p:nvSpPr>
          <p:cNvPr id="45" name="Text 43"/>
          <p:cNvSpPr/>
          <p:nvPr/>
        </p:nvSpPr>
        <p:spPr>
          <a:xfrm>
            <a:off x="6720840" y="3200400"/>
            <a:ext cx="2103120" cy="320040"/>
          </a:xfrm>
          <a:prstGeom prst="rect">
            <a:avLst/>
          </a:prstGeom>
          <a:noFill/>
          <a:ln/>
        </p:spPr>
        <p:txBody>
          <a:bodyPr wrap="square" lIns="0" tIns="0" rIns="0" bIns="0" rtlCol="0" anchor="ctr"/>
          <a:lstStyle/>
          <a:p>
            <a:pPr algn="ctr" indent="0" marL="0">
              <a:buNone/>
            </a:pPr>
            <a:r>
              <a:rPr lang="en-US" sz="1100" b="1" dirty="0">
                <a:solidFill>
                  <a:srgbClr val="A855F7"/>
                </a:solidFill>
                <a:latin typeface="Consolas" pitchFamily="34" charset="0"/>
                <a:ea typeface="Consolas" pitchFamily="34" charset="-122"/>
                <a:cs typeface="Consolas" pitchFamily="34" charset="-120"/>
              </a:rPr>
              <a:t>HEAP</a:t>
            </a:r>
            <a:endParaRPr lang="en-US" sz="1100" dirty="0"/>
          </a:p>
        </p:txBody>
      </p:sp>
      <p:sp>
        <p:nvSpPr>
          <p:cNvPr id="46" name="Text 44"/>
          <p:cNvSpPr/>
          <p:nvPr/>
        </p:nvSpPr>
        <p:spPr>
          <a:xfrm>
            <a:off x="6812280" y="3547872"/>
            <a:ext cx="1920240" cy="1280160"/>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 Dynamic allocation</a:t>
            </a:r>
            <a:endParaRPr lang="en-US" sz="900" dirty="0"/>
          </a:p>
          <a:p>
            <a:pPr indent="0" marL="0">
              <a:buNone/>
            </a:pPr>
            <a:r>
              <a:rPr lang="en-US" sz="900" dirty="0">
                <a:solidFill>
                  <a:srgbClr val="E2E8F0"/>
                </a:solidFill>
                <a:latin typeface="Calibri" pitchFamily="34" charset="0"/>
                <a:ea typeface="Calibri" pitchFamily="34" charset="-122"/>
                <a:cs typeface="Calibri" pitchFamily="34" charset="-120"/>
              </a:rPr>
              <a:t>• malloc/new</a:t>
            </a:r>
            <a:endParaRPr lang="en-US" sz="900" dirty="0"/>
          </a:p>
          <a:p>
            <a:pPr indent="0" marL="0">
              <a:buNone/>
            </a:pPr>
            <a:r>
              <a:rPr lang="en-US" sz="900" dirty="0">
                <a:solidFill>
                  <a:srgbClr val="E2E8F0"/>
                </a:solidFill>
                <a:latin typeface="Calibri" pitchFamily="34" charset="0"/>
                <a:ea typeface="Calibri" pitchFamily="34" charset="-122"/>
                <a:cs typeface="Calibri" pitchFamily="34" charset="-120"/>
              </a:rPr>
              <a:t>• Programmer managed</a:t>
            </a:r>
            <a:endParaRPr lang="en-US" sz="900" dirty="0"/>
          </a:p>
          <a:p>
            <a:pPr indent="0" marL="0">
              <a:buNone/>
            </a:pPr>
            <a:r>
              <a:rPr lang="en-US" sz="900" dirty="0">
                <a:solidFill>
                  <a:srgbClr val="E2E8F0"/>
                </a:solidFill>
                <a:latin typeface="Calibri" pitchFamily="34" charset="0"/>
                <a:ea typeface="Calibri" pitchFamily="34" charset="-122"/>
                <a:cs typeface="Calibri" pitchFamily="34" charset="-120"/>
              </a:rPr>
              <a:t>• Variable size</a:t>
            </a:r>
            <a:endParaRPr lang="en-US" sz="900" dirty="0"/>
          </a:p>
          <a:p>
            <a:pPr indent="0" marL="0">
              <a:buNone/>
            </a:pPr>
            <a:r>
              <a:rPr lang="en-US" sz="900" dirty="0">
                <a:solidFill>
                  <a:srgbClr val="E2E8F0"/>
                </a:solidFill>
                <a:latin typeface="Calibri" pitchFamily="34" charset="0"/>
                <a:ea typeface="Calibri" pitchFamily="34" charset="-122"/>
                <a:cs typeface="Calibri" pitchFamily="34" charset="-120"/>
              </a:rPr>
              <a:t>• Grows UP ↑</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3200400" cy="5143500"/>
          </a:xfrm>
          <a:prstGeom prst="rect">
            <a:avLst/>
          </a:prstGeom>
          <a:solidFill>
            <a:srgbClr val="111827"/>
          </a:solidFill>
          <a:ln w="12700">
            <a:solidFill>
              <a:srgbClr val="111827"/>
            </a:solidFill>
            <a:prstDash val="solid"/>
          </a:ln>
        </p:spPr>
      </p:sp>
      <p:sp>
        <p:nvSpPr>
          <p:cNvPr id="3" name="Shape 1"/>
          <p:cNvSpPr/>
          <p:nvPr/>
        </p:nvSpPr>
        <p:spPr>
          <a:xfrm>
            <a:off x="3163824" y="0"/>
            <a:ext cx="36576" cy="5143500"/>
          </a:xfrm>
          <a:prstGeom prst="rect">
            <a:avLst/>
          </a:prstGeom>
          <a:solidFill>
            <a:srgbClr val="FF6B35"/>
          </a:solidFill>
          <a:ln w="12700">
            <a:solidFill>
              <a:srgbClr val="FF6B35"/>
            </a:solidFill>
            <a:prstDash val="solid"/>
          </a:ln>
        </p:spPr>
      </p:sp>
      <p:sp>
        <p:nvSpPr>
          <p:cNvPr id="4" name="Text 2"/>
          <p:cNvSpPr/>
          <p:nvPr/>
        </p:nvSpPr>
        <p:spPr>
          <a:xfrm>
            <a:off x="274320" y="365760"/>
            <a:ext cx="2560320" cy="365760"/>
          </a:xfrm>
          <a:prstGeom prst="rect">
            <a:avLst/>
          </a:prstGeom>
          <a:noFill/>
          <a:ln/>
        </p:spPr>
        <p:txBody>
          <a:bodyPr wrap="square" lIns="0" tIns="0" rIns="0" bIns="0" rtlCol="0" anchor="ctr"/>
          <a:lstStyle/>
          <a:p>
            <a:pPr indent="0" marL="0">
              <a:buNone/>
            </a:pPr>
            <a:r>
              <a:rPr lang="en-US" sz="1000" spc="400" kern="0" dirty="0">
                <a:solidFill>
                  <a:srgbClr val="8B9BB4"/>
                </a:solidFill>
                <a:latin typeface="Consolas" pitchFamily="34" charset="0"/>
                <a:ea typeface="Consolas" pitchFamily="34" charset="-122"/>
                <a:cs typeface="Consolas" pitchFamily="34" charset="-120"/>
              </a:rPr>
              <a:t>SECTION 3</a:t>
            </a:r>
            <a:endParaRPr lang="en-US" sz="1000" dirty="0"/>
          </a:p>
        </p:txBody>
      </p:sp>
      <p:sp>
        <p:nvSpPr>
          <p:cNvPr id="5" name="Text 3"/>
          <p:cNvSpPr/>
          <p:nvPr/>
        </p:nvSpPr>
        <p:spPr>
          <a:xfrm>
            <a:off x="274320" y="731520"/>
            <a:ext cx="2560320" cy="1645920"/>
          </a:xfrm>
          <a:prstGeom prst="rect">
            <a:avLst/>
          </a:prstGeom>
          <a:noFill/>
          <a:ln/>
        </p:spPr>
        <p:txBody>
          <a:bodyPr wrap="square" lIns="0" tIns="0" rIns="0" bIns="0" rtlCol="0" anchor="ctr"/>
          <a:lstStyle/>
          <a:p>
            <a:pPr indent="0" marL="0">
              <a:buNone/>
            </a:pPr>
            <a:r>
              <a:rPr lang="en-US" sz="10000" b="1" dirty="0">
                <a:solidFill>
                  <a:srgbClr val="FF6B35">
                    <a:alpha val="90000"/>
                  </a:srgbClr>
                </a:solidFill>
                <a:latin typeface="Consolas" pitchFamily="34" charset="0"/>
                <a:ea typeface="Consolas" pitchFamily="34" charset="-122"/>
                <a:cs typeface="Consolas" pitchFamily="34" charset="-120"/>
              </a:rPr>
              <a:t>03</a:t>
            </a:r>
            <a:endParaRPr lang="en-US" sz="10000" dirty="0"/>
          </a:p>
        </p:txBody>
      </p:sp>
      <p:pic>
        <p:nvPicPr>
          <p:cNvPr id="6" name="Image 0" descr="preencoded.png">    </p:cNvPr>
          <p:cNvPicPr>
            <a:picLocks noChangeAspect="1"/>
          </p:cNvPicPr>
          <p:nvPr/>
        </p:nvPicPr>
        <p:blipFill>
          <a:blip r:embed="rId1"/>
          <a:stretch>
            <a:fillRect/>
          </a:stretch>
        </p:blipFill>
        <p:spPr>
          <a:xfrm>
            <a:off x="822960" y="2926080"/>
            <a:ext cx="1463040" cy="1463040"/>
          </a:xfrm>
          <a:prstGeom prst="rect">
            <a:avLst/>
          </a:prstGeom>
        </p:spPr>
      </p:pic>
      <p:sp>
        <p:nvSpPr>
          <p:cNvPr id="7" name="Text 4"/>
          <p:cNvSpPr/>
          <p:nvPr/>
        </p:nvSpPr>
        <p:spPr>
          <a:xfrm>
            <a:off x="3474720" y="1463040"/>
            <a:ext cx="5394960" cy="1371600"/>
          </a:xfrm>
          <a:prstGeom prst="rect">
            <a:avLst/>
          </a:prstGeom>
          <a:noFill/>
          <a:ln/>
        </p:spPr>
        <p:txBody>
          <a:bodyPr wrap="square" lIns="0" tIns="0" rIns="0" bIns="0" rtlCol="0" anchor="ctr"/>
          <a:lstStyle/>
          <a:p>
            <a:pPr indent="0" marL="0">
              <a:buNone/>
            </a:pPr>
            <a:r>
              <a:rPr lang="en-US" sz="3600" b="1" dirty="0">
                <a:solidFill>
                  <a:srgbClr val="FFFFFF"/>
                </a:solidFill>
                <a:latin typeface="Consolas" pitchFamily="34" charset="0"/>
                <a:ea typeface="Consolas" pitchFamily="34" charset="-122"/>
                <a:cs typeface="Consolas" pitchFamily="34" charset="-120"/>
              </a:rPr>
              <a:t>Binary &amp; Executable Basics</a:t>
            </a:r>
            <a:endParaRPr lang="en-US" sz="3600" dirty="0"/>
          </a:p>
        </p:txBody>
      </p:sp>
      <p:sp>
        <p:nvSpPr>
          <p:cNvPr id="8" name="Text 5"/>
          <p:cNvSpPr/>
          <p:nvPr/>
        </p:nvSpPr>
        <p:spPr>
          <a:xfrm>
            <a:off x="3474720" y="2926080"/>
            <a:ext cx="5394960" cy="1097280"/>
          </a:xfrm>
          <a:prstGeom prst="rect">
            <a:avLst/>
          </a:prstGeom>
          <a:noFill/>
          <a:ln/>
        </p:spPr>
        <p:txBody>
          <a:bodyPr wrap="square" lIns="0" tIns="0" rIns="0" bIns="0" rtlCol="0" anchor="ctr"/>
          <a:lstStyle/>
          <a:p>
            <a:pPr indent="0" marL="0">
              <a:buNone/>
            </a:pPr>
            <a:r>
              <a:rPr lang="en-US" sz="1400" dirty="0">
                <a:solidFill>
                  <a:srgbClr val="8B9BB4"/>
                </a:solidFill>
                <a:latin typeface="Calibri" pitchFamily="34" charset="0"/>
                <a:ea typeface="Calibri" pitchFamily="34" charset="-122"/>
                <a:cs typeface="Calibri" pitchFamily="34" charset="-120"/>
              </a:rPr>
              <a:t>File formats, sections, and the concept of entry points.</a:t>
            </a:r>
            <a:endParaRPr lang="en-US" sz="1400" dirty="0"/>
          </a:p>
        </p:txBody>
      </p:sp>
      <p:sp>
        <p:nvSpPr>
          <p:cNvPr id="9" name="Shape 6"/>
          <p:cNvSpPr/>
          <p:nvPr/>
        </p:nvSpPr>
        <p:spPr>
          <a:xfrm>
            <a:off x="3474720" y="4297680"/>
            <a:ext cx="91440" cy="91440"/>
          </a:xfrm>
          <a:prstGeom prst="ellipse">
            <a:avLst/>
          </a:prstGeom>
          <a:solidFill>
            <a:srgbClr val="FF6B35"/>
          </a:solidFill>
          <a:ln w="12700">
            <a:solidFill>
              <a:srgbClr val="FF6B35"/>
            </a:solidFill>
            <a:prstDash val="solid"/>
          </a:ln>
        </p:spPr>
      </p:sp>
      <p:sp>
        <p:nvSpPr>
          <p:cNvPr id="10" name="Shape 7"/>
          <p:cNvSpPr/>
          <p:nvPr/>
        </p:nvSpPr>
        <p:spPr>
          <a:xfrm>
            <a:off x="3794760" y="4297680"/>
            <a:ext cx="91440" cy="91440"/>
          </a:xfrm>
          <a:prstGeom prst="ellipse">
            <a:avLst/>
          </a:prstGeom>
          <a:solidFill>
            <a:srgbClr val="FF6B35">
              <a:alpha val="85000"/>
            </a:srgbClr>
          </a:solidFill>
          <a:ln w="12700">
            <a:solidFill>
              <a:srgbClr val="FF6B35">
                <a:alpha val="85000"/>
              </a:srgbClr>
            </a:solidFill>
            <a:prstDash val="solid"/>
          </a:ln>
        </p:spPr>
      </p:sp>
      <p:sp>
        <p:nvSpPr>
          <p:cNvPr id="11" name="Shape 8"/>
          <p:cNvSpPr/>
          <p:nvPr/>
        </p:nvSpPr>
        <p:spPr>
          <a:xfrm>
            <a:off x="4114800" y="4297680"/>
            <a:ext cx="91440" cy="91440"/>
          </a:xfrm>
          <a:prstGeom prst="ellipse">
            <a:avLst/>
          </a:prstGeom>
          <a:solidFill>
            <a:srgbClr val="FF6B35">
              <a:alpha val="70000"/>
            </a:srgbClr>
          </a:solidFill>
          <a:ln w="12700">
            <a:solidFill>
              <a:srgbClr val="FF6B35">
                <a:alpha val="70000"/>
              </a:srgbClr>
            </a:solidFill>
            <a:prstDash val="solid"/>
          </a:ln>
        </p:spPr>
      </p:sp>
      <p:sp>
        <p:nvSpPr>
          <p:cNvPr id="12" name="Shape 9"/>
          <p:cNvSpPr/>
          <p:nvPr/>
        </p:nvSpPr>
        <p:spPr>
          <a:xfrm>
            <a:off x="4434840" y="4297680"/>
            <a:ext cx="91440" cy="91440"/>
          </a:xfrm>
          <a:prstGeom prst="ellipse">
            <a:avLst/>
          </a:prstGeom>
          <a:solidFill>
            <a:srgbClr val="FF6B35">
              <a:alpha val="55000"/>
            </a:srgbClr>
          </a:solidFill>
          <a:ln w="12700">
            <a:solidFill>
              <a:srgbClr val="FF6B35">
                <a:alpha val="55000"/>
              </a:srgbClr>
            </a:solidFill>
            <a:prstDash val="solid"/>
          </a:ln>
        </p:spPr>
      </p:sp>
      <p:sp>
        <p:nvSpPr>
          <p:cNvPr id="13" name="Shape 10"/>
          <p:cNvSpPr/>
          <p:nvPr/>
        </p:nvSpPr>
        <p:spPr>
          <a:xfrm>
            <a:off x="4754880" y="4297680"/>
            <a:ext cx="91440" cy="91440"/>
          </a:xfrm>
          <a:prstGeom prst="ellipse">
            <a:avLst/>
          </a:prstGeom>
          <a:solidFill>
            <a:srgbClr val="FF6B35">
              <a:alpha val="40000"/>
            </a:srgbClr>
          </a:solidFill>
          <a:ln w="12700">
            <a:solidFill>
              <a:srgbClr val="FF6B35">
                <a:alpha val="40000"/>
              </a:srgbClr>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164592" y="164592"/>
            <a:ext cx="365760" cy="45720"/>
          </a:xfrm>
          <a:prstGeom prst="rect">
            <a:avLst/>
          </a:prstGeom>
          <a:solidFill>
            <a:srgbClr val="00FF88"/>
          </a:solidFill>
          <a:ln w="12700">
            <a:solidFill>
              <a:srgbClr val="00FF88"/>
            </a:solidFill>
            <a:prstDash val="solid"/>
          </a:ln>
        </p:spPr>
      </p:sp>
      <p:sp>
        <p:nvSpPr>
          <p:cNvPr id="3" name="Shape 1"/>
          <p:cNvSpPr/>
          <p:nvPr/>
        </p:nvSpPr>
        <p:spPr>
          <a:xfrm>
            <a:off x="164592" y="164592"/>
            <a:ext cx="45720" cy="274320"/>
          </a:xfrm>
          <a:prstGeom prst="rect">
            <a:avLst/>
          </a:prstGeom>
          <a:solidFill>
            <a:srgbClr val="00FF88"/>
          </a:solidFill>
          <a:ln w="12700">
            <a:solidFill>
              <a:srgbClr val="00FF88"/>
            </a:solidFill>
            <a:prstDash val="solid"/>
          </a:ln>
        </p:spPr>
      </p:sp>
      <p:sp>
        <p:nvSpPr>
          <p:cNvPr id="4" name="Shape 2"/>
          <p:cNvSpPr/>
          <p:nvPr/>
        </p:nvSpPr>
        <p:spPr>
          <a:xfrm>
            <a:off x="8613648" y="4910328"/>
            <a:ext cx="365760" cy="45720"/>
          </a:xfrm>
          <a:prstGeom prst="rect">
            <a:avLst/>
          </a:prstGeom>
          <a:solidFill>
            <a:srgbClr val="00D4FF"/>
          </a:solidFill>
          <a:ln w="12700">
            <a:solidFill>
              <a:srgbClr val="00D4FF"/>
            </a:solidFill>
            <a:prstDash val="solid"/>
          </a:ln>
        </p:spPr>
      </p:sp>
      <p:sp>
        <p:nvSpPr>
          <p:cNvPr id="5" name="Shape 3"/>
          <p:cNvSpPr/>
          <p:nvPr/>
        </p:nvSpPr>
        <p:spPr>
          <a:xfrm>
            <a:off x="8933688" y="4681728"/>
            <a:ext cx="45720" cy="274320"/>
          </a:xfrm>
          <a:prstGeom prst="rect">
            <a:avLst/>
          </a:prstGeom>
          <a:solidFill>
            <a:srgbClr val="00D4FF"/>
          </a:solidFill>
          <a:ln w="12700">
            <a:solidFill>
              <a:srgbClr val="00D4FF"/>
            </a:solidFill>
            <a:prstDash val="solid"/>
          </a:ln>
        </p:spPr>
      </p:sp>
      <p:sp>
        <p:nvSpPr>
          <p:cNvPr id="6" name="Shape 4"/>
          <p:cNvSpPr/>
          <p:nvPr/>
        </p:nvSpPr>
        <p:spPr>
          <a:xfrm>
            <a:off x="411480" y="201168"/>
            <a:ext cx="2377440" cy="256032"/>
          </a:xfrm>
          <a:prstGeom prst="rect">
            <a:avLst/>
          </a:prstGeom>
          <a:solidFill>
            <a:srgbClr val="FF6B35"/>
          </a:solidFill>
          <a:ln w="12700">
            <a:solidFill>
              <a:srgbClr val="FF6B35"/>
            </a:solidFill>
            <a:prstDash val="solid"/>
          </a:ln>
        </p:spPr>
      </p:sp>
      <p:sp>
        <p:nvSpPr>
          <p:cNvPr id="7" name="Text 5"/>
          <p:cNvSpPr/>
          <p:nvPr/>
        </p:nvSpPr>
        <p:spPr>
          <a:xfrm>
            <a:off x="411480" y="201168"/>
            <a:ext cx="2377440" cy="256032"/>
          </a:xfrm>
          <a:prstGeom prst="rect">
            <a:avLst/>
          </a:prstGeom>
          <a:noFill/>
          <a:ln/>
        </p:spPr>
        <p:txBody>
          <a:bodyPr wrap="square" lIns="0" tIns="0" rIns="0" bIns="0" rtlCol="0" anchor="ctr"/>
          <a:lstStyle/>
          <a:p>
            <a:pPr algn="ctr" indent="0" marL="0">
              <a:buNone/>
            </a:pPr>
            <a:r>
              <a:rPr lang="en-US" sz="900" b="1" dirty="0">
                <a:solidFill>
                  <a:srgbClr val="0A0E1A"/>
                </a:solidFill>
                <a:latin typeface="Consolas" pitchFamily="34" charset="0"/>
                <a:ea typeface="Consolas" pitchFamily="34" charset="-122"/>
                <a:cs typeface="Consolas" pitchFamily="34" charset="-120"/>
              </a:rPr>
              <a:t>SECTION 3 · BINARIES</a:t>
            </a:r>
            <a:endParaRPr lang="en-US" sz="900" dirty="0"/>
          </a:p>
        </p:txBody>
      </p:sp>
      <p:sp>
        <p:nvSpPr>
          <p:cNvPr id="8" name="Text 6"/>
          <p:cNvSpPr/>
          <p:nvPr/>
        </p:nvSpPr>
        <p:spPr>
          <a:xfrm>
            <a:off x="411480" y="530352"/>
            <a:ext cx="8321040" cy="594360"/>
          </a:xfrm>
          <a:prstGeom prst="rect">
            <a:avLst/>
          </a:prstGeom>
          <a:noFill/>
          <a:ln/>
        </p:spPr>
        <p:txBody>
          <a:bodyPr wrap="square" lIns="0" tIns="0" rIns="0" bIns="0" rtlCol="0" anchor="ctr"/>
          <a:lstStyle/>
          <a:p>
            <a:pPr algn="l" indent="0" marL="0">
              <a:buNone/>
            </a:pPr>
            <a:r>
              <a:rPr lang="en-US" sz="2800" b="1" dirty="0">
                <a:solidFill>
                  <a:srgbClr val="FF6B35"/>
                </a:solidFill>
                <a:latin typeface="Consolas" pitchFamily="34" charset="0"/>
                <a:ea typeface="Consolas" pitchFamily="34" charset="-122"/>
                <a:cs typeface="Consolas" pitchFamily="34" charset="-120"/>
              </a:rPr>
              <a:t>PE File Format (Windows Executables)</a:t>
            </a:r>
            <a:endParaRPr lang="en-US" sz="2800" dirty="0"/>
          </a:p>
        </p:txBody>
      </p:sp>
      <p:sp>
        <p:nvSpPr>
          <p:cNvPr id="9" name="Text 7"/>
          <p:cNvSpPr/>
          <p:nvPr/>
        </p:nvSpPr>
        <p:spPr>
          <a:xfrm>
            <a:off x="411480" y="1051560"/>
            <a:ext cx="8321040" cy="320040"/>
          </a:xfrm>
          <a:prstGeom prst="rect">
            <a:avLst/>
          </a:prstGeom>
          <a:noFill/>
          <a:ln/>
        </p:spPr>
        <p:txBody>
          <a:bodyPr wrap="square" lIns="0" tIns="0" rIns="0" bIns="0" rtlCol="0" anchor="ctr"/>
          <a:lstStyle/>
          <a:p>
            <a:pPr algn="l" indent="0" marL="0">
              <a:buNone/>
            </a:pPr>
            <a:r>
              <a:rPr lang="en-US" sz="1300" dirty="0">
                <a:solidFill>
                  <a:srgbClr val="8B9BB4"/>
                </a:solidFill>
                <a:latin typeface="Calibri" pitchFamily="34" charset="0"/>
                <a:ea typeface="Calibri" pitchFamily="34" charset="-122"/>
                <a:cs typeface="Calibri" pitchFamily="34" charset="-120"/>
              </a:rPr>
              <a:t>Portable Executable — the structure of every .exe and .dll on Windows.</a:t>
            </a:r>
            <a:endParaRPr lang="en-US" sz="1300" dirty="0"/>
          </a:p>
        </p:txBody>
      </p:sp>
      <p:sp>
        <p:nvSpPr>
          <p:cNvPr id="10" name="Text 8"/>
          <p:cNvSpPr/>
          <p:nvPr/>
        </p:nvSpPr>
        <p:spPr>
          <a:xfrm>
            <a:off x="8686800" y="4754880"/>
            <a:ext cx="365760" cy="228600"/>
          </a:xfrm>
          <a:prstGeom prst="rect">
            <a:avLst/>
          </a:prstGeom>
          <a:noFill/>
          <a:ln/>
        </p:spPr>
        <p:txBody>
          <a:bodyPr wrap="square" lIns="0" tIns="0" rIns="0" bIns="0" rtlCol="0" anchor="ctr"/>
          <a:lstStyle/>
          <a:p>
            <a:pPr algn="r" indent="0" marL="0">
              <a:buNone/>
            </a:pPr>
            <a:r>
              <a:rPr lang="en-US" sz="900" dirty="0">
                <a:solidFill>
                  <a:srgbClr val="8B9BB4"/>
                </a:solidFill>
                <a:latin typeface="Consolas" pitchFamily="34" charset="0"/>
                <a:ea typeface="Consolas" pitchFamily="34" charset="-122"/>
                <a:cs typeface="Consolas" pitchFamily="34" charset="-120"/>
              </a:rPr>
              <a:t>09</a:t>
            </a:r>
            <a:endParaRPr lang="en-US" sz="900" dirty="0"/>
          </a:p>
        </p:txBody>
      </p:sp>
      <p:sp>
        <p:nvSpPr>
          <p:cNvPr id="11" name="Shape 9"/>
          <p:cNvSpPr/>
          <p:nvPr/>
        </p:nvSpPr>
        <p:spPr>
          <a:xfrm>
            <a:off x="320040" y="1234440"/>
            <a:ext cx="2926080" cy="457200"/>
          </a:xfrm>
          <a:prstGeom prst="rect">
            <a:avLst/>
          </a:prstGeom>
          <a:solidFill>
            <a:srgbClr val="8B9BB4">
              <a:alpha val="25000"/>
            </a:srgbClr>
          </a:solidFill>
          <a:ln w="12700">
            <a:solidFill>
              <a:srgbClr val="8B9BB4"/>
            </a:solidFill>
            <a:prstDash val="solid"/>
          </a:ln>
        </p:spPr>
      </p:sp>
      <p:sp>
        <p:nvSpPr>
          <p:cNvPr id="12" name="Text 10"/>
          <p:cNvSpPr/>
          <p:nvPr/>
        </p:nvSpPr>
        <p:spPr>
          <a:xfrm>
            <a:off x="320040" y="1234440"/>
            <a:ext cx="2926080" cy="457200"/>
          </a:xfrm>
          <a:prstGeom prst="rect">
            <a:avLst/>
          </a:prstGeom>
          <a:noFill/>
          <a:ln/>
        </p:spPr>
        <p:txBody>
          <a:bodyPr wrap="square" lIns="0" tIns="0" rIns="0" bIns="0" rtlCol="0" anchor="ctr"/>
          <a:lstStyle/>
          <a:p>
            <a:pPr algn="ctr" indent="0" marL="0">
              <a:buNone/>
            </a:pPr>
            <a:r>
              <a:rPr lang="en-US" sz="1000" b="1" dirty="0">
                <a:solidFill>
                  <a:srgbClr val="8B9BB4"/>
                </a:solidFill>
                <a:latin typeface="Consolas" pitchFamily="34" charset="0"/>
                <a:ea typeface="Consolas" pitchFamily="34" charset="-122"/>
                <a:cs typeface="Consolas" pitchFamily="34" charset="-120"/>
              </a:rPr>
              <a:t>DOS Header</a:t>
            </a:r>
            <a:endParaRPr lang="en-US" sz="1000" dirty="0"/>
          </a:p>
        </p:txBody>
      </p:sp>
      <p:sp>
        <p:nvSpPr>
          <p:cNvPr id="13" name="Shape 11"/>
          <p:cNvSpPr/>
          <p:nvPr/>
        </p:nvSpPr>
        <p:spPr>
          <a:xfrm>
            <a:off x="3246120" y="1435608"/>
            <a:ext cx="548640" cy="18288"/>
          </a:xfrm>
          <a:prstGeom prst="rect">
            <a:avLst/>
          </a:prstGeom>
          <a:solidFill>
            <a:srgbClr val="8B9BB4"/>
          </a:solidFill>
          <a:ln w="12700">
            <a:solidFill>
              <a:srgbClr val="8B9BB4"/>
            </a:solidFill>
            <a:prstDash val="solid"/>
          </a:ln>
        </p:spPr>
      </p:sp>
      <p:sp>
        <p:nvSpPr>
          <p:cNvPr id="14" name="Text 12"/>
          <p:cNvSpPr/>
          <p:nvPr/>
        </p:nvSpPr>
        <p:spPr>
          <a:xfrm>
            <a:off x="3840480" y="1325880"/>
            <a:ext cx="5029200" cy="274320"/>
          </a:xfrm>
          <a:prstGeom prst="rect">
            <a:avLst/>
          </a:prstGeom>
          <a:noFill/>
          <a:ln/>
        </p:spPr>
        <p:txBody>
          <a:bodyPr wrap="square" lIns="0" tIns="0" rIns="0" bIns="0" rtlCol="0" anchor="ctr"/>
          <a:lstStyle/>
          <a:p>
            <a:pPr indent="0" marL="0">
              <a:buNone/>
            </a:pPr>
            <a:r>
              <a:rPr lang="en-US" sz="950" dirty="0">
                <a:solidFill>
                  <a:srgbClr val="E2E8F0"/>
                </a:solidFill>
                <a:latin typeface="Calibri" pitchFamily="34" charset="0"/>
                <a:ea typeface="Calibri" pitchFamily="34" charset="-122"/>
                <a:cs typeface="Calibri" pitchFamily="34" charset="-120"/>
              </a:rPr>
              <a:t>MZ magic bytes, legacy DOS stub</a:t>
            </a:r>
            <a:endParaRPr lang="en-US" sz="950" dirty="0"/>
          </a:p>
        </p:txBody>
      </p:sp>
      <p:sp>
        <p:nvSpPr>
          <p:cNvPr id="15" name="Shape 13"/>
          <p:cNvSpPr/>
          <p:nvPr/>
        </p:nvSpPr>
        <p:spPr>
          <a:xfrm>
            <a:off x="320040" y="1755648"/>
            <a:ext cx="2926080" cy="457200"/>
          </a:xfrm>
          <a:prstGeom prst="rect">
            <a:avLst/>
          </a:prstGeom>
          <a:solidFill>
            <a:srgbClr val="FF6B35">
              <a:alpha val="25000"/>
            </a:srgbClr>
          </a:solidFill>
          <a:ln w="12700">
            <a:solidFill>
              <a:srgbClr val="FF6B35"/>
            </a:solidFill>
            <a:prstDash val="solid"/>
          </a:ln>
        </p:spPr>
      </p:sp>
      <p:sp>
        <p:nvSpPr>
          <p:cNvPr id="16" name="Text 14"/>
          <p:cNvSpPr/>
          <p:nvPr/>
        </p:nvSpPr>
        <p:spPr>
          <a:xfrm>
            <a:off x="320040" y="1755648"/>
            <a:ext cx="2926080" cy="457200"/>
          </a:xfrm>
          <a:prstGeom prst="rect">
            <a:avLst/>
          </a:prstGeom>
          <a:noFill/>
          <a:ln/>
        </p:spPr>
        <p:txBody>
          <a:bodyPr wrap="square" lIns="0" tIns="0" rIns="0" bIns="0" rtlCol="0" anchor="ctr"/>
          <a:lstStyle/>
          <a:p>
            <a:pPr algn="ctr" indent="0" marL="0">
              <a:buNone/>
            </a:pPr>
            <a:r>
              <a:rPr lang="en-US" sz="1000" b="1" dirty="0">
                <a:solidFill>
                  <a:srgbClr val="FF6B35"/>
                </a:solidFill>
                <a:latin typeface="Consolas" pitchFamily="34" charset="0"/>
                <a:ea typeface="Consolas" pitchFamily="34" charset="-122"/>
                <a:cs typeface="Consolas" pitchFamily="34" charset="-120"/>
              </a:rPr>
              <a:t>PE Header (COFF)</a:t>
            </a:r>
            <a:endParaRPr lang="en-US" sz="1000" dirty="0"/>
          </a:p>
        </p:txBody>
      </p:sp>
      <p:sp>
        <p:nvSpPr>
          <p:cNvPr id="17" name="Shape 15"/>
          <p:cNvSpPr/>
          <p:nvPr/>
        </p:nvSpPr>
        <p:spPr>
          <a:xfrm>
            <a:off x="3246120" y="1956816"/>
            <a:ext cx="548640" cy="18288"/>
          </a:xfrm>
          <a:prstGeom prst="rect">
            <a:avLst/>
          </a:prstGeom>
          <a:solidFill>
            <a:srgbClr val="FF6B35"/>
          </a:solidFill>
          <a:ln w="12700">
            <a:solidFill>
              <a:srgbClr val="FF6B35"/>
            </a:solidFill>
            <a:prstDash val="solid"/>
          </a:ln>
        </p:spPr>
      </p:sp>
      <p:sp>
        <p:nvSpPr>
          <p:cNvPr id="18" name="Text 16"/>
          <p:cNvSpPr/>
          <p:nvPr/>
        </p:nvSpPr>
        <p:spPr>
          <a:xfrm>
            <a:off x="3840480" y="1847088"/>
            <a:ext cx="5029200" cy="274320"/>
          </a:xfrm>
          <a:prstGeom prst="rect">
            <a:avLst/>
          </a:prstGeom>
          <a:noFill/>
          <a:ln/>
        </p:spPr>
        <p:txBody>
          <a:bodyPr wrap="square" lIns="0" tIns="0" rIns="0" bIns="0" rtlCol="0" anchor="ctr"/>
          <a:lstStyle/>
          <a:p>
            <a:pPr indent="0" marL="0">
              <a:buNone/>
            </a:pPr>
            <a:r>
              <a:rPr lang="en-US" sz="950" dirty="0">
                <a:solidFill>
                  <a:srgbClr val="E2E8F0"/>
                </a:solidFill>
                <a:latin typeface="Calibri" pitchFamily="34" charset="0"/>
                <a:ea typeface="Calibri" pitchFamily="34" charset="-122"/>
                <a:cs typeface="Calibri" pitchFamily="34" charset="-120"/>
              </a:rPr>
              <a:t>Machine type, sections count, timestamp</a:t>
            </a:r>
            <a:endParaRPr lang="en-US" sz="950" dirty="0"/>
          </a:p>
        </p:txBody>
      </p:sp>
      <p:sp>
        <p:nvSpPr>
          <p:cNvPr id="19" name="Shape 17"/>
          <p:cNvSpPr/>
          <p:nvPr/>
        </p:nvSpPr>
        <p:spPr>
          <a:xfrm>
            <a:off x="320040" y="2276856"/>
            <a:ext cx="2926080" cy="457200"/>
          </a:xfrm>
          <a:prstGeom prst="rect">
            <a:avLst/>
          </a:prstGeom>
          <a:solidFill>
            <a:srgbClr val="FFD700">
              <a:alpha val="25000"/>
            </a:srgbClr>
          </a:solidFill>
          <a:ln w="12700">
            <a:solidFill>
              <a:srgbClr val="FFD700"/>
            </a:solidFill>
            <a:prstDash val="solid"/>
          </a:ln>
        </p:spPr>
      </p:sp>
      <p:sp>
        <p:nvSpPr>
          <p:cNvPr id="20" name="Text 18"/>
          <p:cNvSpPr/>
          <p:nvPr/>
        </p:nvSpPr>
        <p:spPr>
          <a:xfrm>
            <a:off x="320040" y="2276856"/>
            <a:ext cx="2926080" cy="457200"/>
          </a:xfrm>
          <a:prstGeom prst="rect">
            <a:avLst/>
          </a:prstGeom>
          <a:noFill/>
          <a:ln/>
        </p:spPr>
        <p:txBody>
          <a:bodyPr wrap="square" lIns="0" tIns="0" rIns="0" bIns="0" rtlCol="0" anchor="ctr"/>
          <a:lstStyle/>
          <a:p>
            <a:pPr algn="ctr" indent="0" marL="0">
              <a:buNone/>
            </a:pPr>
            <a:r>
              <a:rPr lang="en-US" sz="1000" b="1" dirty="0">
                <a:solidFill>
                  <a:srgbClr val="FFD700"/>
                </a:solidFill>
                <a:latin typeface="Consolas" pitchFamily="34" charset="0"/>
                <a:ea typeface="Consolas" pitchFamily="34" charset="-122"/>
                <a:cs typeface="Consolas" pitchFamily="34" charset="-120"/>
              </a:rPr>
              <a:t>Optional Header</a:t>
            </a:r>
            <a:endParaRPr lang="en-US" sz="1000" dirty="0"/>
          </a:p>
        </p:txBody>
      </p:sp>
      <p:sp>
        <p:nvSpPr>
          <p:cNvPr id="21" name="Shape 19"/>
          <p:cNvSpPr/>
          <p:nvPr/>
        </p:nvSpPr>
        <p:spPr>
          <a:xfrm>
            <a:off x="3246120" y="2478024"/>
            <a:ext cx="548640" cy="18288"/>
          </a:xfrm>
          <a:prstGeom prst="rect">
            <a:avLst/>
          </a:prstGeom>
          <a:solidFill>
            <a:srgbClr val="FFD700"/>
          </a:solidFill>
          <a:ln w="12700">
            <a:solidFill>
              <a:srgbClr val="FFD700"/>
            </a:solidFill>
            <a:prstDash val="solid"/>
          </a:ln>
        </p:spPr>
      </p:sp>
      <p:sp>
        <p:nvSpPr>
          <p:cNvPr id="22" name="Text 20"/>
          <p:cNvSpPr/>
          <p:nvPr/>
        </p:nvSpPr>
        <p:spPr>
          <a:xfrm>
            <a:off x="3840480" y="2368296"/>
            <a:ext cx="5029200" cy="274320"/>
          </a:xfrm>
          <a:prstGeom prst="rect">
            <a:avLst/>
          </a:prstGeom>
          <a:noFill/>
          <a:ln/>
        </p:spPr>
        <p:txBody>
          <a:bodyPr wrap="square" lIns="0" tIns="0" rIns="0" bIns="0" rtlCol="0" anchor="ctr"/>
          <a:lstStyle/>
          <a:p>
            <a:pPr indent="0" marL="0">
              <a:buNone/>
            </a:pPr>
            <a:r>
              <a:rPr lang="en-US" sz="950" dirty="0">
                <a:solidFill>
                  <a:srgbClr val="E2E8F0"/>
                </a:solidFill>
                <a:latin typeface="Calibri" pitchFamily="34" charset="0"/>
                <a:ea typeface="Calibri" pitchFamily="34" charset="-122"/>
                <a:cs typeface="Calibri" pitchFamily="34" charset="-120"/>
              </a:rPr>
              <a:t>ImageBase, EntryPoint, subsystem, imports</a:t>
            </a:r>
            <a:endParaRPr lang="en-US" sz="950" dirty="0"/>
          </a:p>
        </p:txBody>
      </p:sp>
      <p:sp>
        <p:nvSpPr>
          <p:cNvPr id="23" name="Shape 21"/>
          <p:cNvSpPr/>
          <p:nvPr/>
        </p:nvSpPr>
        <p:spPr>
          <a:xfrm>
            <a:off x="320040" y="2798064"/>
            <a:ext cx="2926080" cy="457200"/>
          </a:xfrm>
          <a:prstGeom prst="rect">
            <a:avLst/>
          </a:prstGeom>
          <a:solidFill>
            <a:srgbClr val="00FF88">
              <a:alpha val="25000"/>
            </a:srgbClr>
          </a:solidFill>
          <a:ln w="12700">
            <a:solidFill>
              <a:srgbClr val="00FF88"/>
            </a:solidFill>
            <a:prstDash val="solid"/>
          </a:ln>
        </p:spPr>
      </p:sp>
      <p:sp>
        <p:nvSpPr>
          <p:cNvPr id="24" name="Text 22"/>
          <p:cNvSpPr/>
          <p:nvPr/>
        </p:nvSpPr>
        <p:spPr>
          <a:xfrm>
            <a:off x="320040" y="2798064"/>
            <a:ext cx="2926080" cy="457200"/>
          </a:xfrm>
          <a:prstGeom prst="rect">
            <a:avLst/>
          </a:prstGeom>
          <a:noFill/>
          <a:ln/>
        </p:spPr>
        <p:txBody>
          <a:bodyPr wrap="square" lIns="0" tIns="0" rIns="0" bIns="0" rtlCol="0" anchor="ctr"/>
          <a:lstStyle/>
          <a:p>
            <a:pPr algn="ctr" indent="0" marL="0">
              <a:buNone/>
            </a:pPr>
            <a:r>
              <a:rPr lang="en-US" sz="1000" b="1" dirty="0">
                <a:solidFill>
                  <a:srgbClr val="00FF88"/>
                </a:solidFill>
                <a:latin typeface="Consolas" pitchFamily="34" charset="0"/>
                <a:ea typeface="Consolas" pitchFamily="34" charset="-122"/>
                <a:cs typeface="Consolas" pitchFamily="34" charset="-120"/>
              </a:rPr>
              <a:t>.text  (Code)</a:t>
            </a:r>
            <a:endParaRPr lang="en-US" sz="1000" dirty="0"/>
          </a:p>
        </p:txBody>
      </p:sp>
      <p:sp>
        <p:nvSpPr>
          <p:cNvPr id="25" name="Shape 23"/>
          <p:cNvSpPr/>
          <p:nvPr/>
        </p:nvSpPr>
        <p:spPr>
          <a:xfrm>
            <a:off x="3246120" y="2999232"/>
            <a:ext cx="548640" cy="18288"/>
          </a:xfrm>
          <a:prstGeom prst="rect">
            <a:avLst/>
          </a:prstGeom>
          <a:solidFill>
            <a:srgbClr val="00FF88"/>
          </a:solidFill>
          <a:ln w="12700">
            <a:solidFill>
              <a:srgbClr val="00FF88"/>
            </a:solidFill>
            <a:prstDash val="solid"/>
          </a:ln>
        </p:spPr>
      </p:sp>
      <p:sp>
        <p:nvSpPr>
          <p:cNvPr id="26" name="Text 24"/>
          <p:cNvSpPr/>
          <p:nvPr/>
        </p:nvSpPr>
        <p:spPr>
          <a:xfrm>
            <a:off x="3840480" y="2889504"/>
            <a:ext cx="5029200" cy="274320"/>
          </a:xfrm>
          <a:prstGeom prst="rect">
            <a:avLst/>
          </a:prstGeom>
          <a:noFill/>
          <a:ln/>
        </p:spPr>
        <p:txBody>
          <a:bodyPr wrap="square" lIns="0" tIns="0" rIns="0" bIns="0" rtlCol="0" anchor="ctr"/>
          <a:lstStyle/>
          <a:p>
            <a:pPr indent="0" marL="0">
              <a:buNone/>
            </a:pPr>
            <a:r>
              <a:rPr lang="en-US" sz="950" dirty="0">
                <a:solidFill>
                  <a:srgbClr val="E2E8F0"/>
                </a:solidFill>
                <a:latin typeface="Calibri" pitchFamily="34" charset="0"/>
                <a:ea typeface="Calibri" pitchFamily="34" charset="-122"/>
                <a:cs typeface="Calibri" pitchFamily="34" charset="-120"/>
              </a:rPr>
              <a:t>Executable code — this is what we reverse!</a:t>
            </a:r>
            <a:endParaRPr lang="en-US" sz="950" dirty="0"/>
          </a:p>
        </p:txBody>
      </p:sp>
      <p:sp>
        <p:nvSpPr>
          <p:cNvPr id="27" name="Shape 25"/>
          <p:cNvSpPr/>
          <p:nvPr/>
        </p:nvSpPr>
        <p:spPr>
          <a:xfrm>
            <a:off x="320040" y="3319272"/>
            <a:ext cx="2926080" cy="457200"/>
          </a:xfrm>
          <a:prstGeom prst="rect">
            <a:avLst/>
          </a:prstGeom>
          <a:solidFill>
            <a:srgbClr val="00D4FF">
              <a:alpha val="25000"/>
            </a:srgbClr>
          </a:solidFill>
          <a:ln w="12700">
            <a:solidFill>
              <a:srgbClr val="00D4FF"/>
            </a:solidFill>
            <a:prstDash val="solid"/>
          </a:ln>
        </p:spPr>
      </p:sp>
      <p:sp>
        <p:nvSpPr>
          <p:cNvPr id="28" name="Text 26"/>
          <p:cNvSpPr/>
          <p:nvPr/>
        </p:nvSpPr>
        <p:spPr>
          <a:xfrm>
            <a:off x="320040" y="3319272"/>
            <a:ext cx="2926080" cy="457200"/>
          </a:xfrm>
          <a:prstGeom prst="rect">
            <a:avLst/>
          </a:prstGeom>
          <a:noFill/>
          <a:ln/>
        </p:spPr>
        <p:txBody>
          <a:bodyPr wrap="square" lIns="0" tIns="0" rIns="0" bIns="0" rtlCol="0" anchor="ctr"/>
          <a:lstStyle/>
          <a:p>
            <a:pPr algn="ctr" indent="0" marL="0">
              <a:buNone/>
            </a:pPr>
            <a:r>
              <a:rPr lang="en-US" sz="1000" b="1" dirty="0">
                <a:solidFill>
                  <a:srgbClr val="00D4FF"/>
                </a:solidFill>
                <a:latin typeface="Consolas" pitchFamily="34" charset="0"/>
                <a:ea typeface="Consolas" pitchFamily="34" charset="-122"/>
                <a:cs typeface="Consolas" pitchFamily="34" charset="-120"/>
              </a:rPr>
              <a:t>.data  (Init Data)</a:t>
            </a:r>
            <a:endParaRPr lang="en-US" sz="1000" dirty="0"/>
          </a:p>
        </p:txBody>
      </p:sp>
      <p:sp>
        <p:nvSpPr>
          <p:cNvPr id="29" name="Shape 27"/>
          <p:cNvSpPr/>
          <p:nvPr/>
        </p:nvSpPr>
        <p:spPr>
          <a:xfrm>
            <a:off x="3246120" y="3520440"/>
            <a:ext cx="548640" cy="18288"/>
          </a:xfrm>
          <a:prstGeom prst="rect">
            <a:avLst/>
          </a:prstGeom>
          <a:solidFill>
            <a:srgbClr val="00D4FF"/>
          </a:solidFill>
          <a:ln w="12700">
            <a:solidFill>
              <a:srgbClr val="00D4FF"/>
            </a:solidFill>
            <a:prstDash val="solid"/>
          </a:ln>
        </p:spPr>
      </p:sp>
      <p:sp>
        <p:nvSpPr>
          <p:cNvPr id="30" name="Text 28"/>
          <p:cNvSpPr/>
          <p:nvPr/>
        </p:nvSpPr>
        <p:spPr>
          <a:xfrm>
            <a:off x="3840480" y="3410712"/>
            <a:ext cx="5029200" cy="274320"/>
          </a:xfrm>
          <a:prstGeom prst="rect">
            <a:avLst/>
          </a:prstGeom>
          <a:noFill/>
          <a:ln/>
        </p:spPr>
        <p:txBody>
          <a:bodyPr wrap="square" lIns="0" tIns="0" rIns="0" bIns="0" rtlCol="0" anchor="ctr"/>
          <a:lstStyle/>
          <a:p>
            <a:pPr indent="0" marL="0">
              <a:buNone/>
            </a:pPr>
            <a:r>
              <a:rPr lang="en-US" sz="950" dirty="0">
                <a:solidFill>
                  <a:srgbClr val="E2E8F0"/>
                </a:solidFill>
                <a:latin typeface="Calibri" pitchFamily="34" charset="0"/>
                <a:ea typeface="Calibri" pitchFamily="34" charset="-122"/>
                <a:cs typeface="Calibri" pitchFamily="34" charset="-120"/>
              </a:rPr>
              <a:t>Initialized global variables, strings</a:t>
            </a:r>
            <a:endParaRPr lang="en-US" sz="950" dirty="0"/>
          </a:p>
        </p:txBody>
      </p:sp>
      <p:sp>
        <p:nvSpPr>
          <p:cNvPr id="31" name="Shape 29"/>
          <p:cNvSpPr/>
          <p:nvPr/>
        </p:nvSpPr>
        <p:spPr>
          <a:xfrm>
            <a:off x="320040" y="3840480"/>
            <a:ext cx="2926080" cy="457200"/>
          </a:xfrm>
          <a:prstGeom prst="rect">
            <a:avLst/>
          </a:prstGeom>
          <a:solidFill>
            <a:srgbClr val="A855F7">
              <a:alpha val="25000"/>
            </a:srgbClr>
          </a:solidFill>
          <a:ln w="12700">
            <a:solidFill>
              <a:srgbClr val="A855F7"/>
            </a:solidFill>
            <a:prstDash val="solid"/>
          </a:ln>
        </p:spPr>
      </p:sp>
      <p:sp>
        <p:nvSpPr>
          <p:cNvPr id="32" name="Text 30"/>
          <p:cNvSpPr/>
          <p:nvPr/>
        </p:nvSpPr>
        <p:spPr>
          <a:xfrm>
            <a:off x="320040" y="3840480"/>
            <a:ext cx="2926080" cy="457200"/>
          </a:xfrm>
          <a:prstGeom prst="rect">
            <a:avLst/>
          </a:prstGeom>
          <a:noFill/>
          <a:ln/>
        </p:spPr>
        <p:txBody>
          <a:bodyPr wrap="square" lIns="0" tIns="0" rIns="0" bIns="0" rtlCol="0" anchor="ctr"/>
          <a:lstStyle/>
          <a:p>
            <a:pPr algn="ctr" indent="0" marL="0">
              <a:buNone/>
            </a:pPr>
            <a:r>
              <a:rPr lang="en-US" sz="1000" b="1" dirty="0">
                <a:solidFill>
                  <a:srgbClr val="A855F7"/>
                </a:solidFill>
                <a:latin typeface="Consolas" pitchFamily="34" charset="0"/>
                <a:ea typeface="Consolas" pitchFamily="34" charset="-122"/>
                <a:cs typeface="Consolas" pitchFamily="34" charset="-120"/>
              </a:rPr>
              <a:t>.rdata (Read-only)</a:t>
            </a:r>
            <a:endParaRPr lang="en-US" sz="1000" dirty="0"/>
          </a:p>
        </p:txBody>
      </p:sp>
      <p:sp>
        <p:nvSpPr>
          <p:cNvPr id="33" name="Shape 31"/>
          <p:cNvSpPr/>
          <p:nvPr/>
        </p:nvSpPr>
        <p:spPr>
          <a:xfrm>
            <a:off x="3246120" y="4041648"/>
            <a:ext cx="548640" cy="18288"/>
          </a:xfrm>
          <a:prstGeom prst="rect">
            <a:avLst/>
          </a:prstGeom>
          <a:solidFill>
            <a:srgbClr val="A855F7"/>
          </a:solidFill>
          <a:ln w="12700">
            <a:solidFill>
              <a:srgbClr val="A855F7"/>
            </a:solidFill>
            <a:prstDash val="solid"/>
          </a:ln>
        </p:spPr>
      </p:sp>
      <p:sp>
        <p:nvSpPr>
          <p:cNvPr id="34" name="Text 32"/>
          <p:cNvSpPr/>
          <p:nvPr/>
        </p:nvSpPr>
        <p:spPr>
          <a:xfrm>
            <a:off x="3840480" y="3931920"/>
            <a:ext cx="5029200" cy="274320"/>
          </a:xfrm>
          <a:prstGeom prst="rect">
            <a:avLst/>
          </a:prstGeom>
          <a:noFill/>
          <a:ln/>
        </p:spPr>
        <p:txBody>
          <a:bodyPr wrap="square" lIns="0" tIns="0" rIns="0" bIns="0" rtlCol="0" anchor="ctr"/>
          <a:lstStyle/>
          <a:p>
            <a:pPr indent="0" marL="0">
              <a:buNone/>
            </a:pPr>
            <a:r>
              <a:rPr lang="en-US" sz="950" dirty="0">
                <a:solidFill>
                  <a:srgbClr val="E2E8F0"/>
                </a:solidFill>
                <a:latin typeface="Calibri" pitchFamily="34" charset="0"/>
                <a:ea typeface="Calibri" pitchFamily="34" charset="-122"/>
                <a:cs typeface="Calibri" pitchFamily="34" charset="-120"/>
              </a:rPr>
              <a:t>Constants, import table, debug info</a:t>
            </a:r>
            <a:endParaRPr lang="en-US" sz="950" dirty="0"/>
          </a:p>
        </p:txBody>
      </p:sp>
      <p:sp>
        <p:nvSpPr>
          <p:cNvPr id="35" name="Shape 33"/>
          <p:cNvSpPr/>
          <p:nvPr/>
        </p:nvSpPr>
        <p:spPr>
          <a:xfrm>
            <a:off x="320040" y="4361688"/>
            <a:ext cx="2926080" cy="457200"/>
          </a:xfrm>
          <a:prstGeom prst="rect">
            <a:avLst/>
          </a:prstGeom>
          <a:solidFill>
            <a:srgbClr val="FF3355">
              <a:alpha val="25000"/>
            </a:srgbClr>
          </a:solidFill>
          <a:ln w="12700">
            <a:solidFill>
              <a:srgbClr val="FF3355"/>
            </a:solidFill>
            <a:prstDash val="solid"/>
          </a:ln>
        </p:spPr>
      </p:sp>
      <p:sp>
        <p:nvSpPr>
          <p:cNvPr id="36" name="Text 34"/>
          <p:cNvSpPr/>
          <p:nvPr/>
        </p:nvSpPr>
        <p:spPr>
          <a:xfrm>
            <a:off x="320040" y="4361688"/>
            <a:ext cx="2926080" cy="457200"/>
          </a:xfrm>
          <a:prstGeom prst="rect">
            <a:avLst/>
          </a:prstGeom>
          <a:noFill/>
          <a:ln/>
        </p:spPr>
        <p:txBody>
          <a:bodyPr wrap="square" lIns="0" tIns="0" rIns="0" bIns="0" rtlCol="0" anchor="ctr"/>
          <a:lstStyle/>
          <a:p>
            <a:pPr algn="ctr" indent="0" marL="0">
              <a:buNone/>
            </a:pPr>
            <a:r>
              <a:rPr lang="en-US" sz="1000" b="1" dirty="0">
                <a:solidFill>
                  <a:srgbClr val="FF3355"/>
                </a:solidFill>
                <a:latin typeface="Consolas" pitchFamily="34" charset="0"/>
                <a:ea typeface="Consolas" pitchFamily="34" charset="-122"/>
                <a:cs typeface="Consolas" pitchFamily="34" charset="-120"/>
              </a:rPr>
              <a:t>.rsrc  (Resources)</a:t>
            </a:r>
            <a:endParaRPr lang="en-US" sz="1000" dirty="0"/>
          </a:p>
        </p:txBody>
      </p:sp>
      <p:sp>
        <p:nvSpPr>
          <p:cNvPr id="37" name="Shape 35"/>
          <p:cNvSpPr/>
          <p:nvPr/>
        </p:nvSpPr>
        <p:spPr>
          <a:xfrm>
            <a:off x="3246120" y="4562856"/>
            <a:ext cx="548640" cy="18288"/>
          </a:xfrm>
          <a:prstGeom prst="rect">
            <a:avLst/>
          </a:prstGeom>
          <a:solidFill>
            <a:srgbClr val="FF3355"/>
          </a:solidFill>
          <a:ln w="12700">
            <a:solidFill>
              <a:srgbClr val="FF3355"/>
            </a:solidFill>
            <a:prstDash val="solid"/>
          </a:ln>
        </p:spPr>
      </p:sp>
      <p:sp>
        <p:nvSpPr>
          <p:cNvPr id="38" name="Text 36"/>
          <p:cNvSpPr/>
          <p:nvPr/>
        </p:nvSpPr>
        <p:spPr>
          <a:xfrm>
            <a:off x="3840480" y="4453128"/>
            <a:ext cx="5029200" cy="274320"/>
          </a:xfrm>
          <a:prstGeom prst="rect">
            <a:avLst/>
          </a:prstGeom>
          <a:noFill/>
          <a:ln/>
        </p:spPr>
        <p:txBody>
          <a:bodyPr wrap="square" lIns="0" tIns="0" rIns="0" bIns="0" rtlCol="0" anchor="ctr"/>
          <a:lstStyle/>
          <a:p>
            <a:pPr indent="0" marL="0">
              <a:buNone/>
            </a:pPr>
            <a:r>
              <a:rPr lang="en-US" sz="950" dirty="0">
                <a:solidFill>
                  <a:srgbClr val="E2E8F0"/>
                </a:solidFill>
                <a:latin typeface="Calibri" pitchFamily="34" charset="0"/>
                <a:ea typeface="Calibri" pitchFamily="34" charset="-122"/>
                <a:cs typeface="Calibri" pitchFamily="34" charset="-120"/>
              </a:rPr>
              <a:t>Icons, dialogs, version info</a:t>
            </a:r>
            <a:endParaRPr lang="en-US" sz="950" dirty="0"/>
          </a:p>
        </p:txBody>
      </p:sp>
      <p:sp>
        <p:nvSpPr>
          <p:cNvPr id="39" name="Shape 37"/>
          <p:cNvSpPr/>
          <p:nvPr/>
        </p:nvSpPr>
        <p:spPr>
          <a:xfrm>
            <a:off x="320040" y="2798064"/>
            <a:ext cx="2926080" cy="457200"/>
          </a:xfrm>
          <a:prstGeom prst="rect">
            <a:avLst/>
          </a:prstGeom>
          <a:solidFill>
            <a:srgbClr val="003300"/>
          </a:solidFill>
          <a:ln w="12700">
            <a:solidFill>
              <a:srgbClr val="00FF88"/>
            </a:solidFill>
            <a:prstDash val="solid"/>
          </a:ln>
        </p:spPr>
      </p:sp>
      <p:sp>
        <p:nvSpPr>
          <p:cNvPr id="40" name="Text 38"/>
          <p:cNvSpPr/>
          <p:nvPr/>
        </p:nvSpPr>
        <p:spPr>
          <a:xfrm>
            <a:off x="3840480" y="2889504"/>
            <a:ext cx="5029200" cy="274320"/>
          </a:xfrm>
          <a:prstGeom prst="rect">
            <a:avLst/>
          </a:prstGeom>
          <a:noFill/>
          <a:ln/>
        </p:spPr>
        <p:txBody>
          <a:bodyPr wrap="square" lIns="0" tIns="0" rIns="0" bIns="0" rtlCol="0" anchor="ctr"/>
          <a:lstStyle/>
          <a:p>
            <a:pPr indent="0" marL="0">
              <a:buNone/>
            </a:pPr>
            <a:r>
              <a:rPr lang="en-US" sz="900" i="1" dirty="0">
                <a:solidFill>
                  <a:srgbClr val="00FF88"/>
                </a:solidFill>
                <a:latin typeface="Consolas" pitchFamily="34" charset="0"/>
                <a:ea typeface="Consolas" pitchFamily="34" charset="-122"/>
                <a:cs typeface="Consolas" pitchFamily="34" charset="-120"/>
              </a:rPr>
              <a:t>← Entry Point lives here</a:t>
            </a:r>
            <a:endParaRPr lang="en-US" sz="900" dirty="0"/>
          </a:p>
        </p:txBody>
      </p:sp>
      <p:sp>
        <p:nvSpPr>
          <p:cNvPr id="41" name="Text 39"/>
          <p:cNvSpPr/>
          <p:nvPr/>
        </p:nvSpPr>
        <p:spPr>
          <a:xfrm>
            <a:off x="320040" y="4754880"/>
            <a:ext cx="8503920" cy="228600"/>
          </a:xfrm>
          <a:prstGeom prst="rect">
            <a:avLst/>
          </a:prstGeom>
          <a:noFill/>
          <a:ln/>
        </p:spPr>
        <p:txBody>
          <a:bodyPr wrap="square" lIns="0" tIns="0" rIns="0" bIns="0" rtlCol="0" anchor="ctr"/>
          <a:lstStyle/>
          <a:p>
            <a:pPr indent="0" marL="0">
              <a:buNone/>
            </a:pPr>
            <a:r>
              <a:rPr lang="en-US" sz="900" dirty="0">
                <a:solidFill>
                  <a:srgbClr val="8B9BB4"/>
                </a:solidFill>
                <a:latin typeface="Calibri" pitchFamily="34" charset="0"/>
                <a:ea typeface="Calibri" pitchFamily="34" charset="-122"/>
                <a:cs typeface="Calibri" pitchFamily="34" charset="-120"/>
              </a:rPr>
              <a:t>MZ → PE: The 'MZ' signature is how the OS recognizes a valid Windows executable.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3200400" cy="5143500"/>
          </a:xfrm>
          <a:prstGeom prst="rect">
            <a:avLst/>
          </a:prstGeom>
          <a:solidFill>
            <a:srgbClr val="111827"/>
          </a:solidFill>
          <a:ln w="12700">
            <a:solidFill>
              <a:srgbClr val="111827"/>
            </a:solidFill>
            <a:prstDash val="solid"/>
          </a:ln>
        </p:spPr>
      </p:sp>
      <p:sp>
        <p:nvSpPr>
          <p:cNvPr id="3" name="Shape 1"/>
          <p:cNvSpPr/>
          <p:nvPr/>
        </p:nvSpPr>
        <p:spPr>
          <a:xfrm>
            <a:off x="3163824" y="0"/>
            <a:ext cx="36576" cy="5143500"/>
          </a:xfrm>
          <a:prstGeom prst="rect">
            <a:avLst/>
          </a:prstGeom>
          <a:solidFill>
            <a:srgbClr val="00FF88"/>
          </a:solidFill>
          <a:ln w="12700">
            <a:solidFill>
              <a:srgbClr val="00FF88"/>
            </a:solidFill>
            <a:prstDash val="solid"/>
          </a:ln>
        </p:spPr>
      </p:sp>
      <p:sp>
        <p:nvSpPr>
          <p:cNvPr id="4" name="Text 2"/>
          <p:cNvSpPr/>
          <p:nvPr/>
        </p:nvSpPr>
        <p:spPr>
          <a:xfrm>
            <a:off x="274320" y="365760"/>
            <a:ext cx="2560320" cy="365760"/>
          </a:xfrm>
          <a:prstGeom prst="rect">
            <a:avLst/>
          </a:prstGeom>
          <a:noFill/>
          <a:ln/>
        </p:spPr>
        <p:txBody>
          <a:bodyPr wrap="square" lIns="0" tIns="0" rIns="0" bIns="0" rtlCol="0" anchor="ctr"/>
          <a:lstStyle/>
          <a:p>
            <a:pPr indent="0" marL="0">
              <a:buNone/>
            </a:pPr>
            <a:r>
              <a:rPr lang="en-US" sz="1000" spc="400" kern="0" dirty="0">
                <a:solidFill>
                  <a:srgbClr val="8B9BB4"/>
                </a:solidFill>
                <a:latin typeface="Consolas" pitchFamily="34" charset="0"/>
                <a:ea typeface="Consolas" pitchFamily="34" charset="-122"/>
                <a:cs typeface="Consolas" pitchFamily="34" charset="-120"/>
              </a:rPr>
              <a:t>SECTION 4</a:t>
            </a:r>
            <a:endParaRPr lang="en-US" sz="1000" dirty="0"/>
          </a:p>
        </p:txBody>
      </p:sp>
      <p:sp>
        <p:nvSpPr>
          <p:cNvPr id="5" name="Text 3"/>
          <p:cNvSpPr/>
          <p:nvPr/>
        </p:nvSpPr>
        <p:spPr>
          <a:xfrm>
            <a:off x="274320" y="731520"/>
            <a:ext cx="2560320" cy="1645920"/>
          </a:xfrm>
          <a:prstGeom prst="rect">
            <a:avLst/>
          </a:prstGeom>
          <a:noFill/>
          <a:ln/>
        </p:spPr>
        <p:txBody>
          <a:bodyPr wrap="square" lIns="0" tIns="0" rIns="0" bIns="0" rtlCol="0" anchor="ctr"/>
          <a:lstStyle/>
          <a:p>
            <a:pPr indent="0" marL="0">
              <a:buNone/>
            </a:pPr>
            <a:r>
              <a:rPr lang="en-US" sz="10000" b="1" dirty="0">
                <a:solidFill>
                  <a:srgbClr val="00FF88">
                    <a:alpha val="90000"/>
                  </a:srgbClr>
                </a:solidFill>
                <a:latin typeface="Consolas" pitchFamily="34" charset="0"/>
                <a:ea typeface="Consolas" pitchFamily="34" charset="-122"/>
                <a:cs typeface="Consolas" pitchFamily="34" charset="-120"/>
              </a:rPr>
              <a:t>04</a:t>
            </a:r>
            <a:endParaRPr lang="en-US" sz="10000" dirty="0"/>
          </a:p>
        </p:txBody>
      </p:sp>
      <p:pic>
        <p:nvPicPr>
          <p:cNvPr id="6" name="Image 0" descr="preencoded.png">    </p:cNvPr>
          <p:cNvPicPr>
            <a:picLocks noChangeAspect="1"/>
          </p:cNvPicPr>
          <p:nvPr/>
        </p:nvPicPr>
        <p:blipFill>
          <a:blip r:embed="rId1"/>
          <a:stretch>
            <a:fillRect/>
          </a:stretch>
        </p:blipFill>
        <p:spPr>
          <a:xfrm>
            <a:off x="822960" y="2926080"/>
            <a:ext cx="1463040" cy="1463040"/>
          </a:xfrm>
          <a:prstGeom prst="rect">
            <a:avLst/>
          </a:prstGeom>
        </p:spPr>
      </p:pic>
      <p:sp>
        <p:nvSpPr>
          <p:cNvPr id="7" name="Text 4"/>
          <p:cNvSpPr/>
          <p:nvPr/>
        </p:nvSpPr>
        <p:spPr>
          <a:xfrm>
            <a:off x="3474720" y="1463040"/>
            <a:ext cx="5394960" cy="1371600"/>
          </a:xfrm>
          <a:prstGeom prst="rect">
            <a:avLst/>
          </a:prstGeom>
          <a:noFill/>
          <a:ln/>
        </p:spPr>
        <p:txBody>
          <a:bodyPr wrap="square" lIns="0" tIns="0" rIns="0" bIns="0" rtlCol="0" anchor="ctr"/>
          <a:lstStyle/>
          <a:p>
            <a:pPr indent="0" marL="0">
              <a:buNone/>
            </a:pPr>
            <a:r>
              <a:rPr lang="en-US" sz="3600" b="1" dirty="0">
                <a:solidFill>
                  <a:srgbClr val="FFFFFF"/>
                </a:solidFill>
                <a:latin typeface="Consolas" pitchFamily="34" charset="0"/>
                <a:ea typeface="Consolas" pitchFamily="34" charset="-122"/>
                <a:cs typeface="Consolas" pitchFamily="34" charset="-120"/>
              </a:rPr>
              <a:t>Assembly Language</a:t>
            </a:r>
            <a:endParaRPr lang="en-US" sz="3600" dirty="0"/>
          </a:p>
        </p:txBody>
      </p:sp>
      <p:sp>
        <p:nvSpPr>
          <p:cNvPr id="8" name="Text 5"/>
          <p:cNvSpPr/>
          <p:nvPr/>
        </p:nvSpPr>
        <p:spPr>
          <a:xfrm>
            <a:off x="3474720" y="2926080"/>
            <a:ext cx="5394960" cy="1097280"/>
          </a:xfrm>
          <a:prstGeom prst="rect">
            <a:avLst/>
          </a:prstGeom>
          <a:noFill/>
          <a:ln/>
        </p:spPr>
        <p:txBody>
          <a:bodyPr wrap="square" lIns="0" tIns="0" rIns="0" bIns="0" rtlCol="0" anchor="ctr"/>
          <a:lstStyle/>
          <a:p>
            <a:pPr indent="0" marL="0">
              <a:buNone/>
            </a:pPr>
            <a:r>
              <a:rPr lang="en-US" sz="1400" dirty="0">
                <a:solidFill>
                  <a:srgbClr val="8B9BB4"/>
                </a:solidFill>
                <a:latin typeface="Calibri" pitchFamily="34" charset="0"/>
                <a:ea typeface="Calibri" pitchFamily="34" charset="-122"/>
                <a:cs typeface="Calibri" pitchFamily="34" charset="-120"/>
              </a:rPr>
              <a:t>The language of the CPU — instructions, registers, and the stack.</a:t>
            </a:r>
            <a:endParaRPr lang="en-US" sz="1400" dirty="0"/>
          </a:p>
        </p:txBody>
      </p:sp>
      <p:sp>
        <p:nvSpPr>
          <p:cNvPr id="9" name="Shape 6"/>
          <p:cNvSpPr/>
          <p:nvPr/>
        </p:nvSpPr>
        <p:spPr>
          <a:xfrm>
            <a:off x="3474720" y="4297680"/>
            <a:ext cx="91440" cy="91440"/>
          </a:xfrm>
          <a:prstGeom prst="ellipse">
            <a:avLst/>
          </a:prstGeom>
          <a:solidFill>
            <a:srgbClr val="00FF88"/>
          </a:solidFill>
          <a:ln w="12700">
            <a:solidFill>
              <a:srgbClr val="00FF88"/>
            </a:solidFill>
            <a:prstDash val="solid"/>
          </a:ln>
        </p:spPr>
      </p:sp>
      <p:sp>
        <p:nvSpPr>
          <p:cNvPr id="10" name="Shape 7"/>
          <p:cNvSpPr/>
          <p:nvPr/>
        </p:nvSpPr>
        <p:spPr>
          <a:xfrm>
            <a:off x="3794760" y="4297680"/>
            <a:ext cx="91440" cy="91440"/>
          </a:xfrm>
          <a:prstGeom prst="ellipse">
            <a:avLst/>
          </a:prstGeom>
          <a:solidFill>
            <a:srgbClr val="00FF88">
              <a:alpha val="85000"/>
            </a:srgbClr>
          </a:solidFill>
          <a:ln w="12700">
            <a:solidFill>
              <a:srgbClr val="00FF88">
                <a:alpha val="85000"/>
              </a:srgbClr>
            </a:solidFill>
            <a:prstDash val="solid"/>
          </a:ln>
        </p:spPr>
      </p:sp>
      <p:sp>
        <p:nvSpPr>
          <p:cNvPr id="11" name="Shape 8"/>
          <p:cNvSpPr/>
          <p:nvPr/>
        </p:nvSpPr>
        <p:spPr>
          <a:xfrm>
            <a:off x="4114800" y="4297680"/>
            <a:ext cx="91440" cy="91440"/>
          </a:xfrm>
          <a:prstGeom prst="ellipse">
            <a:avLst/>
          </a:prstGeom>
          <a:solidFill>
            <a:srgbClr val="00FF88">
              <a:alpha val="70000"/>
            </a:srgbClr>
          </a:solidFill>
          <a:ln w="12700">
            <a:solidFill>
              <a:srgbClr val="00FF88">
                <a:alpha val="70000"/>
              </a:srgbClr>
            </a:solidFill>
            <a:prstDash val="solid"/>
          </a:ln>
        </p:spPr>
      </p:sp>
      <p:sp>
        <p:nvSpPr>
          <p:cNvPr id="12" name="Shape 9"/>
          <p:cNvSpPr/>
          <p:nvPr/>
        </p:nvSpPr>
        <p:spPr>
          <a:xfrm>
            <a:off x="4434840" y="4297680"/>
            <a:ext cx="91440" cy="91440"/>
          </a:xfrm>
          <a:prstGeom prst="ellipse">
            <a:avLst/>
          </a:prstGeom>
          <a:solidFill>
            <a:srgbClr val="00FF88">
              <a:alpha val="55000"/>
            </a:srgbClr>
          </a:solidFill>
          <a:ln w="12700">
            <a:solidFill>
              <a:srgbClr val="00FF88">
                <a:alpha val="55000"/>
              </a:srgbClr>
            </a:solidFill>
            <a:prstDash val="solid"/>
          </a:ln>
        </p:spPr>
      </p:sp>
      <p:sp>
        <p:nvSpPr>
          <p:cNvPr id="13" name="Shape 10"/>
          <p:cNvSpPr/>
          <p:nvPr/>
        </p:nvSpPr>
        <p:spPr>
          <a:xfrm>
            <a:off x="4754880" y="4297680"/>
            <a:ext cx="91440" cy="91440"/>
          </a:xfrm>
          <a:prstGeom prst="ellipse">
            <a:avLst/>
          </a:prstGeom>
          <a:solidFill>
            <a:srgbClr val="00FF88">
              <a:alpha val="40000"/>
            </a:srgbClr>
          </a:solidFill>
          <a:ln w="12700">
            <a:solidFill>
              <a:srgbClr val="00FF88">
                <a:alpha val="40000"/>
              </a:srgbClr>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164592" y="164592"/>
            <a:ext cx="365760" cy="45720"/>
          </a:xfrm>
          <a:prstGeom prst="rect">
            <a:avLst/>
          </a:prstGeom>
          <a:solidFill>
            <a:srgbClr val="00FF88"/>
          </a:solidFill>
          <a:ln w="12700">
            <a:solidFill>
              <a:srgbClr val="00FF88"/>
            </a:solidFill>
            <a:prstDash val="solid"/>
          </a:ln>
        </p:spPr>
      </p:sp>
      <p:sp>
        <p:nvSpPr>
          <p:cNvPr id="3" name="Shape 1"/>
          <p:cNvSpPr/>
          <p:nvPr/>
        </p:nvSpPr>
        <p:spPr>
          <a:xfrm>
            <a:off x="164592" y="164592"/>
            <a:ext cx="45720" cy="274320"/>
          </a:xfrm>
          <a:prstGeom prst="rect">
            <a:avLst/>
          </a:prstGeom>
          <a:solidFill>
            <a:srgbClr val="00FF88"/>
          </a:solidFill>
          <a:ln w="12700">
            <a:solidFill>
              <a:srgbClr val="00FF88"/>
            </a:solidFill>
            <a:prstDash val="solid"/>
          </a:ln>
        </p:spPr>
      </p:sp>
      <p:sp>
        <p:nvSpPr>
          <p:cNvPr id="4" name="Shape 2"/>
          <p:cNvSpPr/>
          <p:nvPr/>
        </p:nvSpPr>
        <p:spPr>
          <a:xfrm>
            <a:off x="8613648" y="4910328"/>
            <a:ext cx="365760" cy="45720"/>
          </a:xfrm>
          <a:prstGeom prst="rect">
            <a:avLst/>
          </a:prstGeom>
          <a:solidFill>
            <a:srgbClr val="00D4FF"/>
          </a:solidFill>
          <a:ln w="12700">
            <a:solidFill>
              <a:srgbClr val="00D4FF"/>
            </a:solidFill>
            <a:prstDash val="solid"/>
          </a:ln>
        </p:spPr>
      </p:sp>
      <p:sp>
        <p:nvSpPr>
          <p:cNvPr id="5" name="Shape 3"/>
          <p:cNvSpPr/>
          <p:nvPr/>
        </p:nvSpPr>
        <p:spPr>
          <a:xfrm>
            <a:off x="8933688" y="4681728"/>
            <a:ext cx="45720" cy="274320"/>
          </a:xfrm>
          <a:prstGeom prst="rect">
            <a:avLst/>
          </a:prstGeom>
          <a:solidFill>
            <a:srgbClr val="00D4FF"/>
          </a:solidFill>
          <a:ln w="12700">
            <a:solidFill>
              <a:srgbClr val="00D4FF"/>
            </a:solidFill>
            <a:prstDash val="solid"/>
          </a:ln>
        </p:spPr>
      </p:sp>
      <p:sp>
        <p:nvSpPr>
          <p:cNvPr id="6" name="Shape 4"/>
          <p:cNvSpPr/>
          <p:nvPr/>
        </p:nvSpPr>
        <p:spPr>
          <a:xfrm>
            <a:off x="411480" y="201168"/>
            <a:ext cx="2377440" cy="256032"/>
          </a:xfrm>
          <a:prstGeom prst="rect">
            <a:avLst/>
          </a:prstGeom>
          <a:solidFill>
            <a:srgbClr val="00FF88"/>
          </a:solidFill>
          <a:ln w="12700">
            <a:solidFill>
              <a:srgbClr val="00FF88"/>
            </a:solidFill>
            <a:prstDash val="solid"/>
          </a:ln>
        </p:spPr>
      </p:sp>
      <p:sp>
        <p:nvSpPr>
          <p:cNvPr id="7" name="Text 5"/>
          <p:cNvSpPr/>
          <p:nvPr/>
        </p:nvSpPr>
        <p:spPr>
          <a:xfrm>
            <a:off x="411480" y="201168"/>
            <a:ext cx="2377440" cy="256032"/>
          </a:xfrm>
          <a:prstGeom prst="rect">
            <a:avLst/>
          </a:prstGeom>
          <a:noFill/>
          <a:ln/>
        </p:spPr>
        <p:txBody>
          <a:bodyPr wrap="square" lIns="0" tIns="0" rIns="0" bIns="0" rtlCol="0" anchor="ctr"/>
          <a:lstStyle/>
          <a:p>
            <a:pPr algn="ctr" indent="0" marL="0">
              <a:buNone/>
            </a:pPr>
            <a:r>
              <a:rPr lang="en-US" sz="900" b="1" dirty="0">
                <a:solidFill>
                  <a:srgbClr val="0A0E1A"/>
                </a:solidFill>
                <a:latin typeface="Consolas" pitchFamily="34" charset="0"/>
                <a:ea typeface="Consolas" pitchFamily="34" charset="-122"/>
                <a:cs typeface="Consolas" pitchFamily="34" charset="-120"/>
              </a:rPr>
              <a:t>SECTION 4 · ASSEMBLY</a:t>
            </a:r>
            <a:endParaRPr lang="en-US" sz="900" dirty="0"/>
          </a:p>
        </p:txBody>
      </p:sp>
      <p:sp>
        <p:nvSpPr>
          <p:cNvPr id="8" name="Text 6"/>
          <p:cNvSpPr/>
          <p:nvPr/>
        </p:nvSpPr>
        <p:spPr>
          <a:xfrm>
            <a:off x="411480" y="530352"/>
            <a:ext cx="8321040" cy="594360"/>
          </a:xfrm>
          <a:prstGeom prst="rect">
            <a:avLst/>
          </a:prstGeom>
          <a:noFill/>
          <a:ln/>
        </p:spPr>
        <p:txBody>
          <a:bodyPr wrap="square" lIns="0" tIns="0" rIns="0" bIns="0" rtlCol="0" anchor="ctr"/>
          <a:lstStyle/>
          <a:p>
            <a:pPr algn="l" indent="0" marL="0">
              <a:buNone/>
            </a:pPr>
            <a:r>
              <a:rPr lang="en-US" sz="2800" b="1" dirty="0">
                <a:solidFill>
                  <a:srgbClr val="00FF88"/>
                </a:solidFill>
                <a:latin typeface="Consolas" pitchFamily="34" charset="0"/>
                <a:ea typeface="Consolas" pitchFamily="34" charset="-122"/>
                <a:cs typeface="Consolas" pitchFamily="34" charset="-120"/>
              </a:rPr>
              <a:t>Common x86 Assembly Instructions</a:t>
            </a:r>
            <a:endParaRPr lang="en-US" sz="2800" dirty="0"/>
          </a:p>
        </p:txBody>
      </p:sp>
      <p:sp>
        <p:nvSpPr>
          <p:cNvPr id="9" name="Text 7"/>
          <p:cNvSpPr/>
          <p:nvPr/>
        </p:nvSpPr>
        <p:spPr>
          <a:xfrm>
            <a:off x="411480" y="1051560"/>
            <a:ext cx="8321040" cy="320040"/>
          </a:xfrm>
          <a:prstGeom prst="rect">
            <a:avLst/>
          </a:prstGeom>
          <a:noFill/>
          <a:ln/>
        </p:spPr>
        <p:txBody>
          <a:bodyPr wrap="square" lIns="0" tIns="0" rIns="0" bIns="0" rtlCol="0" anchor="ctr"/>
          <a:lstStyle/>
          <a:p>
            <a:pPr algn="l" indent="0" marL="0">
              <a:buNone/>
            </a:pPr>
            <a:r>
              <a:rPr lang="en-US" sz="1300" dirty="0">
                <a:solidFill>
                  <a:srgbClr val="8B9BB4"/>
                </a:solidFill>
                <a:latin typeface="Calibri" pitchFamily="34" charset="0"/>
                <a:ea typeface="Calibri" pitchFamily="34" charset="-122"/>
                <a:cs typeface="Calibri" pitchFamily="34" charset="-120"/>
              </a:rPr>
              <a:t>The vocabulary of reverse engineering — learn these and you can read any binary.</a:t>
            </a:r>
            <a:endParaRPr lang="en-US" sz="1300" dirty="0"/>
          </a:p>
        </p:txBody>
      </p:sp>
      <p:sp>
        <p:nvSpPr>
          <p:cNvPr id="10" name="Text 8"/>
          <p:cNvSpPr/>
          <p:nvPr/>
        </p:nvSpPr>
        <p:spPr>
          <a:xfrm>
            <a:off x="8686800" y="4754880"/>
            <a:ext cx="365760" cy="228600"/>
          </a:xfrm>
          <a:prstGeom prst="rect">
            <a:avLst/>
          </a:prstGeom>
          <a:noFill/>
          <a:ln/>
        </p:spPr>
        <p:txBody>
          <a:bodyPr wrap="square" lIns="0" tIns="0" rIns="0" bIns="0" rtlCol="0" anchor="ctr"/>
          <a:lstStyle/>
          <a:p>
            <a:pPr algn="r" indent="0" marL="0">
              <a:buNone/>
            </a:pPr>
            <a:r>
              <a:rPr lang="en-US" sz="900" dirty="0">
                <a:solidFill>
                  <a:srgbClr val="8B9BB4"/>
                </a:solidFill>
                <a:latin typeface="Consolas" pitchFamily="34" charset="0"/>
                <a:ea typeface="Consolas" pitchFamily="34" charset="-122"/>
                <a:cs typeface="Consolas" pitchFamily="34" charset="-120"/>
              </a:rPr>
              <a:t>11</a:t>
            </a:r>
            <a:endParaRPr lang="en-US" sz="900" dirty="0"/>
          </a:p>
        </p:txBody>
      </p:sp>
      <p:sp>
        <p:nvSpPr>
          <p:cNvPr id="11" name="Shape 9"/>
          <p:cNvSpPr/>
          <p:nvPr/>
        </p:nvSpPr>
        <p:spPr>
          <a:xfrm>
            <a:off x="320040" y="1234440"/>
            <a:ext cx="4114800" cy="804672"/>
          </a:xfrm>
          <a:prstGeom prst="rect">
            <a:avLst/>
          </a:prstGeom>
          <a:solidFill>
            <a:srgbClr val="111827"/>
          </a:solidFill>
          <a:ln w="12700">
            <a:solidFill>
              <a:srgbClr val="00D4FF"/>
            </a:solidFill>
            <a:prstDash val="solid"/>
          </a:ln>
        </p:spPr>
      </p:sp>
      <p:sp>
        <p:nvSpPr>
          <p:cNvPr id="12" name="Shape 10"/>
          <p:cNvSpPr/>
          <p:nvPr/>
        </p:nvSpPr>
        <p:spPr>
          <a:xfrm>
            <a:off x="320040" y="1234440"/>
            <a:ext cx="685800" cy="804672"/>
          </a:xfrm>
          <a:prstGeom prst="rect">
            <a:avLst/>
          </a:prstGeom>
          <a:solidFill>
            <a:srgbClr val="00D4FF">
              <a:alpha val="25000"/>
            </a:srgbClr>
          </a:solidFill>
          <a:ln w="12700">
            <a:solidFill>
              <a:srgbClr val="00D4FF">
                <a:alpha val="25000"/>
              </a:srgbClr>
            </a:solidFill>
            <a:prstDash val="solid"/>
          </a:ln>
        </p:spPr>
      </p:sp>
      <p:sp>
        <p:nvSpPr>
          <p:cNvPr id="13" name="Text 11"/>
          <p:cNvSpPr/>
          <p:nvPr/>
        </p:nvSpPr>
        <p:spPr>
          <a:xfrm>
            <a:off x="320040" y="1234440"/>
            <a:ext cx="685800" cy="804672"/>
          </a:xfrm>
          <a:prstGeom prst="rect">
            <a:avLst/>
          </a:prstGeom>
          <a:noFill/>
          <a:ln/>
        </p:spPr>
        <p:txBody>
          <a:bodyPr wrap="square" lIns="0" tIns="0" rIns="0" bIns="0" rtlCol="0" anchor="ctr"/>
          <a:lstStyle/>
          <a:p>
            <a:pPr algn="ctr" indent="0" marL="0">
              <a:buNone/>
            </a:pPr>
            <a:r>
              <a:rPr lang="en-US" sz="1300" b="1" dirty="0">
                <a:solidFill>
                  <a:srgbClr val="00D4FF"/>
                </a:solidFill>
                <a:latin typeface="Consolas" pitchFamily="34" charset="0"/>
                <a:ea typeface="Consolas" pitchFamily="34" charset="-122"/>
                <a:cs typeface="Consolas" pitchFamily="34" charset="-120"/>
              </a:rPr>
              <a:t>MOV</a:t>
            </a:r>
            <a:endParaRPr lang="en-US" sz="1300" dirty="0"/>
          </a:p>
        </p:txBody>
      </p:sp>
      <p:sp>
        <p:nvSpPr>
          <p:cNvPr id="14" name="Text 12"/>
          <p:cNvSpPr/>
          <p:nvPr/>
        </p:nvSpPr>
        <p:spPr>
          <a:xfrm>
            <a:off x="1097280" y="1307592"/>
            <a:ext cx="3200400" cy="274320"/>
          </a:xfrm>
          <a:prstGeom prst="rect">
            <a:avLst/>
          </a:prstGeom>
          <a:noFill/>
          <a:ln/>
        </p:spPr>
        <p:txBody>
          <a:bodyPr wrap="square" lIns="0" tIns="0" rIns="0" bIns="0" rtlCol="0" anchor="ctr"/>
          <a:lstStyle/>
          <a:p>
            <a:pPr indent="0" marL="0">
              <a:buNone/>
            </a:pPr>
            <a:r>
              <a:rPr lang="en-US" sz="1000" dirty="0">
                <a:solidFill>
                  <a:srgbClr val="00FF88"/>
                </a:solidFill>
                <a:latin typeface="Consolas" pitchFamily="34" charset="0"/>
                <a:ea typeface="Consolas" pitchFamily="34" charset="-122"/>
                <a:cs typeface="Consolas" pitchFamily="34" charset="-120"/>
              </a:rPr>
              <a:t>MOV EAX, 5</a:t>
            </a:r>
            <a:endParaRPr lang="en-US" sz="1000" dirty="0"/>
          </a:p>
        </p:txBody>
      </p:sp>
      <p:sp>
        <p:nvSpPr>
          <p:cNvPr id="15" name="Text 13"/>
          <p:cNvSpPr/>
          <p:nvPr/>
        </p:nvSpPr>
        <p:spPr>
          <a:xfrm>
            <a:off x="1097280" y="1636776"/>
            <a:ext cx="3200400" cy="320040"/>
          </a:xfrm>
          <a:prstGeom prst="rect">
            <a:avLst/>
          </a:prstGeom>
          <a:noFill/>
          <a:ln/>
        </p:spPr>
        <p:txBody>
          <a:bodyPr wrap="square" lIns="0" tIns="0" rIns="0" bIns="0" rtlCol="0" anchor="ctr"/>
          <a:lstStyle/>
          <a:p>
            <a:pPr indent="0" marL="0">
              <a:buNone/>
            </a:pPr>
            <a:r>
              <a:rPr lang="en-US" sz="950" dirty="0">
                <a:solidFill>
                  <a:srgbClr val="8B9BB4"/>
                </a:solidFill>
                <a:latin typeface="Calibri" pitchFamily="34" charset="0"/>
                <a:ea typeface="Calibri" pitchFamily="34" charset="-122"/>
                <a:cs typeface="Calibri" pitchFamily="34" charset="-120"/>
              </a:rPr>
              <a:t>Copy value into register or memory</a:t>
            </a:r>
            <a:endParaRPr lang="en-US" sz="950" dirty="0"/>
          </a:p>
        </p:txBody>
      </p:sp>
      <p:sp>
        <p:nvSpPr>
          <p:cNvPr id="16" name="Shape 14"/>
          <p:cNvSpPr/>
          <p:nvPr/>
        </p:nvSpPr>
        <p:spPr>
          <a:xfrm>
            <a:off x="4754880" y="1234440"/>
            <a:ext cx="4114800" cy="804672"/>
          </a:xfrm>
          <a:prstGeom prst="rect">
            <a:avLst/>
          </a:prstGeom>
          <a:solidFill>
            <a:srgbClr val="111827"/>
          </a:solidFill>
          <a:ln w="12700">
            <a:solidFill>
              <a:srgbClr val="00FF88"/>
            </a:solidFill>
            <a:prstDash val="solid"/>
          </a:ln>
        </p:spPr>
      </p:sp>
      <p:sp>
        <p:nvSpPr>
          <p:cNvPr id="17" name="Shape 15"/>
          <p:cNvSpPr/>
          <p:nvPr/>
        </p:nvSpPr>
        <p:spPr>
          <a:xfrm>
            <a:off x="4754880" y="1234440"/>
            <a:ext cx="685800" cy="804672"/>
          </a:xfrm>
          <a:prstGeom prst="rect">
            <a:avLst/>
          </a:prstGeom>
          <a:solidFill>
            <a:srgbClr val="00FF88">
              <a:alpha val="25000"/>
            </a:srgbClr>
          </a:solidFill>
          <a:ln w="12700">
            <a:solidFill>
              <a:srgbClr val="00FF88">
                <a:alpha val="25000"/>
              </a:srgbClr>
            </a:solidFill>
            <a:prstDash val="solid"/>
          </a:ln>
        </p:spPr>
      </p:sp>
      <p:sp>
        <p:nvSpPr>
          <p:cNvPr id="18" name="Text 16"/>
          <p:cNvSpPr/>
          <p:nvPr/>
        </p:nvSpPr>
        <p:spPr>
          <a:xfrm>
            <a:off x="4754880" y="1234440"/>
            <a:ext cx="685800" cy="804672"/>
          </a:xfrm>
          <a:prstGeom prst="rect">
            <a:avLst/>
          </a:prstGeom>
          <a:noFill/>
          <a:ln/>
        </p:spPr>
        <p:txBody>
          <a:bodyPr wrap="square" lIns="0" tIns="0" rIns="0" bIns="0" rtlCol="0" anchor="ctr"/>
          <a:lstStyle/>
          <a:p>
            <a:pPr algn="ctr" indent="0" marL="0">
              <a:buNone/>
            </a:pPr>
            <a:r>
              <a:rPr lang="en-US" sz="1300" b="1" dirty="0">
                <a:solidFill>
                  <a:srgbClr val="00FF88"/>
                </a:solidFill>
                <a:latin typeface="Consolas" pitchFamily="34" charset="0"/>
                <a:ea typeface="Consolas" pitchFamily="34" charset="-122"/>
                <a:cs typeface="Consolas" pitchFamily="34" charset="-120"/>
              </a:rPr>
              <a:t>PUSH</a:t>
            </a:r>
            <a:endParaRPr lang="en-US" sz="1300" dirty="0"/>
          </a:p>
        </p:txBody>
      </p:sp>
      <p:sp>
        <p:nvSpPr>
          <p:cNvPr id="19" name="Text 17"/>
          <p:cNvSpPr/>
          <p:nvPr/>
        </p:nvSpPr>
        <p:spPr>
          <a:xfrm>
            <a:off x="5532120" y="1307592"/>
            <a:ext cx="3200400" cy="274320"/>
          </a:xfrm>
          <a:prstGeom prst="rect">
            <a:avLst/>
          </a:prstGeom>
          <a:noFill/>
          <a:ln/>
        </p:spPr>
        <p:txBody>
          <a:bodyPr wrap="square" lIns="0" tIns="0" rIns="0" bIns="0" rtlCol="0" anchor="ctr"/>
          <a:lstStyle/>
          <a:p>
            <a:pPr indent="0" marL="0">
              <a:buNone/>
            </a:pPr>
            <a:r>
              <a:rPr lang="en-US" sz="1000" dirty="0">
                <a:solidFill>
                  <a:srgbClr val="00FF88"/>
                </a:solidFill>
                <a:latin typeface="Consolas" pitchFamily="34" charset="0"/>
                <a:ea typeface="Consolas" pitchFamily="34" charset="-122"/>
                <a:cs typeface="Consolas" pitchFamily="34" charset="-120"/>
              </a:rPr>
              <a:t>PUSH EAX</a:t>
            </a:r>
            <a:endParaRPr lang="en-US" sz="1000" dirty="0"/>
          </a:p>
        </p:txBody>
      </p:sp>
      <p:sp>
        <p:nvSpPr>
          <p:cNvPr id="20" name="Text 18"/>
          <p:cNvSpPr/>
          <p:nvPr/>
        </p:nvSpPr>
        <p:spPr>
          <a:xfrm>
            <a:off x="5532120" y="1636776"/>
            <a:ext cx="3200400" cy="320040"/>
          </a:xfrm>
          <a:prstGeom prst="rect">
            <a:avLst/>
          </a:prstGeom>
          <a:noFill/>
          <a:ln/>
        </p:spPr>
        <p:txBody>
          <a:bodyPr wrap="square" lIns="0" tIns="0" rIns="0" bIns="0" rtlCol="0" anchor="ctr"/>
          <a:lstStyle/>
          <a:p>
            <a:pPr indent="0" marL="0">
              <a:buNone/>
            </a:pPr>
            <a:r>
              <a:rPr lang="en-US" sz="950" dirty="0">
                <a:solidFill>
                  <a:srgbClr val="8B9BB4"/>
                </a:solidFill>
                <a:latin typeface="Calibri" pitchFamily="34" charset="0"/>
                <a:ea typeface="Calibri" pitchFamily="34" charset="-122"/>
                <a:cs typeface="Calibri" pitchFamily="34" charset="-120"/>
              </a:rPr>
              <a:t>Put value on top of stack; ESP decreases</a:t>
            </a:r>
            <a:endParaRPr lang="en-US" sz="950" dirty="0"/>
          </a:p>
        </p:txBody>
      </p:sp>
      <p:sp>
        <p:nvSpPr>
          <p:cNvPr id="21" name="Shape 19"/>
          <p:cNvSpPr/>
          <p:nvPr/>
        </p:nvSpPr>
        <p:spPr>
          <a:xfrm>
            <a:off x="320040" y="2167128"/>
            <a:ext cx="4114800" cy="804672"/>
          </a:xfrm>
          <a:prstGeom prst="rect">
            <a:avLst/>
          </a:prstGeom>
          <a:solidFill>
            <a:srgbClr val="111827"/>
          </a:solidFill>
          <a:ln w="12700">
            <a:solidFill>
              <a:srgbClr val="00FF88"/>
            </a:solidFill>
            <a:prstDash val="solid"/>
          </a:ln>
        </p:spPr>
      </p:sp>
      <p:sp>
        <p:nvSpPr>
          <p:cNvPr id="22" name="Shape 20"/>
          <p:cNvSpPr/>
          <p:nvPr/>
        </p:nvSpPr>
        <p:spPr>
          <a:xfrm>
            <a:off x="320040" y="2167128"/>
            <a:ext cx="685800" cy="804672"/>
          </a:xfrm>
          <a:prstGeom prst="rect">
            <a:avLst/>
          </a:prstGeom>
          <a:solidFill>
            <a:srgbClr val="00FF88">
              <a:alpha val="25000"/>
            </a:srgbClr>
          </a:solidFill>
          <a:ln w="12700">
            <a:solidFill>
              <a:srgbClr val="00FF88">
                <a:alpha val="25000"/>
              </a:srgbClr>
            </a:solidFill>
            <a:prstDash val="solid"/>
          </a:ln>
        </p:spPr>
      </p:sp>
      <p:sp>
        <p:nvSpPr>
          <p:cNvPr id="23" name="Text 21"/>
          <p:cNvSpPr/>
          <p:nvPr/>
        </p:nvSpPr>
        <p:spPr>
          <a:xfrm>
            <a:off x="320040" y="2167128"/>
            <a:ext cx="685800" cy="804672"/>
          </a:xfrm>
          <a:prstGeom prst="rect">
            <a:avLst/>
          </a:prstGeom>
          <a:noFill/>
          <a:ln/>
        </p:spPr>
        <p:txBody>
          <a:bodyPr wrap="square" lIns="0" tIns="0" rIns="0" bIns="0" rtlCol="0" anchor="ctr"/>
          <a:lstStyle/>
          <a:p>
            <a:pPr algn="ctr" indent="0" marL="0">
              <a:buNone/>
            </a:pPr>
            <a:r>
              <a:rPr lang="en-US" sz="1300" b="1" dirty="0">
                <a:solidFill>
                  <a:srgbClr val="00FF88"/>
                </a:solidFill>
                <a:latin typeface="Consolas" pitchFamily="34" charset="0"/>
                <a:ea typeface="Consolas" pitchFamily="34" charset="-122"/>
                <a:cs typeface="Consolas" pitchFamily="34" charset="-120"/>
              </a:rPr>
              <a:t>POP</a:t>
            </a:r>
            <a:endParaRPr lang="en-US" sz="1300" dirty="0"/>
          </a:p>
        </p:txBody>
      </p:sp>
      <p:sp>
        <p:nvSpPr>
          <p:cNvPr id="24" name="Text 22"/>
          <p:cNvSpPr/>
          <p:nvPr/>
        </p:nvSpPr>
        <p:spPr>
          <a:xfrm>
            <a:off x="1097280" y="2240280"/>
            <a:ext cx="3200400" cy="274320"/>
          </a:xfrm>
          <a:prstGeom prst="rect">
            <a:avLst/>
          </a:prstGeom>
          <a:noFill/>
          <a:ln/>
        </p:spPr>
        <p:txBody>
          <a:bodyPr wrap="square" lIns="0" tIns="0" rIns="0" bIns="0" rtlCol="0" anchor="ctr"/>
          <a:lstStyle/>
          <a:p>
            <a:pPr indent="0" marL="0">
              <a:buNone/>
            </a:pPr>
            <a:r>
              <a:rPr lang="en-US" sz="1000" dirty="0">
                <a:solidFill>
                  <a:srgbClr val="00FF88"/>
                </a:solidFill>
                <a:latin typeface="Consolas" pitchFamily="34" charset="0"/>
                <a:ea typeface="Consolas" pitchFamily="34" charset="-122"/>
                <a:cs typeface="Consolas" pitchFamily="34" charset="-120"/>
              </a:rPr>
              <a:t>POP EBX</a:t>
            </a:r>
            <a:endParaRPr lang="en-US" sz="1000" dirty="0"/>
          </a:p>
        </p:txBody>
      </p:sp>
      <p:sp>
        <p:nvSpPr>
          <p:cNvPr id="25" name="Text 23"/>
          <p:cNvSpPr/>
          <p:nvPr/>
        </p:nvSpPr>
        <p:spPr>
          <a:xfrm>
            <a:off x="1097280" y="2569464"/>
            <a:ext cx="3200400" cy="320040"/>
          </a:xfrm>
          <a:prstGeom prst="rect">
            <a:avLst/>
          </a:prstGeom>
          <a:noFill/>
          <a:ln/>
        </p:spPr>
        <p:txBody>
          <a:bodyPr wrap="square" lIns="0" tIns="0" rIns="0" bIns="0" rtlCol="0" anchor="ctr"/>
          <a:lstStyle/>
          <a:p>
            <a:pPr indent="0" marL="0">
              <a:buNone/>
            </a:pPr>
            <a:r>
              <a:rPr lang="en-US" sz="950" dirty="0">
                <a:solidFill>
                  <a:srgbClr val="8B9BB4"/>
                </a:solidFill>
                <a:latin typeface="Calibri" pitchFamily="34" charset="0"/>
                <a:ea typeface="Calibri" pitchFamily="34" charset="-122"/>
                <a:cs typeface="Calibri" pitchFamily="34" charset="-120"/>
              </a:rPr>
              <a:t>Remove top of stack into register</a:t>
            </a:r>
            <a:endParaRPr lang="en-US" sz="950" dirty="0"/>
          </a:p>
        </p:txBody>
      </p:sp>
      <p:sp>
        <p:nvSpPr>
          <p:cNvPr id="26" name="Shape 24"/>
          <p:cNvSpPr/>
          <p:nvPr/>
        </p:nvSpPr>
        <p:spPr>
          <a:xfrm>
            <a:off x="4754880" y="2167128"/>
            <a:ext cx="4114800" cy="804672"/>
          </a:xfrm>
          <a:prstGeom prst="rect">
            <a:avLst/>
          </a:prstGeom>
          <a:solidFill>
            <a:srgbClr val="111827"/>
          </a:solidFill>
          <a:ln w="12700">
            <a:solidFill>
              <a:srgbClr val="FF6B35"/>
            </a:solidFill>
            <a:prstDash val="solid"/>
          </a:ln>
        </p:spPr>
      </p:sp>
      <p:sp>
        <p:nvSpPr>
          <p:cNvPr id="27" name="Shape 25"/>
          <p:cNvSpPr/>
          <p:nvPr/>
        </p:nvSpPr>
        <p:spPr>
          <a:xfrm>
            <a:off x="4754880" y="2167128"/>
            <a:ext cx="685800" cy="804672"/>
          </a:xfrm>
          <a:prstGeom prst="rect">
            <a:avLst/>
          </a:prstGeom>
          <a:solidFill>
            <a:srgbClr val="FF6B35">
              <a:alpha val="25000"/>
            </a:srgbClr>
          </a:solidFill>
          <a:ln w="12700">
            <a:solidFill>
              <a:srgbClr val="FF6B35">
                <a:alpha val="25000"/>
              </a:srgbClr>
            </a:solidFill>
            <a:prstDash val="solid"/>
          </a:ln>
        </p:spPr>
      </p:sp>
      <p:sp>
        <p:nvSpPr>
          <p:cNvPr id="28" name="Text 26"/>
          <p:cNvSpPr/>
          <p:nvPr/>
        </p:nvSpPr>
        <p:spPr>
          <a:xfrm>
            <a:off x="4754880" y="2167128"/>
            <a:ext cx="685800" cy="804672"/>
          </a:xfrm>
          <a:prstGeom prst="rect">
            <a:avLst/>
          </a:prstGeom>
          <a:noFill/>
          <a:ln/>
        </p:spPr>
        <p:txBody>
          <a:bodyPr wrap="square" lIns="0" tIns="0" rIns="0" bIns="0" rtlCol="0" anchor="ctr"/>
          <a:lstStyle/>
          <a:p>
            <a:pPr algn="ctr" indent="0" marL="0">
              <a:buNone/>
            </a:pPr>
            <a:r>
              <a:rPr lang="en-US" sz="1300" b="1" dirty="0">
                <a:solidFill>
                  <a:srgbClr val="FF6B35"/>
                </a:solidFill>
                <a:latin typeface="Consolas" pitchFamily="34" charset="0"/>
                <a:ea typeface="Consolas" pitchFamily="34" charset="-122"/>
                <a:cs typeface="Consolas" pitchFamily="34" charset="-120"/>
              </a:rPr>
              <a:t>CALL</a:t>
            </a:r>
            <a:endParaRPr lang="en-US" sz="1300" dirty="0"/>
          </a:p>
        </p:txBody>
      </p:sp>
      <p:sp>
        <p:nvSpPr>
          <p:cNvPr id="29" name="Text 27"/>
          <p:cNvSpPr/>
          <p:nvPr/>
        </p:nvSpPr>
        <p:spPr>
          <a:xfrm>
            <a:off x="5532120" y="2240280"/>
            <a:ext cx="3200400" cy="274320"/>
          </a:xfrm>
          <a:prstGeom prst="rect">
            <a:avLst/>
          </a:prstGeom>
          <a:noFill/>
          <a:ln/>
        </p:spPr>
        <p:txBody>
          <a:bodyPr wrap="square" lIns="0" tIns="0" rIns="0" bIns="0" rtlCol="0" anchor="ctr"/>
          <a:lstStyle/>
          <a:p>
            <a:pPr indent="0" marL="0">
              <a:buNone/>
            </a:pPr>
            <a:r>
              <a:rPr lang="en-US" sz="1000" dirty="0">
                <a:solidFill>
                  <a:srgbClr val="00FF88"/>
                </a:solidFill>
                <a:latin typeface="Consolas" pitchFamily="34" charset="0"/>
                <a:ea typeface="Consolas" pitchFamily="34" charset="-122"/>
                <a:cs typeface="Consolas" pitchFamily="34" charset="-120"/>
              </a:rPr>
              <a:t>CALL 0x401000</a:t>
            </a:r>
            <a:endParaRPr lang="en-US" sz="1000" dirty="0"/>
          </a:p>
        </p:txBody>
      </p:sp>
      <p:sp>
        <p:nvSpPr>
          <p:cNvPr id="30" name="Text 28"/>
          <p:cNvSpPr/>
          <p:nvPr/>
        </p:nvSpPr>
        <p:spPr>
          <a:xfrm>
            <a:off x="5532120" y="2569464"/>
            <a:ext cx="3200400" cy="320040"/>
          </a:xfrm>
          <a:prstGeom prst="rect">
            <a:avLst/>
          </a:prstGeom>
          <a:noFill/>
          <a:ln/>
        </p:spPr>
        <p:txBody>
          <a:bodyPr wrap="square" lIns="0" tIns="0" rIns="0" bIns="0" rtlCol="0" anchor="ctr"/>
          <a:lstStyle/>
          <a:p>
            <a:pPr indent="0" marL="0">
              <a:buNone/>
            </a:pPr>
            <a:r>
              <a:rPr lang="en-US" sz="950" dirty="0">
                <a:solidFill>
                  <a:srgbClr val="8B9BB4"/>
                </a:solidFill>
                <a:latin typeface="Calibri" pitchFamily="34" charset="0"/>
                <a:ea typeface="Calibri" pitchFamily="34" charset="-122"/>
                <a:cs typeface="Calibri" pitchFamily="34" charset="-120"/>
              </a:rPr>
              <a:t>Call a function (pushes return addr)</a:t>
            </a:r>
            <a:endParaRPr lang="en-US" sz="950" dirty="0"/>
          </a:p>
        </p:txBody>
      </p:sp>
      <p:sp>
        <p:nvSpPr>
          <p:cNvPr id="31" name="Shape 29"/>
          <p:cNvSpPr/>
          <p:nvPr/>
        </p:nvSpPr>
        <p:spPr>
          <a:xfrm>
            <a:off x="320040" y="3099816"/>
            <a:ext cx="4114800" cy="804672"/>
          </a:xfrm>
          <a:prstGeom prst="rect">
            <a:avLst/>
          </a:prstGeom>
          <a:solidFill>
            <a:srgbClr val="111827"/>
          </a:solidFill>
          <a:ln w="12700">
            <a:solidFill>
              <a:srgbClr val="FFD700"/>
            </a:solidFill>
            <a:prstDash val="solid"/>
          </a:ln>
        </p:spPr>
      </p:sp>
      <p:sp>
        <p:nvSpPr>
          <p:cNvPr id="32" name="Shape 30"/>
          <p:cNvSpPr/>
          <p:nvPr/>
        </p:nvSpPr>
        <p:spPr>
          <a:xfrm>
            <a:off x="320040" y="3099816"/>
            <a:ext cx="685800" cy="804672"/>
          </a:xfrm>
          <a:prstGeom prst="rect">
            <a:avLst/>
          </a:prstGeom>
          <a:solidFill>
            <a:srgbClr val="FFD700">
              <a:alpha val="25000"/>
            </a:srgbClr>
          </a:solidFill>
          <a:ln w="12700">
            <a:solidFill>
              <a:srgbClr val="FFD700">
                <a:alpha val="25000"/>
              </a:srgbClr>
            </a:solidFill>
            <a:prstDash val="solid"/>
          </a:ln>
        </p:spPr>
      </p:sp>
      <p:sp>
        <p:nvSpPr>
          <p:cNvPr id="33" name="Text 31"/>
          <p:cNvSpPr/>
          <p:nvPr/>
        </p:nvSpPr>
        <p:spPr>
          <a:xfrm>
            <a:off x="320040" y="3099816"/>
            <a:ext cx="685800" cy="804672"/>
          </a:xfrm>
          <a:prstGeom prst="rect">
            <a:avLst/>
          </a:prstGeom>
          <a:noFill/>
          <a:ln/>
        </p:spPr>
        <p:txBody>
          <a:bodyPr wrap="square" lIns="0" tIns="0" rIns="0" bIns="0" rtlCol="0" anchor="ctr"/>
          <a:lstStyle/>
          <a:p>
            <a:pPr algn="ctr" indent="0" marL="0">
              <a:buNone/>
            </a:pPr>
            <a:r>
              <a:rPr lang="en-US" sz="1300" b="1" dirty="0">
                <a:solidFill>
                  <a:srgbClr val="FFD700"/>
                </a:solidFill>
                <a:latin typeface="Consolas" pitchFamily="34" charset="0"/>
                <a:ea typeface="Consolas" pitchFamily="34" charset="-122"/>
                <a:cs typeface="Consolas" pitchFamily="34" charset="-120"/>
              </a:rPr>
              <a:t>JMP</a:t>
            </a:r>
            <a:endParaRPr lang="en-US" sz="1300" dirty="0"/>
          </a:p>
        </p:txBody>
      </p:sp>
      <p:sp>
        <p:nvSpPr>
          <p:cNvPr id="34" name="Text 32"/>
          <p:cNvSpPr/>
          <p:nvPr/>
        </p:nvSpPr>
        <p:spPr>
          <a:xfrm>
            <a:off x="1097280" y="3172968"/>
            <a:ext cx="3200400" cy="274320"/>
          </a:xfrm>
          <a:prstGeom prst="rect">
            <a:avLst/>
          </a:prstGeom>
          <a:noFill/>
          <a:ln/>
        </p:spPr>
        <p:txBody>
          <a:bodyPr wrap="square" lIns="0" tIns="0" rIns="0" bIns="0" rtlCol="0" anchor="ctr"/>
          <a:lstStyle/>
          <a:p>
            <a:pPr indent="0" marL="0">
              <a:buNone/>
            </a:pPr>
            <a:r>
              <a:rPr lang="en-US" sz="1000" dirty="0">
                <a:solidFill>
                  <a:srgbClr val="00FF88"/>
                </a:solidFill>
                <a:latin typeface="Consolas" pitchFamily="34" charset="0"/>
                <a:ea typeface="Consolas" pitchFamily="34" charset="-122"/>
                <a:cs typeface="Consolas" pitchFamily="34" charset="-120"/>
              </a:rPr>
              <a:t>JMP 0x40108A</a:t>
            </a:r>
            <a:endParaRPr lang="en-US" sz="1000" dirty="0"/>
          </a:p>
        </p:txBody>
      </p:sp>
      <p:sp>
        <p:nvSpPr>
          <p:cNvPr id="35" name="Text 33"/>
          <p:cNvSpPr/>
          <p:nvPr/>
        </p:nvSpPr>
        <p:spPr>
          <a:xfrm>
            <a:off x="1097280" y="3502152"/>
            <a:ext cx="3200400" cy="320040"/>
          </a:xfrm>
          <a:prstGeom prst="rect">
            <a:avLst/>
          </a:prstGeom>
          <a:noFill/>
          <a:ln/>
        </p:spPr>
        <p:txBody>
          <a:bodyPr wrap="square" lIns="0" tIns="0" rIns="0" bIns="0" rtlCol="0" anchor="ctr"/>
          <a:lstStyle/>
          <a:p>
            <a:pPr indent="0" marL="0">
              <a:buNone/>
            </a:pPr>
            <a:r>
              <a:rPr lang="en-US" sz="950" dirty="0">
                <a:solidFill>
                  <a:srgbClr val="8B9BB4"/>
                </a:solidFill>
                <a:latin typeface="Calibri" pitchFamily="34" charset="0"/>
                <a:ea typeface="Calibri" pitchFamily="34" charset="-122"/>
                <a:cs typeface="Calibri" pitchFamily="34" charset="-120"/>
              </a:rPr>
              <a:t>Unconditional jump to address</a:t>
            </a:r>
            <a:endParaRPr lang="en-US" sz="950" dirty="0"/>
          </a:p>
        </p:txBody>
      </p:sp>
      <p:sp>
        <p:nvSpPr>
          <p:cNvPr id="36" name="Shape 34"/>
          <p:cNvSpPr/>
          <p:nvPr/>
        </p:nvSpPr>
        <p:spPr>
          <a:xfrm>
            <a:off x="4754880" y="3099816"/>
            <a:ext cx="4114800" cy="804672"/>
          </a:xfrm>
          <a:prstGeom prst="rect">
            <a:avLst/>
          </a:prstGeom>
          <a:solidFill>
            <a:srgbClr val="111827"/>
          </a:solidFill>
          <a:ln w="12700">
            <a:solidFill>
              <a:srgbClr val="A855F7"/>
            </a:solidFill>
            <a:prstDash val="solid"/>
          </a:ln>
        </p:spPr>
      </p:sp>
      <p:sp>
        <p:nvSpPr>
          <p:cNvPr id="37" name="Shape 35"/>
          <p:cNvSpPr/>
          <p:nvPr/>
        </p:nvSpPr>
        <p:spPr>
          <a:xfrm>
            <a:off x="4754880" y="3099816"/>
            <a:ext cx="685800" cy="804672"/>
          </a:xfrm>
          <a:prstGeom prst="rect">
            <a:avLst/>
          </a:prstGeom>
          <a:solidFill>
            <a:srgbClr val="A855F7">
              <a:alpha val="25000"/>
            </a:srgbClr>
          </a:solidFill>
          <a:ln w="12700">
            <a:solidFill>
              <a:srgbClr val="A855F7">
                <a:alpha val="25000"/>
              </a:srgbClr>
            </a:solidFill>
            <a:prstDash val="solid"/>
          </a:ln>
        </p:spPr>
      </p:sp>
      <p:sp>
        <p:nvSpPr>
          <p:cNvPr id="38" name="Text 36"/>
          <p:cNvSpPr/>
          <p:nvPr/>
        </p:nvSpPr>
        <p:spPr>
          <a:xfrm>
            <a:off x="4754880" y="3099816"/>
            <a:ext cx="685800" cy="804672"/>
          </a:xfrm>
          <a:prstGeom prst="rect">
            <a:avLst/>
          </a:prstGeom>
          <a:noFill/>
          <a:ln/>
        </p:spPr>
        <p:txBody>
          <a:bodyPr wrap="square" lIns="0" tIns="0" rIns="0" bIns="0" rtlCol="0" anchor="ctr"/>
          <a:lstStyle/>
          <a:p>
            <a:pPr algn="ctr" indent="0" marL="0">
              <a:buNone/>
            </a:pPr>
            <a:r>
              <a:rPr lang="en-US" sz="1300" b="1" dirty="0">
                <a:solidFill>
                  <a:srgbClr val="A855F7"/>
                </a:solidFill>
                <a:latin typeface="Consolas" pitchFamily="34" charset="0"/>
                <a:ea typeface="Consolas" pitchFamily="34" charset="-122"/>
                <a:cs typeface="Consolas" pitchFamily="34" charset="-120"/>
              </a:rPr>
              <a:t>CMP</a:t>
            </a:r>
            <a:endParaRPr lang="en-US" sz="1300" dirty="0"/>
          </a:p>
        </p:txBody>
      </p:sp>
      <p:sp>
        <p:nvSpPr>
          <p:cNvPr id="39" name="Text 37"/>
          <p:cNvSpPr/>
          <p:nvPr/>
        </p:nvSpPr>
        <p:spPr>
          <a:xfrm>
            <a:off x="5532120" y="3172968"/>
            <a:ext cx="3200400" cy="274320"/>
          </a:xfrm>
          <a:prstGeom prst="rect">
            <a:avLst/>
          </a:prstGeom>
          <a:noFill/>
          <a:ln/>
        </p:spPr>
        <p:txBody>
          <a:bodyPr wrap="square" lIns="0" tIns="0" rIns="0" bIns="0" rtlCol="0" anchor="ctr"/>
          <a:lstStyle/>
          <a:p>
            <a:pPr indent="0" marL="0">
              <a:buNone/>
            </a:pPr>
            <a:r>
              <a:rPr lang="en-US" sz="1000" dirty="0">
                <a:solidFill>
                  <a:srgbClr val="00FF88"/>
                </a:solidFill>
                <a:latin typeface="Consolas" pitchFamily="34" charset="0"/>
                <a:ea typeface="Consolas" pitchFamily="34" charset="-122"/>
                <a:cs typeface="Consolas" pitchFamily="34" charset="-120"/>
              </a:rPr>
              <a:t>CMP EAX, 0</a:t>
            </a:r>
            <a:endParaRPr lang="en-US" sz="1000" dirty="0"/>
          </a:p>
        </p:txBody>
      </p:sp>
      <p:sp>
        <p:nvSpPr>
          <p:cNvPr id="40" name="Text 38"/>
          <p:cNvSpPr/>
          <p:nvPr/>
        </p:nvSpPr>
        <p:spPr>
          <a:xfrm>
            <a:off x="5532120" y="3502152"/>
            <a:ext cx="3200400" cy="320040"/>
          </a:xfrm>
          <a:prstGeom prst="rect">
            <a:avLst/>
          </a:prstGeom>
          <a:noFill/>
          <a:ln/>
        </p:spPr>
        <p:txBody>
          <a:bodyPr wrap="square" lIns="0" tIns="0" rIns="0" bIns="0" rtlCol="0" anchor="ctr"/>
          <a:lstStyle/>
          <a:p>
            <a:pPr indent="0" marL="0">
              <a:buNone/>
            </a:pPr>
            <a:r>
              <a:rPr lang="en-US" sz="950" dirty="0">
                <a:solidFill>
                  <a:srgbClr val="8B9BB4"/>
                </a:solidFill>
                <a:latin typeface="Calibri" pitchFamily="34" charset="0"/>
                <a:ea typeface="Calibri" pitchFamily="34" charset="-122"/>
                <a:cs typeface="Calibri" pitchFamily="34" charset="-120"/>
              </a:rPr>
              <a:t>Compare two values (sets flags)</a:t>
            </a:r>
            <a:endParaRPr lang="en-US" sz="950" dirty="0"/>
          </a:p>
        </p:txBody>
      </p:sp>
      <p:sp>
        <p:nvSpPr>
          <p:cNvPr id="41" name="Shape 39"/>
          <p:cNvSpPr/>
          <p:nvPr/>
        </p:nvSpPr>
        <p:spPr>
          <a:xfrm>
            <a:off x="320040" y="4032504"/>
            <a:ext cx="4114800" cy="804672"/>
          </a:xfrm>
          <a:prstGeom prst="rect">
            <a:avLst/>
          </a:prstGeom>
          <a:solidFill>
            <a:srgbClr val="111827"/>
          </a:solidFill>
          <a:ln w="12700">
            <a:solidFill>
              <a:srgbClr val="FF3355"/>
            </a:solidFill>
            <a:prstDash val="solid"/>
          </a:ln>
        </p:spPr>
      </p:sp>
      <p:sp>
        <p:nvSpPr>
          <p:cNvPr id="42" name="Shape 40"/>
          <p:cNvSpPr/>
          <p:nvPr/>
        </p:nvSpPr>
        <p:spPr>
          <a:xfrm>
            <a:off x="320040" y="4032504"/>
            <a:ext cx="685800" cy="804672"/>
          </a:xfrm>
          <a:prstGeom prst="rect">
            <a:avLst/>
          </a:prstGeom>
          <a:solidFill>
            <a:srgbClr val="FF3355">
              <a:alpha val="25000"/>
            </a:srgbClr>
          </a:solidFill>
          <a:ln w="12700">
            <a:solidFill>
              <a:srgbClr val="FF3355">
                <a:alpha val="25000"/>
              </a:srgbClr>
            </a:solidFill>
            <a:prstDash val="solid"/>
          </a:ln>
        </p:spPr>
      </p:sp>
      <p:sp>
        <p:nvSpPr>
          <p:cNvPr id="43" name="Text 41"/>
          <p:cNvSpPr/>
          <p:nvPr/>
        </p:nvSpPr>
        <p:spPr>
          <a:xfrm>
            <a:off x="320040" y="4032504"/>
            <a:ext cx="685800" cy="804672"/>
          </a:xfrm>
          <a:prstGeom prst="rect">
            <a:avLst/>
          </a:prstGeom>
          <a:noFill/>
          <a:ln/>
        </p:spPr>
        <p:txBody>
          <a:bodyPr wrap="square" lIns="0" tIns="0" rIns="0" bIns="0" rtlCol="0" anchor="ctr"/>
          <a:lstStyle/>
          <a:p>
            <a:pPr algn="ctr" indent="0" marL="0">
              <a:buNone/>
            </a:pPr>
            <a:r>
              <a:rPr lang="en-US" sz="1300" b="1" dirty="0">
                <a:solidFill>
                  <a:srgbClr val="FF3355"/>
                </a:solidFill>
                <a:latin typeface="Consolas" pitchFamily="34" charset="0"/>
                <a:ea typeface="Consolas" pitchFamily="34" charset="-122"/>
                <a:cs typeface="Consolas" pitchFamily="34" charset="-120"/>
              </a:rPr>
              <a:t>JE</a:t>
            </a:r>
            <a:endParaRPr lang="en-US" sz="1300" dirty="0"/>
          </a:p>
        </p:txBody>
      </p:sp>
      <p:sp>
        <p:nvSpPr>
          <p:cNvPr id="44" name="Text 42"/>
          <p:cNvSpPr/>
          <p:nvPr/>
        </p:nvSpPr>
        <p:spPr>
          <a:xfrm>
            <a:off x="1097280" y="4105656"/>
            <a:ext cx="3200400" cy="274320"/>
          </a:xfrm>
          <a:prstGeom prst="rect">
            <a:avLst/>
          </a:prstGeom>
          <a:noFill/>
          <a:ln/>
        </p:spPr>
        <p:txBody>
          <a:bodyPr wrap="square" lIns="0" tIns="0" rIns="0" bIns="0" rtlCol="0" anchor="ctr"/>
          <a:lstStyle/>
          <a:p>
            <a:pPr indent="0" marL="0">
              <a:buNone/>
            </a:pPr>
            <a:r>
              <a:rPr lang="en-US" sz="1000" dirty="0">
                <a:solidFill>
                  <a:srgbClr val="00FF88"/>
                </a:solidFill>
                <a:latin typeface="Consolas" pitchFamily="34" charset="0"/>
                <a:ea typeface="Consolas" pitchFamily="34" charset="-122"/>
                <a:cs typeface="Consolas" pitchFamily="34" charset="-120"/>
              </a:rPr>
              <a:t>JE  0x40108A</a:t>
            </a:r>
            <a:endParaRPr lang="en-US" sz="1000" dirty="0"/>
          </a:p>
        </p:txBody>
      </p:sp>
      <p:sp>
        <p:nvSpPr>
          <p:cNvPr id="45" name="Text 43"/>
          <p:cNvSpPr/>
          <p:nvPr/>
        </p:nvSpPr>
        <p:spPr>
          <a:xfrm>
            <a:off x="1097280" y="4434840"/>
            <a:ext cx="3200400" cy="320040"/>
          </a:xfrm>
          <a:prstGeom prst="rect">
            <a:avLst/>
          </a:prstGeom>
          <a:noFill/>
          <a:ln/>
        </p:spPr>
        <p:txBody>
          <a:bodyPr wrap="square" lIns="0" tIns="0" rIns="0" bIns="0" rtlCol="0" anchor="ctr"/>
          <a:lstStyle/>
          <a:p>
            <a:pPr indent="0" marL="0">
              <a:buNone/>
            </a:pPr>
            <a:r>
              <a:rPr lang="en-US" sz="950" dirty="0">
                <a:solidFill>
                  <a:srgbClr val="8B9BB4"/>
                </a:solidFill>
                <a:latin typeface="Calibri" pitchFamily="34" charset="0"/>
                <a:ea typeface="Calibri" pitchFamily="34" charset="-122"/>
                <a:cs typeface="Calibri" pitchFamily="34" charset="-120"/>
              </a:rPr>
              <a:t>Jump if Equal (ZF=1 after CMP)</a:t>
            </a:r>
            <a:endParaRPr lang="en-US" sz="950" dirty="0"/>
          </a:p>
        </p:txBody>
      </p:sp>
      <p:sp>
        <p:nvSpPr>
          <p:cNvPr id="46" name="Shape 44"/>
          <p:cNvSpPr/>
          <p:nvPr/>
        </p:nvSpPr>
        <p:spPr>
          <a:xfrm>
            <a:off x="4754880" y="4032504"/>
            <a:ext cx="4114800" cy="804672"/>
          </a:xfrm>
          <a:prstGeom prst="rect">
            <a:avLst/>
          </a:prstGeom>
          <a:solidFill>
            <a:srgbClr val="111827"/>
          </a:solidFill>
          <a:ln w="12700">
            <a:solidFill>
              <a:srgbClr val="FF3355"/>
            </a:solidFill>
            <a:prstDash val="solid"/>
          </a:ln>
        </p:spPr>
      </p:sp>
      <p:sp>
        <p:nvSpPr>
          <p:cNvPr id="47" name="Shape 45"/>
          <p:cNvSpPr/>
          <p:nvPr/>
        </p:nvSpPr>
        <p:spPr>
          <a:xfrm>
            <a:off x="4754880" y="4032504"/>
            <a:ext cx="685800" cy="804672"/>
          </a:xfrm>
          <a:prstGeom prst="rect">
            <a:avLst/>
          </a:prstGeom>
          <a:solidFill>
            <a:srgbClr val="FF3355">
              <a:alpha val="25000"/>
            </a:srgbClr>
          </a:solidFill>
          <a:ln w="12700">
            <a:solidFill>
              <a:srgbClr val="FF3355">
                <a:alpha val="25000"/>
              </a:srgbClr>
            </a:solidFill>
            <a:prstDash val="solid"/>
          </a:ln>
        </p:spPr>
      </p:sp>
      <p:sp>
        <p:nvSpPr>
          <p:cNvPr id="48" name="Text 46"/>
          <p:cNvSpPr/>
          <p:nvPr/>
        </p:nvSpPr>
        <p:spPr>
          <a:xfrm>
            <a:off x="4754880" y="4032504"/>
            <a:ext cx="685800" cy="804672"/>
          </a:xfrm>
          <a:prstGeom prst="rect">
            <a:avLst/>
          </a:prstGeom>
          <a:noFill/>
          <a:ln/>
        </p:spPr>
        <p:txBody>
          <a:bodyPr wrap="square" lIns="0" tIns="0" rIns="0" bIns="0" rtlCol="0" anchor="ctr"/>
          <a:lstStyle/>
          <a:p>
            <a:pPr algn="ctr" indent="0" marL="0">
              <a:buNone/>
            </a:pPr>
            <a:r>
              <a:rPr lang="en-US" sz="1300" b="1" dirty="0">
                <a:solidFill>
                  <a:srgbClr val="FF3355"/>
                </a:solidFill>
                <a:latin typeface="Consolas" pitchFamily="34" charset="0"/>
                <a:ea typeface="Consolas" pitchFamily="34" charset="-122"/>
                <a:cs typeface="Consolas" pitchFamily="34" charset="-120"/>
              </a:rPr>
              <a:t>JNE</a:t>
            </a:r>
            <a:endParaRPr lang="en-US" sz="1300" dirty="0"/>
          </a:p>
        </p:txBody>
      </p:sp>
      <p:sp>
        <p:nvSpPr>
          <p:cNvPr id="49" name="Text 47"/>
          <p:cNvSpPr/>
          <p:nvPr/>
        </p:nvSpPr>
        <p:spPr>
          <a:xfrm>
            <a:off x="5532120" y="4105656"/>
            <a:ext cx="3200400" cy="274320"/>
          </a:xfrm>
          <a:prstGeom prst="rect">
            <a:avLst/>
          </a:prstGeom>
          <a:noFill/>
          <a:ln/>
        </p:spPr>
        <p:txBody>
          <a:bodyPr wrap="square" lIns="0" tIns="0" rIns="0" bIns="0" rtlCol="0" anchor="ctr"/>
          <a:lstStyle/>
          <a:p>
            <a:pPr indent="0" marL="0">
              <a:buNone/>
            </a:pPr>
            <a:r>
              <a:rPr lang="en-US" sz="1000" dirty="0">
                <a:solidFill>
                  <a:srgbClr val="00FF88"/>
                </a:solidFill>
                <a:latin typeface="Consolas" pitchFamily="34" charset="0"/>
                <a:ea typeface="Consolas" pitchFamily="34" charset="-122"/>
                <a:cs typeface="Consolas" pitchFamily="34" charset="-120"/>
              </a:rPr>
              <a:t>JNE 0x40108A</a:t>
            </a:r>
            <a:endParaRPr lang="en-US" sz="1000" dirty="0"/>
          </a:p>
        </p:txBody>
      </p:sp>
      <p:sp>
        <p:nvSpPr>
          <p:cNvPr id="50" name="Text 48"/>
          <p:cNvSpPr/>
          <p:nvPr/>
        </p:nvSpPr>
        <p:spPr>
          <a:xfrm>
            <a:off x="5532120" y="4434840"/>
            <a:ext cx="3200400" cy="320040"/>
          </a:xfrm>
          <a:prstGeom prst="rect">
            <a:avLst/>
          </a:prstGeom>
          <a:noFill/>
          <a:ln/>
        </p:spPr>
        <p:txBody>
          <a:bodyPr wrap="square" lIns="0" tIns="0" rIns="0" bIns="0" rtlCol="0" anchor="ctr"/>
          <a:lstStyle/>
          <a:p>
            <a:pPr indent="0" marL="0">
              <a:buNone/>
            </a:pPr>
            <a:r>
              <a:rPr lang="en-US" sz="950" dirty="0">
                <a:solidFill>
                  <a:srgbClr val="8B9BB4"/>
                </a:solidFill>
                <a:latin typeface="Calibri" pitchFamily="34" charset="0"/>
                <a:ea typeface="Calibri" pitchFamily="34" charset="-122"/>
                <a:cs typeface="Calibri" pitchFamily="34" charset="-120"/>
              </a:rPr>
              <a:t>Jump if Not Equal (ZF=0)</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164592" y="164592"/>
            <a:ext cx="365760" cy="45720"/>
          </a:xfrm>
          <a:prstGeom prst="rect">
            <a:avLst/>
          </a:prstGeom>
          <a:solidFill>
            <a:srgbClr val="00FF88"/>
          </a:solidFill>
          <a:ln w="12700">
            <a:solidFill>
              <a:srgbClr val="00FF88"/>
            </a:solidFill>
            <a:prstDash val="solid"/>
          </a:ln>
        </p:spPr>
      </p:sp>
      <p:sp>
        <p:nvSpPr>
          <p:cNvPr id="3" name="Shape 1"/>
          <p:cNvSpPr/>
          <p:nvPr/>
        </p:nvSpPr>
        <p:spPr>
          <a:xfrm>
            <a:off x="164592" y="164592"/>
            <a:ext cx="45720" cy="274320"/>
          </a:xfrm>
          <a:prstGeom prst="rect">
            <a:avLst/>
          </a:prstGeom>
          <a:solidFill>
            <a:srgbClr val="00FF88"/>
          </a:solidFill>
          <a:ln w="12700">
            <a:solidFill>
              <a:srgbClr val="00FF88"/>
            </a:solidFill>
            <a:prstDash val="solid"/>
          </a:ln>
        </p:spPr>
      </p:sp>
      <p:sp>
        <p:nvSpPr>
          <p:cNvPr id="4" name="Shape 2"/>
          <p:cNvSpPr/>
          <p:nvPr/>
        </p:nvSpPr>
        <p:spPr>
          <a:xfrm>
            <a:off x="8613648" y="4910328"/>
            <a:ext cx="365760" cy="45720"/>
          </a:xfrm>
          <a:prstGeom prst="rect">
            <a:avLst/>
          </a:prstGeom>
          <a:solidFill>
            <a:srgbClr val="00D4FF"/>
          </a:solidFill>
          <a:ln w="12700">
            <a:solidFill>
              <a:srgbClr val="00D4FF"/>
            </a:solidFill>
            <a:prstDash val="solid"/>
          </a:ln>
        </p:spPr>
      </p:sp>
      <p:sp>
        <p:nvSpPr>
          <p:cNvPr id="5" name="Shape 3"/>
          <p:cNvSpPr/>
          <p:nvPr/>
        </p:nvSpPr>
        <p:spPr>
          <a:xfrm>
            <a:off x="8933688" y="4681728"/>
            <a:ext cx="45720" cy="274320"/>
          </a:xfrm>
          <a:prstGeom prst="rect">
            <a:avLst/>
          </a:prstGeom>
          <a:solidFill>
            <a:srgbClr val="00D4FF"/>
          </a:solidFill>
          <a:ln w="12700">
            <a:solidFill>
              <a:srgbClr val="00D4FF"/>
            </a:solidFill>
            <a:prstDash val="solid"/>
          </a:ln>
        </p:spPr>
      </p:sp>
      <p:sp>
        <p:nvSpPr>
          <p:cNvPr id="6" name="Shape 4"/>
          <p:cNvSpPr/>
          <p:nvPr/>
        </p:nvSpPr>
        <p:spPr>
          <a:xfrm>
            <a:off x="411480" y="201168"/>
            <a:ext cx="2377440" cy="256032"/>
          </a:xfrm>
          <a:prstGeom prst="rect">
            <a:avLst/>
          </a:prstGeom>
          <a:solidFill>
            <a:srgbClr val="00FF88"/>
          </a:solidFill>
          <a:ln w="12700">
            <a:solidFill>
              <a:srgbClr val="00FF88"/>
            </a:solidFill>
            <a:prstDash val="solid"/>
          </a:ln>
        </p:spPr>
      </p:sp>
      <p:sp>
        <p:nvSpPr>
          <p:cNvPr id="7" name="Text 5"/>
          <p:cNvSpPr/>
          <p:nvPr/>
        </p:nvSpPr>
        <p:spPr>
          <a:xfrm>
            <a:off x="411480" y="201168"/>
            <a:ext cx="2377440" cy="256032"/>
          </a:xfrm>
          <a:prstGeom prst="rect">
            <a:avLst/>
          </a:prstGeom>
          <a:noFill/>
          <a:ln/>
        </p:spPr>
        <p:txBody>
          <a:bodyPr wrap="square" lIns="0" tIns="0" rIns="0" bIns="0" rtlCol="0" anchor="ctr"/>
          <a:lstStyle/>
          <a:p>
            <a:pPr algn="ctr" indent="0" marL="0">
              <a:buNone/>
            </a:pPr>
            <a:r>
              <a:rPr lang="en-US" sz="900" b="1" dirty="0">
                <a:solidFill>
                  <a:srgbClr val="0A0E1A"/>
                </a:solidFill>
                <a:latin typeface="Consolas" pitchFamily="34" charset="0"/>
                <a:ea typeface="Consolas" pitchFamily="34" charset="-122"/>
                <a:cs typeface="Consolas" pitchFamily="34" charset="-120"/>
              </a:rPr>
              <a:t>SECTION 4 · ASSEMBLY</a:t>
            </a:r>
            <a:endParaRPr lang="en-US" sz="900" dirty="0"/>
          </a:p>
        </p:txBody>
      </p:sp>
      <p:sp>
        <p:nvSpPr>
          <p:cNvPr id="8" name="Text 6"/>
          <p:cNvSpPr/>
          <p:nvPr/>
        </p:nvSpPr>
        <p:spPr>
          <a:xfrm>
            <a:off x="411480" y="530352"/>
            <a:ext cx="8321040" cy="594360"/>
          </a:xfrm>
          <a:prstGeom prst="rect">
            <a:avLst/>
          </a:prstGeom>
          <a:noFill/>
          <a:ln/>
        </p:spPr>
        <p:txBody>
          <a:bodyPr wrap="square" lIns="0" tIns="0" rIns="0" bIns="0" rtlCol="0" anchor="ctr"/>
          <a:lstStyle/>
          <a:p>
            <a:pPr algn="l" indent="0" marL="0">
              <a:buNone/>
            </a:pPr>
            <a:r>
              <a:rPr lang="en-US" sz="2800" b="1" dirty="0">
                <a:solidFill>
                  <a:srgbClr val="00FF88"/>
                </a:solidFill>
                <a:latin typeface="Consolas" pitchFamily="34" charset="0"/>
                <a:ea typeface="Consolas" pitchFamily="34" charset="-122"/>
                <a:cs typeface="Consolas" pitchFamily="34" charset="-120"/>
              </a:rPr>
              <a:t>Reading Assembly: A Simple Function</a:t>
            </a:r>
            <a:endParaRPr lang="en-US" sz="2800" dirty="0"/>
          </a:p>
        </p:txBody>
      </p:sp>
      <p:sp>
        <p:nvSpPr>
          <p:cNvPr id="9" name="Text 7"/>
          <p:cNvSpPr/>
          <p:nvPr/>
        </p:nvSpPr>
        <p:spPr>
          <a:xfrm>
            <a:off x="411480" y="1051560"/>
            <a:ext cx="8321040" cy="320040"/>
          </a:xfrm>
          <a:prstGeom prst="rect">
            <a:avLst/>
          </a:prstGeom>
          <a:noFill/>
          <a:ln/>
        </p:spPr>
        <p:txBody>
          <a:bodyPr wrap="square" lIns="0" tIns="0" rIns="0" bIns="0" rtlCol="0" anchor="ctr"/>
          <a:lstStyle/>
          <a:p>
            <a:pPr algn="l" indent="0" marL="0">
              <a:buNone/>
            </a:pPr>
            <a:r>
              <a:rPr lang="en-US" sz="1300" dirty="0">
                <a:solidFill>
                  <a:srgbClr val="8B9BB4"/>
                </a:solidFill>
                <a:latin typeface="Calibri" pitchFamily="34" charset="0"/>
                <a:ea typeface="Calibri" pitchFamily="34" charset="-122"/>
                <a:cs typeface="Calibri" pitchFamily="34" charset="-120"/>
              </a:rPr>
              <a:t>Translating assembly back into high-level logic.</a:t>
            </a:r>
            <a:endParaRPr lang="en-US" sz="1300" dirty="0"/>
          </a:p>
        </p:txBody>
      </p:sp>
      <p:sp>
        <p:nvSpPr>
          <p:cNvPr id="10" name="Text 8"/>
          <p:cNvSpPr/>
          <p:nvPr/>
        </p:nvSpPr>
        <p:spPr>
          <a:xfrm>
            <a:off x="8686800" y="4754880"/>
            <a:ext cx="365760" cy="228600"/>
          </a:xfrm>
          <a:prstGeom prst="rect">
            <a:avLst/>
          </a:prstGeom>
          <a:noFill/>
          <a:ln/>
        </p:spPr>
        <p:txBody>
          <a:bodyPr wrap="square" lIns="0" tIns="0" rIns="0" bIns="0" rtlCol="0" anchor="ctr"/>
          <a:lstStyle/>
          <a:p>
            <a:pPr algn="r" indent="0" marL="0">
              <a:buNone/>
            </a:pPr>
            <a:r>
              <a:rPr lang="en-US" sz="900" dirty="0">
                <a:solidFill>
                  <a:srgbClr val="8B9BB4"/>
                </a:solidFill>
                <a:latin typeface="Consolas" pitchFamily="34" charset="0"/>
                <a:ea typeface="Consolas" pitchFamily="34" charset="-122"/>
                <a:cs typeface="Consolas" pitchFamily="34" charset="-120"/>
              </a:rPr>
              <a:t>12</a:t>
            </a:r>
            <a:endParaRPr lang="en-US" sz="900" dirty="0"/>
          </a:p>
        </p:txBody>
      </p:sp>
      <p:sp>
        <p:nvSpPr>
          <p:cNvPr id="11" name="Shape 9"/>
          <p:cNvSpPr/>
          <p:nvPr/>
        </p:nvSpPr>
        <p:spPr>
          <a:xfrm>
            <a:off x="320040" y="1389888"/>
            <a:ext cx="4023360" cy="320040"/>
          </a:xfrm>
          <a:prstGeom prst="rect">
            <a:avLst/>
          </a:prstGeom>
          <a:solidFill>
            <a:srgbClr val="1A2235"/>
          </a:solidFill>
          <a:ln w="12700">
            <a:solidFill>
              <a:srgbClr val="00D4FF"/>
            </a:solidFill>
            <a:prstDash val="solid"/>
          </a:ln>
        </p:spPr>
      </p:sp>
      <p:sp>
        <p:nvSpPr>
          <p:cNvPr id="12" name="Text 10"/>
          <p:cNvSpPr/>
          <p:nvPr/>
        </p:nvSpPr>
        <p:spPr>
          <a:xfrm>
            <a:off x="320040" y="1389888"/>
            <a:ext cx="4023360" cy="320040"/>
          </a:xfrm>
          <a:prstGeom prst="rect">
            <a:avLst/>
          </a:prstGeom>
          <a:noFill/>
          <a:ln/>
        </p:spPr>
        <p:txBody>
          <a:bodyPr wrap="square" lIns="0" tIns="0" rIns="0" bIns="0" rtlCol="0" anchor="ctr"/>
          <a:lstStyle/>
          <a:p>
            <a:pPr algn="ctr" indent="0" marL="0">
              <a:buNone/>
            </a:pPr>
            <a:r>
              <a:rPr lang="en-US" sz="1000" b="1" dirty="0">
                <a:solidFill>
                  <a:srgbClr val="00D4FF"/>
                </a:solidFill>
                <a:latin typeface="Consolas" pitchFamily="34" charset="0"/>
                <a:ea typeface="Consolas" pitchFamily="34" charset="-122"/>
                <a:cs typeface="Consolas" pitchFamily="34" charset="-120"/>
              </a:rPr>
              <a:t>C Source Code</a:t>
            </a:r>
            <a:endParaRPr lang="en-US" sz="1000" dirty="0"/>
          </a:p>
        </p:txBody>
      </p:sp>
      <p:sp>
        <p:nvSpPr>
          <p:cNvPr id="13" name="Shape 11"/>
          <p:cNvSpPr/>
          <p:nvPr/>
        </p:nvSpPr>
        <p:spPr>
          <a:xfrm>
            <a:off x="320040" y="1709928"/>
            <a:ext cx="4023360" cy="1371600"/>
          </a:xfrm>
          <a:prstGeom prst="rect">
            <a:avLst/>
          </a:prstGeom>
          <a:solidFill>
            <a:srgbClr val="050A14"/>
          </a:solidFill>
          <a:ln w="12700">
            <a:solidFill>
              <a:srgbClr val="1E3A5F"/>
            </a:solidFill>
            <a:prstDash val="solid"/>
          </a:ln>
        </p:spPr>
      </p:sp>
      <p:sp>
        <p:nvSpPr>
          <p:cNvPr id="14" name="Text 12"/>
          <p:cNvSpPr/>
          <p:nvPr/>
        </p:nvSpPr>
        <p:spPr>
          <a:xfrm>
            <a:off x="3703320" y="1764792"/>
            <a:ext cx="548640" cy="182880"/>
          </a:xfrm>
          <a:prstGeom prst="rect">
            <a:avLst/>
          </a:prstGeom>
          <a:noFill/>
          <a:ln/>
        </p:spPr>
        <p:txBody>
          <a:bodyPr wrap="square" lIns="0" tIns="0" rIns="0" bIns="0" rtlCol="0" anchor="ctr"/>
          <a:lstStyle/>
          <a:p>
            <a:pPr algn="r" indent="0" marL="0">
              <a:buNone/>
            </a:pPr>
            <a:r>
              <a:rPr lang="en-US" sz="700" dirty="0">
                <a:solidFill>
                  <a:srgbClr val="8B9BB4"/>
                </a:solidFill>
                <a:latin typeface="Consolas" pitchFamily="34" charset="0"/>
                <a:ea typeface="Consolas" pitchFamily="34" charset="-122"/>
                <a:cs typeface="Consolas" pitchFamily="34" charset="-120"/>
              </a:rPr>
              <a:t>C</a:t>
            </a:r>
            <a:endParaRPr lang="en-US" sz="700" dirty="0"/>
          </a:p>
        </p:txBody>
      </p:sp>
      <p:sp>
        <p:nvSpPr>
          <p:cNvPr id="15" name="Text 13"/>
          <p:cNvSpPr/>
          <p:nvPr/>
        </p:nvSpPr>
        <p:spPr>
          <a:xfrm>
            <a:off x="429768" y="1819656"/>
            <a:ext cx="3803904" cy="1188720"/>
          </a:xfrm>
          <a:prstGeom prst="rect">
            <a:avLst/>
          </a:prstGeom>
          <a:noFill/>
          <a:ln/>
        </p:spPr>
        <p:txBody>
          <a:bodyPr wrap="square" lIns="0" tIns="0" rIns="0" bIns="0" rtlCol="0" anchor="t"/>
          <a:lstStyle/>
          <a:p>
            <a:pPr algn="l" indent="0" marL="0">
              <a:buNone/>
            </a:pPr>
            <a:r>
              <a:rPr lang="en-US" sz="950" dirty="0">
                <a:solidFill>
                  <a:srgbClr val="00FF88"/>
                </a:solidFill>
                <a:latin typeface="Consolas" pitchFamily="34" charset="0"/>
                <a:ea typeface="Consolas" pitchFamily="34" charset="-122"/>
                <a:cs typeface="Consolas" pitchFamily="34" charset="-120"/>
              </a:rPr>
              <a:t>int add(int a, int b) {</a:t>
            </a:r>
            <a:endParaRPr lang="en-US" sz="950" dirty="0"/>
          </a:p>
          <a:p>
            <a:pPr algn="l" indent="0" marL="0">
              <a:buNone/>
            </a:pPr>
            <a:r>
              <a:rPr lang="en-US" sz="950" dirty="0">
                <a:solidFill>
                  <a:srgbClr val="00FF88"/>
                </a:solidFill>
                <a:latin typeface="Consolas" pitchFamily="34" charset="0"/>
                <a:ea typeface="Consolas" pitchFamily="34" charset="-122"/>
                <a:cs typeface="Consolas" pitchFamily="34" charset="-120"/>
              </a:rPr>
              <a:t>  int result = a + b;</a:t>
            </a:r>
            <a:endParaRPr lang="en-US" sz="950" dirty="0"/>
          </a:p>
          <a:p>
            <a:pPr algn="l" indent="0" marL="0">
              <a:buNone/>
            </a:pPr>
            <a:r>
              <a:rPr lang="en-US" sz="950" dirty="0">
                <a:solidFill>
                  <a:srgbClr val="00FF88"/>
                </a:solidFill>
                <a:latin typeface="Consolas" pitchFamily="34" charset="0"/>
                <a:ea typeface="Consolas" pitchFamily="34" charset="-122"/>
                <a:cs typeface="Consolas" pitchFamily="34" charset="-120"/>
              </a:rPr>
              <a:t>  return result;</a:t>
            </a:r>
            <a:endParaRPr lang="en-US" sz="950" dirty="0"/>
          </a:p>
          <a:p>
            <a:pPr algn="l" indent="0" marL="0">
              <a:buNone/>
            </a:pPr>
            <a:r>
              <a:rPr lang="en-US" sz="950" dirty="0">
                <a:solidFill>
                  <a:srgbClr val="00FF88"/>
                </a:solidFill>
                <a:latin typeface="Consolas" pitchFamily="34" charset="0"/>
                <a:ea typeface="Consolas" pitchFamily="34" charset="-122"/>
                <a:cs typeface="Consolas" pitchFamily="34" charset="-120"/>
              </a:rPr>
              <a:t>}</a:t>
            </a:r>
            <a:endParaRPr lang="en-US" sz="950" dirty="0"/>
          </a:p>
        </p:txBody>
      </p:sp>
      <p:sp>
        <p:nvSpPr>
          <p:cNvPr id="16" name="Text 14"/>
          <p:cNvSpPr/>
          <p:nvPr/>
        </p:nvSpPr>
        <p:spPr>
          <a:xfrm>
            <a:off x="4389120" y="2148840"/>
            <a:ext cx="457200" cy="457200"/>
          </a:xfrm>
          <a:prstGeom prst="rect">
            <a:avLst/>
          </a:prstGeom>
          <a:noFill/>
          <a:ln/>
        </p:spPr>
        <p:txBody>
          <a:bodyPr wrap="square" lIns="0" tIns="0" rIns="0" bIns="0" rtlCol="0" anchor="ctr"/>
          <a:lstStyle/>
          <a:p>
            <a:pPr algn="ctr" indent="0" marL="0">
              <a:buNone/>
            </a:pPr>
            <a:r>
              <a:rPr lang="en-US" sz="2200" dirty="0">
                <a:solidFill>
                  <a:srgbClr val="00FF88"/>
                </a:solidFill>
                <a:latin typeface="Calibri" pitchFamily="34" charset="0"/>
                <a:ea typeface="Calibri" pitchFamily="34" charset="-122"/>
                <a:cs typeface="Calibri" pitchFamily="34" charset="-120"/>
              </a:rPr>
              <a:t>⟹</a:t>
            </a:r>
            <a:endParaRPr lang="en-US" sz="2200" dirty="0"/>
          </a:p>
        </p:txBody>
      </p:sp>
      <p:sp>
        <p:nvSpPr>
          <p:cNvPr id="17" name="Shape 15"/>
          <p:cNvSpPr/>
          <p:nvPr/>
        </p:nvSpPr>
        <p:spPr>
          <a:xfrm>
            <a:off x="4937760" y="1389888"/>
            <a:ext cx="3886200" cy="320040"/>
          </a:xfrm>
          <a:prstGeom prst="rect">
            <a:avLst/>
          </a:prstGeom>
          <a:solidFill>
            <a:srgbClr val="1A2235"/>
          </a:solidFill>
          <a:ln w="12700">
            <a:solidFill>
              <a:srgbClr val="00FF88"/>
            </a:solidFill>
            <a:prstDash val="solid"/>
          </a:ln>
        </p:spPr>
      </p:sp>
      <p:sp>
        <p:nvSpPr>
          <p:cNvPr id="18" name="Text 16"/>
          <p:cNvSpPr/>
          <p:nvPr/>
        </p:nvSpPr>
        <p:spPr>
          <a:xfrm>
            <a:off x="4937760" y="1389888"/>
            <a:ext cx="3886200" cy="320040"/>
          </a:xfrm>
          <a:prstGeom prst="rect">
            <a:avLst/>
          </a:prstGeom>
          <a:noFill/>
          <a:ln/>
        </p:spPr>
        <p:txBody>
          <a:bodyPr wrap="square" lIns="0" tIns="0" rIns="0" bIns="0" rtlCol="0" anchor="ctr"/>
          <a:lstStyle/>
          <a:p>
            <a:pPr algn="ctr" indent="0" marL="0">
              <a:buNone/>
            </a:pPr>
            <a:r>
              <a:rPr lang="en-US" sz="1000" b="1" dirty="0">
                <a:solidFill>
                  <a:srgbClr val="00FF88"/>
                </a:solidFill>
                <a:latin typeface="Consolas" pitchFamily="34" charset="0"/>
                <a:ea typeface="Consolas" pitchFamily="34" charset="-122"/>
                <a:cs typeface="Consolas" pitchFamily="34" charset="-120"/>
              </a:rPr>
              <a:t>x86 Assembly (Compiled)</a:t>
            </a:r>
            <a:endParaRPr lang="en-US" sz="1000" dirty="0"/>
          </a:p>
        </p:txBody>
      </p:sp>
      <p:sp>
        <p:nvSpPr>
          <p:cNvPr id="19" name="Shape 17"/>
          <p:cNvSpPr/>
          <p:nvPr/>
        </p:nvSpPr>
        <p:spPr>
          <a:xfrm>
            <a:off x="4937760" y="1709928"/>
            <a:ext cx="3886200" cy="1691640"/>
          </a:xfrm>
          <a:prstGeom prst="rect">
            <a:avLst/>
          </a:prstGeom>
          <a:solidFill>
            <a:srgbClr val="050A14"/>
          </a:solidFill>
          <a:ln w="12700">
            <a:solidFill>
              <a:srgbClr val="1E3A5F"/>
            </a:solidFill>
            <a:prstDash val="solid"/>
          </a:ln>
        </p:spPr>
      </p:sp>
      <p:sp>
        <p:nvSpPr>
          <p:cNvPr id="20" name="Text 18"/>
          <p:cNvSpPr/>
          <p:nvPr/>
        </p:nvSpPr>
        <p:spPr>
          <a:xfrm>
            <a:off x="8183880" y="1764792"/>
            <a:ext cx="548640" cy="182880"/>
          </a:xfrm>
          <a:prstGeom prst="rect">
            <a:avLst/>
          </a:prstGeom>
          <a:noFill/>
          <a:ln/>
        </p:spPr>
        <p:txBody>
          <a:bodyPr wrap="square" lIns="0" tIns="0" rIns="0" bIns="0" rtlCol="0" anchor="ctr"/>
          <a:lstStyle/>
          <a:p>
            <a:pPr algn="r" indent="0" marL="0">
              <a:buNone/>
            </a:pPr>
            <a:r>
              <a:rPr lang="en-US" sz="700" dirty="0">
                <a:solidFill>
                  <a:srgbClr val="8B9BB4"/>
                </a:solidFill>
                <a:latin typeface="Consolas" pitchFamily="34" charset="0"/>
                <a:ea typeface="Consolas" pitchFamily="34" charset="-122"/>
                <a:cs typeface="Consolas" pitchFamily="34" charset="-120"/>
              </a:rPr>
              <a:t>ASM</a:t>
            </a:r>
            <a:endParaRPr lang="en-US" sz="700" dirty="0"/>
          </a:p>
        </p:txBody>
      </p:sp>
      <p:sp>
        <p:nvSpPr>
          <p:cNvPr id="21" name="Text 19"/>
          <p:cNvSpPr/>
          <p:nvPr/>
        </p:nvSpPr>
        <p:spPr>
          <a:xfrm>
            <a:off x="5047488" y="1819656"/>
            <a:ext cx="3666744" cy="1508760"/>
          </a:xfrm>
          <a:prstGeom prst="rect">
            <a:avLst/>
          </a:prstGeom>
          <a:noFill/>
          <a:ln/>
        </p:spPr>
        <p:txBody>
          <a:bodyPr wrap="square" lIns="0" tIns="0" rIns="0" bIns="0" rtlCol="0" anchor="t"/>
          <a:lstStyle/>
          <a:p>
            <a:pPr algn="l" indent="0" marL="0">
              <a:buNone/>
            </a:pPr>
            <a:r>
              <a:rPr lang="en-US" sz="950" dirty="0">
                <a:solidFill>
                  <a:srgbClr val="00FF88"/>
                </a:solidFill>
                <a:latin typeface="Consolas" pitchFamily="34" charset="0"/>
                <a:ea typeface="Consolas" pitchFamily="34" charset="-122"/>
                <a:cs typeface="Consolas" pitchFamily="34" charset="-120"/>
              </a:rPr>
              <a:t>add:</a:t>
            </a:r>
            <a:endParaRPr lang="en-US" sz="950" dirty="0"/>
          </a:p>
          <a:p>
            <a:pPr algn="l" indent="0" marL="0">
              <a:buNone/>
            </a:pPr>
            <a:r>
              <a:rPr lang="en-US" sz="950" dirty="0">
                <a:solidFill>
                  <a:srgbClr val="00FF88"/>
                </a:solidFill>
                <a:latin typeface="Consolas" pitchFamily="34" charset="0"/>
                <a:ea typeface="Consolas" pitchFamily="34" charset="-122"/>
                <a:cs typeface="Consolas" pitchFamily="34" charset="-120"/>
              </a:rPr>
              <a:t>  push ebp          ; save stack frame</a:t>
            </a:r>
            <a:endParaRPr lang="en-US" sz="950" dirty="0"/>
          </a:p>
          <a:p>
            <a:pPr algn="l" indent="0" marL="0">
              <a:buNone/>
            </a:pPr>
            <a:r>
              <a:rPr lang="en-US" sz="950" dirty="0">
                <a:solidFill>
                  <a:srgbClr val="00FF88"/>
                </a:solidFill>
                <a:latin typeface="Consolas" pitchFamily="34" charset="0"/>
                <a:ea typeface="Consolas" pitchFamily="34" charset="-122"/>
                <a:cs typeface="Consolas" pitchFamily="34" charset="-120"/>
              </a:rPr>
              <a:t>  mov  ebp, esp      ; set new frame</a:t>
            </a:r>
            <a:endParaRPr lang="en-US" sz="950" dirty="0"/>
          </a:p>
          <a:p>
            <a:pPr algn="l" indent="0" marL="0">
              <a:buNone/>
            </a:pPr>
            <a:r>
              <a:rPr lang="en-US" sz="950" dirty="0">
                <a:solidFill>
                  <a:srgbClr val="00FF88"/>
                </a:solidFill>
                <a:latin typeface="Consolas" pitchFamily="34" charset="0"/>
                <a:ea typeface="Consolas" pitchFamily="34" charset="-122"/>
                <a:cs typeface="Consolas" pitchFamily="34" charset="-120"/>
              </a:rPr>
              <a:t>  mov  eax, [ebp+8]  ; load 'a'</a:t>
            </a:r>
            <a:endParaRPr lang="en-US" sz="950" dirty="0"/>
          </a:p>
          <a:p>
            <a:pPr algn="l" indent="0" marL="0">
              <a:buNone/>
            </a:pPr>
            <a:r>
              <a:rPr lang="en-US" sz="950" dirty="0">
                <a:solidFill>
                  <a:srgbClr val="00FF88"/>
                </a:solidFill>
                <a:latin typeface="Consolas" pitchFamily="34" charset="0"/>
                <a:ea typeface="Consolas" pitchFamily="34" charset="-122"/>
                <a:cs typeface="Consolas" pitchFamily="34" charset="-120"/>
              </a:rPr>
              <a:t>  add  eax, [ebp+12] ; add 'b'</a:t>
            </a:r>
            <a:endParaRPr lang="en-US" sz="950" dirty="0"/>
          </a:p>
          <a:p>
            <a:pPr algn="l" indent="0" marL="0">
              <a:buNone/>
            </a:pPr>
            <a:r>
              <a:rPr lang="en-US" sz="950" dirty="0">
                <a:solidFill>
                  <a:srgbClr val="00FF88"/>
                </a:solidFill>
                <a:latin typeface="Consolas" pitchFamily="34" charset="0"/>
                <a:ea typeface="Consolas" pitchFamily="34" charset="-122"/>
                <a:cs typeface="Consolas" pitchFamily="34" charset="-120"/>
              </a:rPr>
              <a:t>  pop  ebp           ; restore frame</a:t>
            </a:r>
            <a:endParaRPr lang="en-US" sz="950" dirty="0"/>
          </a:p>
          <a:p>
            <a:pPr algn="l" indent="0" marL="0">
              <a:buNone/>
            </a:pPr>
            <a:r>
              <a:rPr lang="en-US" sz="950" dirty="0">
                <a:solidFill>
                  <a:srgbClr val="00FF88"/>
                </a:solidFill>
                <a:latin typeface="Consolas" pitchFamily="34" charset="0"/>
                <a:ea typeface="Consolas" pitchFamily="34" charset="-122"/>
                <a:cs typeface="Consolas" pitchFamily="34" charset="-120"/>
              </a:rPr>
              <a:t>  ret                ; return (result in EAX)</a:t>
            </a:r>
            <a:endParaRPr lang="en-US" sz="950" dirty="0"/>
          </a:p>
        </p:txBody>
      </p:sp>
      <p:sp>
        <p:nvSpPr>
          <p:cNvPr id="22" name="Shape 20"/>
          <p:cNvSpPr/>
          <p:nvPr/>
        </p:nvSpPr>
        <p:spPr>
          <a:xfrm>
            <a:off x="320040" y="3520440"/>
            <a:ext cx="8503920" cy="292608"/>
          </a:xfrm>
          <a:prstGeom prst="rect">
            <a:avLst/>
          </a:prstGeom>
          <a:solidFill>
            <a:srgbClr val="1A2235"/>
          </a:solidFill>
          <a:ln w="12700">
            <a:solidFill>
              <a:srgbClr val="1E3A5F"/>
            </a:solidFill>
            <a:prstDash val="solid"/>
          </a:ln>
        </p:spPr>
      </p:sp>
      <p:sp>
        <p:nvSpPr>
          <p:cNvPr id="23" name="Text 21"/>
          <p:cNvSpPr/>
          <p:nvPr/>
        </p:nvSpPr>
        <p:spPr>
          <a:xfrm>
            <a:off x="457200" y="3520440"/>
            <a:ext cx="8229600" cy="292608"/>
          </a:xfrm>
          <a:prstGeom prst="rect">
            <a:avLst/>
          </a:prstGeom>
          <a:noFill/>
          <a:ln/>
        </p:spPr>
        <p:txBody>
          <a:bodyPr wrap="square" lIns="0" tIns="0" rIns="0" bIns="0" rtlCol="0" anchor="ctr"/>
          <a:lstStyle/>
          <a:p>
            <a:pPr indent="0" marL="0">
              <a:buNone/>
            </a:pPr>
            <a:r>
              <a:rPr lang="en-US" sz="950" dirty="0">
                <a:solidFill>
                  <a:srgbClr val="E2E8F0"/>
                </a:solidFill>
                <a:latin typeface="Calibri" pitchFamily="34" charset="0"/>
                <a:ea typeface="Calibri" pitchFamily="34" charset="-122"/>
                <a:cs typeface="Calibri" pitchFamily="34" charset="-120"/>
              </a:rPr>
              <a:t>▸ Function Prologue — Every function starts with push/mov ebp to set up its stack frame.</a:t>
            </a:r>
            <a:endParaRPr lang="en-US" sz="950" dirty="0"/>
          </a:p>
        </p:txBody>
      </p:sp>
      <p:sp>
        <p:nvSpPr>
          <p:cNvPr id="24" name="Shape 22"/>
          <p:cNvSpPr/>
          <p:nvPr/>
        </p:nvSpPr>
        <p:spPr>
          <a:xfrm>
            <a:off x="320040" y="3858768"/>
            <a:ext cx="8503920" cy="292608"/>
          </a:xfrm>
          <a:prstGeom prst="rect">
            <a:avLst/>
          </a:prstGeom>
          <a:solidFill>
            <a:srgbClr val="1A2235"/>
          </a:solidFill>
          <a:ln w="12700">
            <a:solidFill>
              <a:srgbClr val="1E3A5F"/>
            </a:solidFill>
            <a:prstDash val="solid"/>
          </a:ln>
        </p:spPr>
      </p:sp>
      <p:sp>
        <p:nvSpPr>
          <p:cNvPr id="25" name="Text 23"/>
          <p:cNvSpPr/>
          <p:nvPr/>
        </p:nvSpPr>
        <p:spPr>
          <a:xfrm>
            <a:off x="457200" y="3858768"/>
            <a:ext cx="8229600" cy="292608"/>
          </a:xfrm>
          <a:prstGeom prst="rect">
            <a:avLst/>
          </a:prstGeom>
          <a:noFill/>
          <a:ln/>
        </p:spPr>
        <p:txBody>
          <a:bodyPr wrap="square" lIns="0" tIns="0" rIns="0" bIns="0" rtlCol="0" anchor="ctr"/>
          <a:lstStyle/>
          <a:p>
            <a:pPr indent="0" marL="0">
              <a:buNone/>
            </a:pPr>
            <a:r>
              <a:rPr lang="en-US" sz="950" dirty="0">
                <a:solidFill>
                  <a:srgbClr val="E2E8F0"/>
                </a:solidFill>
                <a:latin typeface="Calibri" pitchFamily="34" charset="0"/>
                <a:ea typeface="Calibri" pitchFamily="34" charset="-122"/>
                <a:cs typeface="Calibri" pitchFamily="34" charset="-120"/>
              </a:rPr>
              <a:t>▸ [ebp+8] accesses the first argument (a), [ebp+12] the second (b) on the stack.</a:t>
            </a:r>
            <a:endParaRPr lang="en-US" sz="950" dirty="0"/>
          </a:p>
        </p:txBody>
      </p:sp>
      <p:sp>
        <p:nvSpPr>
          <p:cNvPr id="26" name="Shape 24"/>
          <p:cNvSpPr/>
          <p:nvPr/>
        </p:nvSpPr>
        <p:spPr>
          <a:xfrm>
            <a:off x="320040" y="4197096"/>
            <a:ext cx="8503920" cy="292608"/>
          </a:xfrm>
          <a:prstGeom prst="rect">
            <a:avLst/>
          </a:prstGeom>
          <a:solidFill>
            <a:srgbClr val="1A2235"/>
          </a:solidFill>
          <a:ln w="12700">
            <a:solidFill>
              <a:srgbClr val="1E3A5F"/>
            </a:solidFill>
            <a:prstDash val="solid"/>
          </a:ln>
        </p:spPr>
      </p:sp>
      <p:sp>
        <p:nvSpPr>
          <p:cNvPr id="27" name="Text 25"/>
          <p:cNvSpPr/>
          <p:nvPr/>
        </p:nvSpPr>
        <p:spPr>
          <a:xfrm>
            <a:off x="457200" y="4197096"/>
            <a:ext cx="8229600" cy="292608"/>
          </a:xfrm>
          <a:prstGeom prst="rect">
            <a:avLst/>
          </a:prstGeom>
          <a:noFill/>
          <a:ln/>
        </p:spPr>
        <p:txBody>
          <a:bodyPr wrap="square" lIns="0" tIns="0" rIns="0" bIns="0" rtlCol="0" anchor="ctr"/>
          <a:lstStyle/>
          <a:p>
            <a:pPr indent="0" marL="0">
              <a:buNone/>
            </a:pPr>
            <a:r>
              <a:rPr lang="en-US" sz="950" dirty="0">
                <a:solidFill>
                  <a:srgbClr val="E2E8F0"/>
                </a:solidFill>
                <a:latin typeface="Calibri" pitchFamily="34" charset="0"/>
                <a:ea typeface="Calibri" pitchFamily="34" charset="-122"/>
                <a:cs typeface="Calibri" pitchFamily="34" charset="-120"/>
              </a:rPr>
              <a:t>▸ Return value is always in EAX for 32-bit x86 calling convention (stdcall/cdecl).</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3200400" cy="5143500"/>
          </a:xfrm>
          <a:prstGeom prst="rect">
            <a:avLst/>
          </a:prstGeom>
          <a:solidFill>
            <a:srgbClr val="111827"/>
          </a:solidFill>
          <a:ln w="12700">
            <a:solidFill>
              <a:srgbClr val="111827"/>
            </a:solidFill>
            <a:prstDash val="solid"/>
          </a:ln>
        </p:spPr>
      </p:sp>
      <p:sp>
        <p:nvSpPr>
          <p:cNvPr id="3" name="Shape 1"/>
          <p:cNvSpPr/>
          <p:nvPr/>
        </p:nvSpPr>
        <p:spPr>
          <a:xfrm>
            <a:off x="3163824" y="0"/>
            <a:ext cx="36576" cy="5143500"/>
          </a:xfrm>
          <a:prstGeom prst="rect">
            <a:avLst/>
          </a:prstGeom>
          <a:solidFill>
            <a:srgbClr val="A855F7"/>
          </a:solidFill>
          <a:ln w="12700">
            <a:solidFill>
              <a:srgbClr val="A855F7"/>
            </a:solidFill>
            <a:prstDash val="solid"/>
          </a:ln>
        </p:spPr>
      </p:sp>
      <p:sp>
        <p:nvSpPr>
          <p:cNvPr id="4" name="Text 2"/>
          <p:cNvSpPr/>
          <p:nvPr/>
        </p:nvSpPr>
        <p:spPr>
          <a:xfrm>
            <a:off x="274320" y="365760"/>
            <a:ext cx="2560320" cy="365760"/>
          </a:xfrm>
          <a:prstGeom prst="rect">
            <a:avLst/>
          </a:prstGeom>
          <a:noFill/>
          <a:ln/>
        </p:spPr>
        <p:txBody>
          <a:bodyPr wrap="square" lIns="0" tIns="0" rIns="0" bIns="0" rtlCol="0" anchor="ctr"/>
          <a:lstStyle/>
          <a:p>
            <a:pPr indent="0" marL="0">
              <a:buNone/>
            </a:pPr>
            <a:r>
              <a:rPr lang="en-US" sz="1000" spc="400" kern="0" dirty="0">
                <a:solidFill>
                  <a:srgbClr val="8B9BB4"/>
                </a:solidFill>
                <a:latin typeface="Consolas" pitchFamily="34" charset="0"/>
                <a:ea typeface="Consolas" pitchFamily="34" charset="-122"/>
                <a:cs typeface="Consolas" pitchFamily="34" charset="-120"/>
              </a:rPr>
              <a:t>SECTION 5</a:t>
            </a:r>
            <a:endParaRPr lang="en-US" sz="1000" dirty="0"/>
          </a:p>
        </p:txBody>
      </p:sp>
      <p:sp>
        <p:nvSpPr>
          <p:cNvPr id="5" name="Text 3"/>
          <p:cNvSpPr/>
          <p:nvPr/>
        </p:nvSpPr>
        <p:spPr>
          <a:xfrm>
            <a:off x="274320" y="731520"/>
            <a:ext cx="2560320" cy="1645920"/>
          </a:xfrm>
          <a:prstGeom prst="rect">
            <a:avLst/>
          </a:prstGeom>
          <a:noFill/>
          <a:ln/>
        </p:spPr>
        <p:txBody>
          <a:bodyPr wrap="square" lIns="0" tIns="0" rIns="0" bIns="0" rtlCol="0" anchor="ctr"/>
          <a:lstStyle/>
          <a:p>
            <a:pPr indent="0" marL="0">
              <a:buNone/>
            </a:pPr>
            <a:r>
              <a:rPr lang="en-US" sz="10000" b="1" dirty="0">
                <a:solidFill>
                  <a:srgbClr val="A855F7">
                    <a:alpha val="90000"/>
                  </a:srgbClr>
                </a:solidFill>
                <a:latin typeface="Consolas" pitchFamily="34" charset="0"/>
                <a:ea typeface="Consolas" pitchFamily="34" charset="-122"/>
                <a:cs typeface="Consolas" pitchFamily="34" charset="-120"/>
              </a:rPr>
              <a:t>05</a:t>
            </a:r>
            <a:endParaRPr lang="en-US" sz="10000" dirty="0"/>
          </a:p>
        </p:txBody>
      </p:sp>
      <p:pic>
        <p:nvPicPr>
          <p:cNvPr id="6" name="Image 0" descr="preencoded.png">    </p:cNvPr>
          <p:cNvPicPr>
            <a:picLocks noChangeAspect="1"/>
          </p:cNvPicPr>
          <p:nvPr/>
        </p:nvPicPr>
        <p:blipFill>
          <a:blip r:embed="rId1"/>
          <a:stretch>
            <a:fillRect/>
          </a:stretch>
        </p:blipFill>
        <p:spPr>
          <a:xfrm>
            <a:off x="822960" y="2926080"/>
            <a:ext cx="1463040" cy="1463040"/>
          </a:xfrm>
          <a:prstGeom prst="rect">
            <a:avLst/>
          </a:prstGeom>
        </p:spPr>
      </p:pic>
      <p:sp>
        <p:nvSpPr>
          <p:cNvPr id="7" name="Text 4"/>
          <p:cNvSpPr/>
          <p:nvPr/>
        </p:nvSpPr>
        <p:spPr>
          <a:xfrm>
            <a:off x="3474720" y="1463040"/>
            <a:ext cx="5394960" cy="1371600"/>
          </a:xfrm>
          <a:prstGeom prst="rect">
            <a:avLst/>
          </a:prstGeom>
          <a:noFill/>
          <a:ln/>
        </p:spPr>
        <p:txBody>
          <a:bodyPr wrap="square" lIns="0" tIns="0" rIns="0" bIns="0" rtlCol="0" anchor="ctr"/>
          <a:lstStyle/>
          <a:p>
            <a:pPr indent="0" marL="0">
              <a:buNone/>
            </a:pPr>
            <a:r>
              <a:rPr lang="en-US" sz="3600" b="1" dirty="0">
                <a:solidFill>
                  <a:srgbClr val="FFFFFF"/>
                </a:solidFill>
                <a:latin typeface="Consolas" pitchFamily="34" charset="0"/>
                <a:ea typeface="Consolas" pitchFamily="34" charset="-122"/>
                <a:cs typeface="Consolas" pitchFamily="34" charset="-120"/>
              </a:rPr>
              <a:t>RE Workflow</a:t>
            </a:r>
            <a:endParaRPr lang="en-US" sz="3600" dirty="0"/>
          </a:p>
        </p:txBody>
      </p:sp>
      <p:sp>
        <p:nvSpPr>
          <p:cNvPr id="8" name="Text 5"/>
          <p:cNvSpPr/>
          <p:nvPr/>
        </p:nvSpPr>
        <p:spPr>
          <a:xfrm>
            <a:off x="3474720" y="2926080"/>
            <a:ext cx="5394960" cy="1097280"/>
          </a:xfrm>
          <a:prstGeom prst="rect">
            <a:avLst/>
          </a:prstGeom>
          <a:noFill/>
          <a:ln/>
        </p:spPr>
        <p:txBody>
          <a:bodyPr wrap="square" lIns="0" tIns="0" rIns="0" bIns="0" rtlCol="0" anchor="ctr"/>
          <a:lstStyle/>
          <a:p>
            <a:pPr indent="0" marL="0">
              <a:buNone/>
            </a:pPr>
            <a:r>
              <a:rPr lang="en-US" sz="1400" dirty="0">
                <a:solidFill>
                  <a:srgbClr val="8B9BB4"/>
                </a:solidFill>
                <a:latin typeface="Calibri" pitchFamily="34" charset="0"/>
                <a:ea typeface="Calibri" pitchFamily="34" charset="-122"/>
                <a:cs typeface="Calibri" pitchFamily="34" charset="-120"/>
              </a:rPr>
              <a:t>Static analysis, dynamic analysis, and the full methodology.</a:t>
            </a:r>
            <a:endParaRPr lang="en-US" sz="1400" dirty="0"/>
          </a:p>
        </p:txBody>
      </p:sp>
      <p:sp>
        <p:nvSpPr>
          <p:cNvPr id="9" name="Shape 6"/>
          <p:cNvSpPr/>
          <p:nvPr/>
        </p:nvSpPr>
        <p:spPr>
          <a:xfrm>
            <a:off x="3474720" y="4297680"/>
            <a:ext cx="91440" cy="91440"/>
          </a:xfrm>
          <a:prstGeom prst="ellipse">
            <a:avLst/>
          </a:prstGeom>
          <a:solidFill>
            <a:srgbClr val="A855F7"/>
          </a:solidFill>
          <a:ln w="12700">
            <a:solidFill>
              <a:srgbClr val="A855F7"/>
            </a:solidFill>
            <a:prstDash val="solid"/>
          </a:ln>
        </p:spPr>
      </p:sp>
      <p:sp>
        <p:nvSpPr>
          <p:cNvPr id="10" name="Shape 7"/>
          <p:cNvSpPr/>
          <p:nvPr/>
        </p:nvSpPr>
        <p:spPr>
          <a:xfrm>
            <a:off x="3794760" y="4297680"/>
            <a:ext cx="91440" cy="91440"/>
          </a:xfrm>
          <a:prstGeom prst="ellipse">
            <a:avLst/>
          </a:prstGeom>
          <a:solidFill>
            <a:srgbClr val="A855F7">
              <a:alpha val="85000"/>
            </a:srgbClr>
          </a:solidFill>
          <a:ln w="12700">
            <a:solidFill>
              <a:srgbClr val="A855F7">
                <a:alpha val="85000"/>
              </a:srgbClr>
            </a:solidFill>
            <a:prstDash val="solid"/>
          </a:ln>
        </p:spPr>
      </p:sp>
      <p:sp>
        <p:nvSpPr>
          <p:cNvPr id="11" name="Shape 8"/>
          <p:cNvSpPr/>
          <p:nvPr/>
        </p:nvSpPr>
        <p:spPr>
          <a:xfrm>
            <a:off x="4114800" y="4297680"/>
            <a:ext cx="91440" cy="91440"/>
          </a:xfrm>
          <a:prstGeom prst="ellipse">
            <a:avLst/>
          </a:prstGeom>
          <a:solidFill>
            <a:srgbClr val="A855F7">
              <a:alpha val="70000"/>
            </a:srgbClr>
          </a:solidFill>
          <a:ln w="12700">
            <a:solidFill>
              <a:srgbClr val="A855F7">
                <a:alpha val="70000"/>
              </a:srgbClr>
            </a:solidFill>
            <a:prstDash val="solid"/>
          </a:ln>
        </p:spPr>
      </p:sp>
      <p:sp>
        <p:nvSpPr>
          <p:cNvPr id="12" name="Shape 9"/>
          <p:cNvSpPr/>
          <p:nvPr/>
        </p:nvSpPr>
        <p:spPr>
          <a:xfrm>
            <a:off x="4434840" y="4297680"/>
            <a:ext cx="91440" cy="91440"/>
          </a:xfrm>
          <a:prstGeom prst="ellipse">
            <a:avLst/>
          </a:prstGeom>
          <a:solidFill>
            <a:srgbClr val="A855F7">
              <a:alpha val="55000"/>
            </a:srgbClr>
          </a:solidFill>
          <a:ln w="12700">
            <a:solidFill>
              <a:srgbClr val="A855F7">
                <a:alpha val="55000"/>
              </a:srgbClr>
            </a:solidFill>
            <a:prstDash val="solid"/>
          </a:ln>
        </p:spPr>
      </p:sp>
      <p:sp>
        <p:nvSpPr>
          <p:cNvPr id="13" name="Shape 10"/>
          <p:cNvSpPr/>
          <p:nvPr/>
        </p:nvSpPr>
        <p:spPr>
          <a:xfrm>
            <a:off x="4754880" y="4297680"/>
            <a:ext cx="91440" cy="91440"/>
          </a:xfrm>
          <a:prstGeom prst="ellipse">
            <a:avLst/>
          </a:prstGeom>
          <a:solidFill>
            <a:srgbClr val="A855F7">
              <a:alpha val="40000"/>
            </a:srgbClr>
          </a:solidFill>
          <a:ln w="12700">
            <a:solidFill>
              <a:srgbClr val="A855F7">
                <a:alpha val="40000"/>
              </a:srgbClr>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164592" y="164592"/>
            <a:ext cx="365760" cy="45720"/>
          </a:xfrm>
          <a:prstGeom prst="rect">
            <a:avLst/>
          </a:prstGeom>
          <a:solidFill>
            <a:srgbClr val="00FF88"/>
          </a:solidFill>
          <a:ln w="12700">
            <a:solidFill>
              <a:srgbClr val="00FF88"/>
            </a:solidFill>
            <a:prstDash val="solid"/>
          </a:ln>
        </p:spPr>
      </p:sp>
      <p:sp>
        <p:nvSpPr>
          <p:cNvPr id="3" name="Shape 1"/>
          <p:cNvSpPr/>
          <p:nvPr/>
        </p:nvSpPr>
        <p:spPr>
          <a:xfrm>
            <a:off x="164592" y="164592"/>
            <a:ext cx="45720" cy="274320"/>
          </a:xfrm>
          <a:prstGeom prst="rect">
            <a:avLst/>
          </a:prstGeom>
          <a:solidFill>
            <a:srgbClr val="00FF88"/>
          </a:solidFill>
          <a:ln w="12700">
            <a:solidFill>
              <a:srgbClr val="00FF88"/>
            </a:solidFill>
            <a:prstDash val="solid"/>
          </a:ln>
        </p:spPr>
      </p:sp>
      <p:sp>
        <p:nvSpPr>
          <p:cNvPr id="4" name="Shape 2"/>
          <p:cNvSpPr/>
          <p:nvPr/>
        </p:nvSpPr>
        <p:spPr>
          <a:xfrm>
            <a:off x="8613648" y="4910328"/>
            <a:ext cx="365760" cy="45720"/>
          </a:xfrm>
          <a:prstGeom prst="rect">
            <a:avLst/>
          </a:prstGeom>
          <a:solidFill>
            <a:srgbClr val="00D4FF"/>
          </a:solidFill>
          <a:ln w="12700">
            <a:solidFill>
              <a:srgbClr val="00D4FF"/>
            </a:solidFill>
            <a:prstDash val="solid"/>
          </a:ln>
        </p:spPr>
      </p:sp>
      <p:sp>
        <p:nvSpPr>
          <p:cNvPr id="5" name="Shape 3"/>
          <p:cNvSpPr/>
          <p:nvPr/>
        </p:nvSpPr>
        <p:spPr>
          <a:xfrm>
            <a:off x="8933688" y="4681728"/>
            <a:ext cx="45720" cy="274320"/>
          </a:xfrm>
          <a:prstGeom prst="rect">
            <a:avLst/>
          </a:prstGeom>
          <a:solidFill>
            <a:srgbClr val="00D4FF"/>
          </a:solidFill>
          <a:ln w="12700">
            <a:solidFill>
              <a:srgbClr val="00D4FF"/>
            </a:solidFill>
            <a:prstDash val="solid"/>
          </a:ln>
        </p:spPr>
      </p:sp>
      <p:sp>
        <p:nvSpPr>
          <p:cNvPr id="6" name="Shape 4"/>
          <p:cNvSpPr/>
          <p:nvPr/>
        </p:nvSpPr>
        <p:spPr>
          <a:xfrm>
            <a:off x="411480" y="201168"/>
            <a:ext cx="2377440" cy="256032"/>
          </a:xfrm>
          <a:prstGeom prst="rect">
            <a:avLst/>
          </a:prstGeom>
          <a:solidFill>
            <a:srgbClr val="A855F7"/>
          </a:solidFill>
          <a:ln w="12700">
            <a:solidFill>
              <a:srgbClr val="A855F7"/>
            </a:solidFill>
            <a:prstDash val="solid"/>
          </a:ln>
        </p:spPr>
      </p:sp>
      <p:sp>
        <p:nvSpPr>
          <p:cNvPr id="7" name="Text 5"/>
          <p:cNvSpPr/>
          <p:nvPr/>
        </p:nvSpPr>
        <p:spPr>
          <a:xfrm>
            <a:off x="411480" y="201168"/>
            <a:ext cx="2377440" cy="256032"/>
          </a:xfrm>
          <a:prstGeom prst="rect">
            <a:avLst/>
          </a:prstGeom>
          <a:noFill/>
          <a:ln/>
        </p:spPr>
        <p:txBody>
          <a:bodyPr wrap="square" lIns="0" tIns="0" rIns="0" bIns="0" rtlCol="0" anchor="ctr"/>
          <a:lstStyle/>
          <a:p>
            <a:pPr algn="ctr" indent="0" marL="0">
              <a:buNone/>
            </a:pPr>
            <a:r>
              <a:rPr lang="en-US" sz="900" b="1" dirty="0">
                <a:solidFill>
                  <a:srgbClr val="0A0E1A"/>
                </a:solidFill>
                <a:latin typeface="Consolas" pitchFamily="34" charset="0"/>
                <a:ea typeface="Consolas" pitchFamily="34" charset="-122"/>
                <a:cs typeface="Consolas" pitchFamily="34" charset="-120"/>
              </a:rPr>
              <a:t>SECTION 5 · WORKFLOW</a:t>
            </a:r>
            <a:endParaRPr lang="en-US" sz="900" dirty="0"/>
          </a:p>
        </p:txBody>
      </p:sp>
      <p:sp>
        <p:nvSpPr>
          <p:cNvPr id="8" name="Text 6"/>
          <p:cNvSpPr/>
          <p:nvPr/>
        </p:nvSpPr>
        <p:spPr>
          <a:xfrm>
            <a:off x="411480" y="530352"/>
            <a:ext cx="8321040" cy="594360"/>
          </a:xfrm>
          <a:prstGeom prst="rect">
            <a:avLst/>
          </a:prstGeom>
          <a:noFill/>
          <a:ln/>
        </p:spPr>
        <p:txBody>
          <a:bodyPr wrap="square" lIns="0" tIns="0" rIns="0" bIns="0" rtlCol="0" anchor="ctr"/>
          <a:lstStyle/>
          <a:p>
            <a:pPr algn="l" indent="0" marL="0">
              <a:buNone/>
            </a:pPr>
            <a:r>
              <a:rPr lang="en-US" sz="2800" b="1" dirty="0">
                <a:solidFill>
                  <a:srgbClr val="A855F7"/>
                </a:solidFill>
                <a:latin typeface="Consolas" pitchFamily="34" charset="0"/>
                <a:ea typeface="Consolas" pitchFamily="34" charset="-122"/>
                <a:cs typeface="Consolas" pitchFamily="34" charset="-120"/>
              </a:rPr>
              <a:t>Reverse Engineering Workflow</a:t>
            </a:r>
            <a:endParaRPr lang="en-US" sz="2800" dirty="0"/>
          </a:p>
        </p:txBody>
      </p:sp>
      <p:sp>
        <p:nvSpPr>
          <p:cNvPr id="9" name="Text 7"/>
          <p:cNvSpPr/>
          <p:nvPr/>
        </p:nvSpPr>
        <p:spPr>
          <a:xfrm>
            <a:off x="411480" y="1051560"/>
            <a:ext cx="8321040" cy="320040"/>
          </a:xfrm>
          <a:prstGeom prst="rect">
            <a:avLst/>
          </a:prstGeom>
          <a:noFill/>
          <a:ln/>
        </p:spPr>
        <p:txBody>
          <a:bodyPr wrap="square" lIns="0" tIns="0" rIns="0" bIns="0" rtlCol="0" anchor="ctr"/>
          <a:lstStyle/>
          <a:p>
            <a:pPr algn="l" indent="0" marL="0">
              <a:buNone/>
            </a:pPr>
            <a:r>
              <a:rPr lang="en-US" sz="1300" dirty="0">
                <a:solidFill>
                  <a:srgbClr val="8B9BB4"/>
                </a:solidFill>
                <a:latin typeface="Calibri" pitchFamily="34" charset="0"/>
                <a:ea typeface="Calibri" pitchFamily="34" charset="-122"/>
                <a:cs typeface="Calibri" pitchFamily="34" charset="-120"/>
              </a:rPr>
              <a:t>A structured methodology for approaching any unknown binary.</a:t>
            </a:r>
            <a:endParaRPr lang="en-US" sz="1300" dirty="0"/>
          </a:p>
        </p:txBody>
      </p:sp>
      <p:sp>
        <p:nvSpPr>
          <p:cNvPr id="10" name="Text 8"/>
          <p:cNvSpPr/>
          <p:nvPr/>
        </p:nvSpPr>
        <p:spPr>
          <a:xfrm>
            <a:off x="8686800" y="4754880"/>
            <a:ext cx="365760" cy="228600"/>
          </a:xfrm>
          <a:prstGeom prst="rect">
            <a:avLst/>
          </a:prstGeom>
          <a:noFill/>
          <a:ln/>
        </p:spPr>
        <p:txBody>
          <a:bodyPr wrap="square" lIns="0" tIns="0" rIns="0" bIns="0" rtlCol="0" anchor="ctr"/>
          <a:lstStyle/>
          <a:p>
            <a:pPr algn="r" indent="0" marL="0">
              <a:buNone/>
            </a:pPr>
            <a:r>
              <a:rPr lang="en-US" sz="900" dirty="0">
                <a:solidFill>
                  <a:srgbClr val="8B9BB4"/>
                </a:solidFill>
                <a:latin typeface="Consolas" pitchFamily="34" charset="0"/>
                <a:ea typeface="Consolas" pitchFamily="34" charset="-122"/>
                <a:cs typeface="Consolas" pitchFamily="34" charset="-120"/>
              </a:rPr>
              <a:t>14</a:t>
            </a:r>
            <a:endParaRPr lang="en-US" sz="900" dirty="0"/>
          </a:p>
        </p:txBody>
      </p:sp>
      <p:sp>
        <p:nvSpPr>
          <p:cNvPr id="11" name="Shape 9"/>
          <p:cNvSpPr/>
          <p:nvPr/>
        </p:nvSpPr>
        <p:spPr>
          <a:xfrm>
            <a:off x="320040" y="1234440"/>
            <a:ext cx="2651760" cy="1691640"/>
          </a:xfrm>
          <a:prstGeom prst="rect">
            <a:avLst/>
          </a:prstGeom>
          <a:solidFill>
            <a:srgbClr val="111827"/>
          </a:solidFill>
          <a:ln w="12700">
            <a:solidFill>
              <a:srgbClr val="00D4FF"/>
            </a:solidFill>
            <a:prstDash val="solid"/>
          </a:ln>
        </p:spPr>
      </p:sp>
      <p:sp>
        <p:nvSpPr>
          <p:cNvPr id="12" name="Shape 10"/>
          <p:cNvSpPr/>
          <p:nvPr/>
        </p:nvSpPr>
        <p:spPr>
          <a:xfrm>
            <a:off x="457200" y="1371600"/>
            <a:ext cx="502920" cy="502920"/>
          </a:xfrm>
          <a:prstGeom prst="ellipse">
            <a:avLst/>
          </a:prstGeom>
          <a:solidFill>
            <a:srgbClr val="00D4FF"/>
          </a:solidFill>
          <a:ln w="12700">
            <a:solidFill>
              <a:srgbClr val="00D4FF"/>
            </a:solidFill>
            <a:prstDash val="solid"/>
          </a:ln>
        </p:spPr>
      </p:sp>
      <p:sp>
        <p:nvSpPr>
          <p:cNvPr id="13" name="Text 11"/>
          <p:cNvSpPr/>
          <p:nvPr/>
        </p:nvSpPr>
        <p:spPr>
          <a:xfrm>
            <a:off x="457200" y="1371600"/>
            <a:ext cx="502920" cy="502920"/>
          </a:xfrm>
          <a:prstGeom prst="rect">
            <a:avLst/>
          </a:prstGeom>
          <a:noFill/>
          <a:ln/>
        </p:spPr>
        <p:txBody>
          <a:bodyPr wrap="square" lIns="0" tIns="0" rIns="0" bIns="0" rtlCol="0" anchor="ctr"/>
          <a:lstStyle/>
          <a:p>
            <a:pPr algn="ctr" indent="0" marL="0">
              <a:buNone/>
            </a:pPr>
            <a:r>
              <a:rPr lang="en-US" sz="1800" b="1" dirty="0">
                <a:solidFill>
                  <a:srgbClr val="0A0E1A"/>
                </a:solidFill>
                <a:latin typeface="Consolas" pitchFamily="34" charset="0"/>
                <a:ea typeface="Consolas" pitchFamily="34" charset="-122"/>
                <a:cs typeface="Consolas" pitchFamily="34" charset="-120"/>
              </a:rPr>
              <a:t>1</a:t>
            </a:r>
            <a:endParaRPr lang="en-US" sz="1800" dirty="0"/>
          </a:p>
        </p:txBody>
      </p:sp>
      <p:sp>
        <p:nvSpPr>
          <p:cNvPr id="14" name="Text 12"/>
          <p:cNvSpPr/>
          <p:nvPr/>
        </p:nvSpPr>
        <p:spPr>
          <a:xfrm>
            <a:off x="1069848" y="1399032"/>
            <a:ext cx="1783080" cy="347472"/>
          </a:xfrm>
          <a:prstGeom prst="rect">
            <a:avLst/>
          </a:prstGeom>
          <a:noFill/>
          <a:ln/>
        </p:spPr>
        <p:txBody>
          <a:bodyPr wrap="square" lIns="0" tIns="0" rIns="0" bIns="0" rtlCol="0" anchor="ctr"/>
          <a:lstStyle/>
          <a:p>
            <a:pPr indent="0" marL="0">
              <a:buNone/>
            </a:pPr>
            <a:r>
              <a:rPr lang="en-US" sz="1100" b="1" dirty="0">
                <a:solidFill>
                  <a:srgbClr val="00D4FF"/>
                </a:solidFill>
                <a:latin typeface="Consolas" pitchFamily="34" charset="0"/>
                <a:ea typeface="Consolas" pitchFamily="34" charset="-122"/>
                <a:cs typeface="Consolas" pitchFamily="34" charset="-120"/>
              </a:rPr>
              <a:t>Reconnaissance</a:t>
            </a:r>
            <a:endParaRPr lang="en-US" sz="1100" dirty="0"/>
          </a:p>
        </p:txBody>
      </p:sp>
      <p:sp>
        <p:nvSpPr>
          <p:cNvPr id="15" name="Text 13"/>
          <p:cNvSpPr/>
          <p:nvPr/>
        </p:nvSpPr>
        <p:spPr>
          <a:xfrm>
            <a:off x="429768" y="1984248"/>
            <a:ext cx="2423160" cy="822960"/>
          </a:xfrm>
          <a:prstGeom prst="rect">
            <a:avLst/>
          </a:prstGeom>
          <a:noFill/>
          <a:ln/>
        </p:spPr>
        <p:txBody>
          <a:bodyPr wrap="square" lIns="0" tIns="0" rIns="0" bIns="0" rtlCol="0" anchor="ctr"/>
          <a:lstStyle/>
          <a:p>
            <a:pPr indent="0" marL="0">
              <a:buNone/>
            </a:pPr>
            <a:r>
              <a:rPr lang="en-US" sz="950" dirty="0">
                <a:solidFill>
                  <a:srgbClr val="E2E8F0"/>
                </a:solidFill>
                <a:latin typeface="Calibri" pitchFamily="34" charset="0"/>
                <a:ea typeface="Calibri" pitchFamily="34" charset="-122"/>
                <a:cs typeface="Calibri" pitchFamily="34" charset="-120"/>
              </a:rPr>
              <a:t>File type, size, hash, metadata. Use DIE, file, exiftool.</a:t>
            </a:r>
            <a:endParaRPr lang="en-US" sz="950" dirty="0"/>
          </a:p>
        </p:txBody>
      </p:sp>
      <p:sp>
        <p:nvSpPr>
          <p:cNvPr id="16" name="Shape 14"/>
          <p:cNvSpPr/>
          <p:nvPr/>
        </p:nvSpPr>
        <p:spPr>
          <a:xfrm>
            <a:off x="3200400" y="1234440"/>
            <a:ext cx="2651760" cy="1691640"/>
          </a:xfrm>
          <a:prstGeom prst="rect">
            <a:avLst/>
          </a:prstGeom>
          <a:solidFill>
            <a:srgbClr val="111827"/>
          </a:solidFill>
          <a:ln w="12700">
            <a:solidFill>
              <a:srgbClr val="00FF88"/>
            </a:solidFill>
            <a:prstDash val="solid"/>
          </a:ln>
        </p:spPr>
      </p:sp>
      <p:sp>
        <p:nvSpPr>
          <p:cNvPr id="17" name="Shape 15"/>
          <p:cNvSpPr/>
          <p:nvPr/>
        </p:nvSpPr>
        <p:spPr>
          <a:xfrm>
            <a:off x="3337560" y="1371600"/>
            <a:ext cx="502920" cy="502920"/>
          </a:xfrm>
          <a:prstGeom prst="ellipse">
            <a:avLst/>
          </a:prstGeom>
          <a:solidFill>
            <a:srgbClr val="00FF88"/>
          </a:solidFill>
          <a:ln w="12700">
            <a:solidFill>
              <a:srgbClr val="00FF88"/>
            </a:solidFill>
            <a:prstDash val="solid"/>
          </a:ln>
        </p:spPr>
      </p:sp>
      <p:sp>
        <p:nvSpPr>
          <p:cNvPr id="18" name="Text 16"/>
          <p:cNvSpPr/>
          <p:nvPr/>
        </p:nvSpPr>
        <p:spPr>
          <a:xfrm>
            <a:off x="3337560" y="1371600"/>
            <a:ext cx="502920" cy="502920"/>
          </a:xfrm>
          <a:prstGeom prst="rect">
            <a:avLst/>
          </a:prstGeom>
          <a:noFill/>
          <a:ln/>
        </p:spPr>
        <p:txBody>
          <a:bodyPr wrap="square" lIns="0" tIns="0" rIns="0" bIns="0" rtlCol="0" anchor="ctr"/>
          <a:lstStyle/>
          <a:p>
            <a:pPr algn="ctr" indent="0" marL="0">
              <a:buNone/>
            </a:pPr>
            <a:r>
              <a:rPr lang="en-US" sz="1800" b="1" dirty="0">
                <a:solidFill>
                  <a:srgbClr val="0A0E1A"/>
                </a:solidFill>
                <a:latin typeface="Consolas" pitchFamily="34" charset="0"/>
                <a:ea typeface="Consolas" pitchFamily="34" charset="-122"/>
                <a:cs typeface="Consolas" pitchFamily="34" charset="-120"/>
              </a:rPr>
              <a:t>2</a:t>
            </a:r>
            <a:endParaRPr lang="en-US" sz="1800" dirty="0"/>
          </a:p>
        </p:txBody>
      </p:sp>
      <p:sp>
        <p:nvSpPr>
          <p:cNvPr id="19" name="Text 17"/>
          <p:cNvSpPr/>
          <p:nvPr/>
        </p:nvSpPr>
        <p:spPr>
          <a:xfrm>
            <a:off x="3950208" y="1399032"/>
            <a:ext cx="1783080" cy="347472"/>
          </a:xfrm>
          <a:prstGeom prst="rect">
            <a:avLst/>
          </a:prstGeom>
          <a:noFill/>
          <a:ln/>
        </p:spPr>
        <p:txBody>
          <a:bodyPr wrap="square" lIns="0" tIns="0" rIns="0" bIns="0" rtlCol="0" anchor="ctr"/>
          <a:lstStyle/>
          <a:p>
            <a:pPr indent="0" marL="0">
              <a:buNone/>
            </a:pPr>
            <a:r>
              <a:rPr lang="en-US" sz="1100" b="1" dirty="0">
                <a:solidFill>
                  <a:srgbClr val="00FF88"/>
                </a:solidFill>
                <a:latin typeface="Consolas" pitchFamily="34" charset="0"/>
                <a:ea typeface="Consolas" pitchFamily="34" charset="-122"/>
                <a:cs typeface="Consolas" pitchFamily="34" charset="-120"/>
              </a:rPr>
              <a:t>Static Analysis</a:t>
            </a:r>
            <a:endParaRPr lang="en-US" sz="1100" dirty="0"/>
          </a:p>
        </p:txBody>
      </p:sp>
      <p:sp>
        <p:nvSpPr>
          <p:cNvPr id="20" name="Text 18"/>
          <p:cNvSpPr/>
          <p:nvPr/>
        </p:nvSpPr>
        <p:spPr>
          <a:xfrm>
            <a:off x="3310128" y="1984248"/>
            <a:ext cx="2423160" cy="822960"/>
          </a:xfrm>
          <a:prstGeom prst="rect">
            <a:avLst/>
          </a:prstGeom>
          <a:noFill/>
          <a:ln/>
        </p:spPr>
        <p:txBody>
          <a:bodyPr wrap="square" lIns="0" tIns="0" rIns="0" bIns="0" rtlCol="0" anchor="ctr"/>
          <a:lstStyle/>
          <a:p>
            <a:pPr indent="0" marL="0">
              <a:buNone/>
            </a:pPr>
            <a:r>
              <a:rPr lang="en-US" sz="950" dirty="0">
                <a:solidFill>
                  <a:srgbClr val="E2E8F0"/>
                </a:solidFill>
                <a:latin typeface="Calibri" pitchFamily="34" charset="0"/>
                <a:ea typeface="Calibri" pitchFamily="34" charset="-122"/>
                <a:cs typeface="Calibri" pitchFamily="34" charset="-120"/>
              </a:rPr>
              <a:t>Strings, imports, disassembly. No execution. Use Ghidra.</a:t>
            </a:r>
            <a:endParaRPr lang="en-US" sz="950" dirty="0"/>
          </a:p>
        </p:txBody>
      </p:sp>
      <p:sp>
        <p:nvSpPr>
          <p:cNvPr id="21" name="Shape 19"/>
          <p:cNvSpPr/>
          <p:nvPr/>
        </p:nvSpPr>
        <p:spPr>
          <a:xfrm>
            <a:off x="6080760" y="1234440"/>
            <a:ext cx="2651760" cy="1691640"/>
          </a:xfrm>
          <a:prstGeom prst="rect">
            <a:avLst/>
          </a:prstGeom>
          <a:solidFill>
            <a:srgbClr val="111827"/>
          </a:solidFill>
          <a:ln w="12700">
            <a:solidFill>
              <a:srgbClr val="FF6B35"/>
            </a:solidFill>
            <a:prstDash val="solid"/>
          </a:ln>
        </p:spPr>
      </p:sp>
      <p:sp>
        <p:nvSpPr>
          <p:cNvPr id="22" name="Shape 20"/>
          <p:cNvSpPr/>
          <p:nvPr/>
        </p:nvSpPr>
        <p:spPr>
          <a:xfrm>
            <a:off x="6217920" y="1371600"/>
            <a:ext cx="502920" cy="502920"/>
          </a:xfrm>
          <a:prstGeom prst="ellipse">
            <a:avLst/>
          </a:prstGeom>
          <a:solidFill>
            <a:srgbClr val="FF6B35"/>
          </a:solidFill>
          <a:ln w="12700">
            <a:solidFill>
              <a:srgbClr val="FF6B35"/>
            </a:solidFill>
            <a:prstDash val="solid"/>
          </a:ln>
        </p:spPr>
      </p:sp>
      <p:sp>
        <p:nvSpPr>
          <p:cNvPr id="23" name="Text 21"/>
          <p:cNvSpPr/>
          <p:nvPr/>
        </p:nvSpPr>
        <p:spPr>
          <a:xfrm>
            <a:off x="6217920" y="1371600"/>
            <a:ext cx="502920" cy="502920"/>
          </a:xfrm>
          <a:prstGeom prst="rect">
            <a:avLst/>
          </a:prstGeom>
          <a:noFill/>
          <a:ln/>
        </p:spPr>
        <p:txBody>
          <a:bodyPr wrap="square" lIns="0" tIns="0" rIns="0" bIns="0" rtlCol="0" anchor="ctr"/>
          <a:lstStyle/>
          <a:p>
            <a:pPr algn="ctr" indent="0" marL="0">
              <a:buNone/>
            </a:pPr>
            <a:r>
              <a:rPr lang="en-US" sz="1800" b="1" dirty="0">
                <a:solidFill>
                  <a:srgbClr val="0A0E1A"/>
                </a:solidFill>
                <a:latin typeface="Consolas" pitchFamily="34" charset="0"/>
                <a:ea typeface="Consolas" pitchFamily="34" charset="-122"/>
                <a:cs typeface="Consolas" pitchFamily="34" charset="-120"/>
              </a:rPr>
              <a:t>3</a:t>
            </a:r>
            <a:endParaRPr lang="en-US" sz="1800" dirty="0"/>
          </a:p>
        </p:txBody>
      </p:sp>
      <p:sp>
        <p:nvSpPr>
          <p:cNvPr id="24" name="Text 22"/>
          <p:cNvSpPr/>
          <p:nvPr/>
        </p:nvSpPr>
        <p:spPr>
          <a:xfrm>
            <a:off x="6830568" y="1399032"/>
            <a:ext cx="1783080" cy="347472"/>
          </a:xfrm>
          <a:prstGeom prst="rect">
            <a:avLst/>
          </a:prstGeom>
          <a:noFill/>
          <a:ln/>
        </p:spPr>
        <p:txBody>
          <a:bodyPr wrap="square" lIns="0" tIns="0" rIns="0" bIns="0" rtlCol="0" anchor="ctr"/>
          <a:lstStyle/>
          <a:p>
            <a:pPr indent="0" marL="0">
              <a:buNone/>
            </a:pPr>
            <a:r>
              <a:rPr lang="en-US" sz="1100" b="1" dirty="0">
                <a:solidFill>
                  <a:srgbClr val="FF6B35"/>
                </a:solidFill>
                <a:latin typeface="Consolas" pitchFamily="34" charset="0"/>
                <a:ea typeface="Consolas" pitchFamily="34" charset="-122"/>
                <a:cs typeface="Consolas" pitchFamily="34" charset="-120"/>
              </a:rPr>
              <a:t>Dynamic Analysis</a:t>
            </a:r>
            <a:endParaRPr lang="en-US" sz="1100" dirty="0"/>
          </a:p>
        </p:txBody>
      </p:sp>
      <p:sp>
        <p:nvSpPr>
          <p:cNvPr id="25" name="Text 23"/>
          <p:cNvSpPr/>
          <p:nvPr/>
        </p:nvSpPr>
        <p:spPr>
          <a:xfrm>
            <a:off x="6190488" y="1984248"/>
            <a:ext cx="2423160" cy="822960"/>
          </a:xfrm>
          <a:prstGeom prst="rect">
            <a:avLst/>
          </a:prstGeom>
          <a:noFill/>
          <a:ln/>
        </p:spPr>
        <p:txBody>
          <a:bodyPr wrap="square" lIns="0" tIns="0" rIns="0" bIns="0" rtlCol="0" anchor="ctr"/>
          <a:lstStyle/>
          <a:p>
            <a:pPr indent="0" marL="0">
              <a:buNone/>
            </a:pPr>
            <a:r>
              <a:rPr lang="en-US" sz="950" dirty="0">
                <a:solidFill>
                  <a:srgbClr val="E2E8F0"/>
                </a:solidFill>
                <a:latin typeface="Calibri" pitchFamily="34" charset="0"/>
                <a:ea typeface="Calibri" pitchFamily="34" charset="-122"/>
                <a:cs typeface="Calibri" pitchFamily="34" charset="-120"/>
              </a:rPr>
              <a:t>Run in sandbox/VM. Set breakpoints. Use x64dbg.</a:t>
            </a:r>
            <a:endParaRPr lang="en-US" sz="950" dirty="0"/>
          </a:p>
        </p:txBody>
      </p:sp>
      <p:sp>
        <p:nvSpPr>
          <p:cNvPr id="26" name="Shape 24"/>
          <p:cNvSpPr/>
          <p:nvPr/>
        </p:nvSpPr>
        <p:spPr>
          <a:xfrm>
            <a:off x="320040" y="3154680"/>
            <a:ext cx="2651760" cy="1691640"/>
          </a:xfrm>
          <a:prstGeom prst="rect">
            <a:avLst/>
          </a:prstGeom>
          <a:solidFill>
            <a:srgbClr val="111827"/>
          </a:solidFill>
          <a:ln w="12700">
            <a:solidFill>
              <a:srgbClr val="A855F7"/>
            </a:solidFill>
            <a:prstDash val="solid"/>
          </a:ln>
        </p:spPr>
      </p:sp>
      <p:sp>
        <p:nvSpPr>
          <p:cNvPr id="27" name="Shape 25"/>
          <p:cNvSpPr/>
          <p:nvPr/>
        </p:nvSpPr>
        <p:spPr>
          <a:xfrm>
            <a:off x="457200" y="3291840"/>
            <a:ext cx="502920" cy="502920"/>
          </a:xfrm>
          <a:prstGeom prst="ellipse">
            <a:avLst/>
          </a:prstGeom>
          <a:solidFill>
            <a:srgbClr val="A855F7"/>
          </a:solidFill>
          <a:ln w="12700">
            <a:solidFill>
              <a:srgbClr val="A855F7"/>
            </a:solidFill>
            <a:prstDash val="solid"/>
          </a:ln>
        </p:spPr>
      </p:sp>
      <p:sp>
        <p:nvSpPr>
          <p:cNvPr id="28" name="Text 26"/>
          <p:cNvSpPr/>
          <p:nvPr/>
        </p:nvSpPr>
        <p:spPr>
          <a:xfrm>
            <a:off x="457200" y="3291840"/>
            <a:ext cx="502920" cy="502920"/>
          </a:xfrm>
          <a:prstGeom prst="rect">
            <a:avLst/>
          </a:prstGeom>
          <a:noFill/>
          <a:ln/>
        </p:spPr>
        <p:txBody>
          <a:bodyPr wrap="square" lIns="0" tIns="0" rIns="0" bIns="0" rtlCol="0" anchor="ctr"/>
          <a:lstStyle/>
          <a:p>
            <a:pPr algn="ctr" indent="0" marL="0">
              <a:buNone/>
            </a:pPr>
            <a:r>
              <a:rPr lang="en-US" sz="1800" b="1" dirty="0">
                <a:solidFill>
                  <a:srgbClr val="0A0E1A"/>
                </a:solidFill>
                <a:latin typeface="Consolas" pitchFamily="34" charset="0"/>
                <a:ea typeface="Consolas" pitchFamily="34" charset="-122"/>
                <a:cs typeface="Consolas" pitchFamily="34" charset="-120"/>
              </a:rPr>
              <a:t>4</a:t>
            </a:r>
            <a:endParaRPr lang="en-US" sz="1800" dirty="0"/>
          </a:p>
        </p:txBody>
      </p:sp>
      <p:sp>
        <p:nvSpPr>
          <p:cNvPr id="29" name="Text 27"/>
          <p:cNvSpPr/>
          <p:nvPr/>
        </p:nvSpPr>
        <p:spPr>
          <a:xfrm>
            <a:off x="1069848" y="3319272"/>
            <a:ext cx="1783080" cy="347472"/>
          </a:xfrm>
          <a:prstGeom prst="rect">
            <a:avLst/>
          </a:prstGeom>
          <a:noFill/>
          <a:ln/>
        </p:spPr>
        <p:txBody>
          <a:bodyPr wrap="square" lIns="0" tIns="0" rIns="0" bIns="0" rtlCol="0" anchor="ctr"/>
          <a:lstStyle/>
          <a:p>
            <a:pPr indent="0" marL="0">
              <a:buNone/>
            </a:pPr>
            <a:r>
              <a:rPr lang="en-US" sz="1100" b="1" dirty="0">
                <a:solidFill>
                  <a:srgbClr val="A855F7"/>
                </a:solidFill>
                <a:latin typeface="Consolas" pitchFamily="34" charset="0"/>
                <a:ea typeface="Consolas" pitchFamily="34" charset="-122"/>
                <a:cs typeface="Consolas" pitchFamily="34" charset="-120"/>
              </a:rPr>
              <a:t>Identify Logic</a:t>
            </a:r>
            <a:endParaRPr lang="en-US" sz="1100" dirty="0"/>
          </a:p>
        </p:txBody>
      </p:sp>
      <p:sp>
        <p:nvSpPr>
          <p:cNvPr id="30" name="Text 28"/>
          <p:cNvSpPr/>
          <p:nvPr/>
        </p:nvSpPr>
        <p:spPr>
          <a:xfrm>
            <a:off x="429768" y="3904488"/>
            <a:ext cx="2423160" cy="822960"/>
          </a:xfrm>
          <a:prstGeom prst="rect">
            <a:avLst/>
          </a:prstGeom>
          <a:noFill/>
          <a:ln/>
        </p:spPr>
        <p:txBody>
          <a:bodyPr wrap="square" lIns="0" tIns="0" rIns="0" bIns="0" rtlCol="0" anchor="ctr"/>
          <a:lstStyle/>
          <a:p>
            <a:pPr indent="0" marL="0">
              <a:buNone/>
            </a:pPr>
            <a:r>
              <a:rPr lang="en-US" sz="950" dirty="0">
                <a:solidFill>
                  <a:srgbClr val="E2E8F0"/>
                </a:solidFill>
                <a:latin typeface="Calibri" pitchFamily="34" charset="0"/>
                <a:ea typeface="Calibri" pitchFamily="34" charset="-122"/>
                <a:cs typeface="Calibri" pitchFamily="34" charset="-120"/>
              </a:rPr>
              <a:t>Find main functions, crypto, network calls, file ops.</a:t>
            </a:r>
            <a:endParaRPr lang="en-US" sz="950" dirty="0"/>
          </a:p>
        </p:txBody>
      </p:sp>
      <p:sp>
        <p:nvSpPr>
          <p:cNvPr id="31" name="Shape 29"/>
          <p:cNvSpPr/>
          <p:nvPr/>
        </p:nvSpPr>
        <p:spPr>
          <a:xfrm>
            <a:off x="3200400" y="3154680"/>
            <a:ext cx="2651760" cy="1691640"/>
          </a:xfrm>
          <a:prstGeom prst="rect">
            <a:avLst/>
          </a:prstGeom>
          <a:solidFill>
            <a:srgbClr val="111827"/>
          </a:solidFill>
          <a:ln w="12700">
            <a:solidFill>
              <a:srgbClr val="FFD700"/>
            </a:solidFill>
            <a:prstDash val="solid"/>
          </a:ln>
        </p:spPr>
      </p:sp>
      <p:sp>
        <p:nvSpPr>
          <p:cNvPr id="32" name="Shape 30"/>
          <p:cNvSpPr/>
          <p:nvPr/>
        </p:nvSpPr>
        <p:spPr>
          <a:xfrm>
            <a:off x="3337560" y="3291840"/>
            <a:ext cx="502920" cy="502920"/>
          </a:xfrm>
          <a:prstGeom prst="ellipse">
            <a:avLst/>
          </a:prstGeom>
          <a:solidFill>
            <a:srgbClr val="FFD700"/>
          </a:solidFill>
          <a:ln w="12700">
            <a:solidFill>
              <a:srgbClr val="FFD700"/>
            </a:solidFill>
            <a:prstDash val="solid"/>
          </a:ln>
        </p:spPr>
      </p:sp>
      <p:sp>
        <p:nvSpPr>
          <p:cNvPr id="33" name="Text 31"/>
          <p:cNvSpPr/>
          <p:nvPr/>
        </p:nvSpPr>
        <p:spPr>
          <a:xfrm>
            <a:off x="3337560" y="3291840"/>
            <a:ext cx="502920" cy="502920"/>
          </a:xfrm>
          <a:prstGeom prst="rect">
            <a:avLst/>
          </a:prstGeom>
          <a:noFill/>
          <a:ln/>
        </p:spPr>
        <p:txBody>
          <a:bodyPr wrap="square" lIns="0" tIns="0" rIns="0" bIns="0" rtlCol="0" anchor="ctr"/>
          <a:lstStyle/>
          <a:p>
            <a:pPr algn="ctr" indent="0" marL="0">
              <a:buNone/>
            </a:pPr>
            <a:r>
              <a:rPr lang="en-US" sz="1800" b="1" dirty="0">
                <a:solidFill>
                  <a:srgbClr val="0A0E1A"/>
                </a:solidFill>
                <a:latin typeface="Consolas" pitchFamily="34" charset="0"/>
                <a:ea typeface="Consolas" pitchFamily="34" charset="-122"/>
                <a:cs typeface="Consolas" pitchFamily="34" charset="-120"/>
              </a:rPr>
              <a:t>5</a:t>
            </a:r>
            <a:endParaRPr lang="en-US" sz="1800" dirty="0"/>
          </a:p>
        </p:txBody>
      </p:sp>
      <p:sp>
        <p:nvSpPr>
          <p:cNvPr id="34" name="Text 32"/>
          <p:cNvSpPr/>
          <p:nvPr/>
        </p:nvSpPr>
        <p:spPr>
          <a:xfrm>
            <a:off x="3950208" y="3319272"/>
            <a:ext cx="1783080" cy="347472"/>
          </a:xfrm>
          <a:prstGeom prst="rect">
            <a:avLst/>
          </a:prstGeom>
          <a:noFill/>
          <a:ln/>
        </p:spPr>
        <p:txBody>
          <a:bodyPr wrap="square" lIns="0" tIns="0" rIns="0" bIns="0" rtlCol="0" anchor="ctr"/>
          <a:lstStyle/>
          <a:p>
            <a:pPr indent="0" marL="0">
              <a:buNone/>
            </a:pPr>
            <a:r>
              <a:rPr lang="en-US" sz="1100" b="1" dirty="0">
                <a:solidFill>
                  <a:srgbClr val="FFD700"/>
                </a:solidFill>
                <a:latin typeface="Consolas" pitchFamily="34" charset="0"/>
                <a:ea typeface="Consolas" pitchFamily="34" charset="-122"/>
                <a:cs typeface="Consolas" pitchFamily="34" charset="-120"/>
              </a:rPr>
              <a:t>Document</a:t>
            </a:r>
            <a:endParaRPr lang="en-US" sz="1100" dirty="0"/>
          </a:p>
        </p:txBody>
      </p:sp>
      <p:sp>
        <p:nvSpPr>
          <p:cNvPr id="35" name="Text 33"/>
          <p:cNvSpPr/>
          <p:nvPr/>
        </p:nvSpPr>
        <p:spPr>
          <a:xfrm>
            <a:off x="3310128" y="3904488"/>
            <a:ext cx="2423160" cy="822960"/>
          </a:xfrm>
          <a:prstGeom prst="rect">
            <a:avLst/>
          </a:prstGeom>
          <a:noFill/>
          <a:ln/>
        </p:spPr>
        <p:txBody>
          <a:bodyPr wrap="square" lIns="0" tIns="0" rIns="0" bIns="0" rtlCol="0" anchor="ctr"/>
          <a:lstStyle/>
          <a:p>
            <a:pPr indent="0" marL="0">
              <a:buNone/>
            </a:pPr>
            <a:r>
              <a:rPr lang="en-US" sz="950" dirty="0">
                <a:solidFill>
                  <a:srgbClr val="E2E8F0"/>
                </a:solidFill>
                <a:latin typeface="Calibri" pitchFamily="34" charset="0"/>
                <a:ea typeface="Calibri" pitchFamily="34" charset="-122"/>
                <a:cs typeface="Calibri" pitchFamily="34" charset="-120"/>
              </a:rPr>
              <a:t>Note findings: addresses, function names, IOCs, behavior.</a:t>
            </a:r>
            <a:endParaRPr lang="en-US" sz="950" dirty="0"/>
          </a:p>
        </p:txBody>
      </p:sp>
      <p:sp>
        <p:nvSpPr>
          <p:cNvPr id="36" name="Shape 34"/>
          <p:cNvSpPr/>
          <p:nvPr/>
        </p:nvSpPr>
        <p:spPr>
          <a:xfrm>
            <a:off x="6080760" y="3154680"/>
            <a:ext cx="2651760" cy="1691640"/>
          </a:xfrm>
          <a:prstGeom prst="rect">
            <a:avLst/>
          </a:prstGeom>
          <a:solidFill>
            <a:srgbClr val="111827"/>
          </a:solidFill>
          <a:ln w="12700">
            <a:solidFill>
              <a:srgbClr val="FF3355"/>
            </a:solidFill>
            <a:prstDash val="solid"/>
          </a:ln>
        </p:spPr>
      </p:sp>
      <p:sp>
        <p:nvSpPr>
          <p:cNvPr id="37" name="Shape 35"/>
          <p:cNvSpPr/>
          <p:nvPr/>
        </p:nvSpPr>
        <p:spPr>
          <a:xfrm>
            <a:off x="6217920" y="3291840"/>
            <a:ext cx="502920" cy="502920"/>
          </a:xfrm>
          <a:prstGeom prst="ellipse">
            <a:avLst/>
          </a:prstGeom>
          <a:solidFill>
            <a:srgbClr val="FF3355"/>
          </a:solidFill>
          <a:ln w="12700">
            <a:solidFill>
              <a:srgbClr val="FF3355"/>
            </a:solidFill>
            <a:prstDash val="solid"/>
          </a:ln>
        </p:spPr>
      </p:sp>
      <p:sp>
        <p:nvSpPr>
          <p:cNvPr id="38" name="Text 36"/>
          <p:cNvSpPr/>
          <p:nvPr/>
        </p:nvSpPr>
        <p:spPr>
          <a:xfrm>
            <a:off x="6217920" y="3291840"/>
            <a:ext cx="502920" cy="502920"/>
          </a:xfrm>
          <a:prstGeom prst="rect">
            <a:avLst/>
          </a:prstGeom>
          <a:noFill/>
          <a:ln/>
        </p:spPr>
        <p:txBody>
          <a:bodyPr wrap="square" lIns="0" tIns="0" rIns="0" bIns="0" rtlCol="0" anchor="ctr"/>
          <a:lstStyle/>
          <a:p>
            <a:pPr algn="ctr" indent="0" marL="0">
              <a:buNone/>
            </a:pPr>
            <a:r>
              <a:rPr lang="en-US" sz="1800" b="1" dirty="0">
                <a:solidFill>
                  <a:srgbClr val="0A0E1A"/>
                </a:solidFill>
                <a:latin typeface="Consolas" pitchFamily="34" charset="0"/>
                <a:ea typeface="Consolas" pitchFamily="34" charset="-122"/>
                <a:cs typeface="Consolas" pitchFamily="34" charset="-120"/>
              </a:rPr>
              <a:t>6</a:t>
            </a:r>
            <a:endParaRPr lang="en-US" sz="1800" dirty="0"/>
          </a:p>
        </p:txBody>
      </p:sp>
      <p:sp>
        <p:nvSpPr>
          <p:cNvPr id="39" name="Text 37"/>
          <p:cNvSpPr/>
          <p:nvPr/>
        </p:nvSpPr>
        <p:spPr>
          <a:xfrm>
            <a:off x="6830568" y="3319272"/>
            <a:ext cx="1783080" cy="347472"/>
          </a:xfrm>
          <a:prstGeom prst="rect">
            <a:avLst/>
          </a:prstGeom>
          <a:noFill/>
          <a:ln/>
        </p:spPr>
        <p:txBody>
          <a:bodyPr wrap="square" lIns="0" tIns="0" rIns="0" bIns="0" rtlCol="0" anchor="ctr"/>
          <a:lstStyle/>
          <a:p>
            <a:pPr indent="0" marL="0">
              <a:buNone/>
            </a:pPr>
            <a:r>
              <a:rPr lang="en-US" sz="1100" b="1" dirty="0">
                <a:solidFill>
                  <a:srgbClr val="FF3355"/>
                </a:solidFill>
                <a:latin typeface="Consolas" pitchFamily="34" charset="0"/>
                <a:ea typeface="Consolas" pitchFamily="34" charset="-122"/>
                <a:cs typeface="Consolas" pitchFamily="34" charset="-120"/>
              </a:rPr>
              <a:t>Report / Patch</a:t>
            </a:r>
            <a:endParaRPr lang="en-US" sz="1100" dirty="0"/>
          </a:p>
        </p:txBody>
      </p:sp>
      <p:sp>
        <p:nvSpPr>
          <p:cNvPr id="40" name="Text 38"/>
          <p:cNvSpPr/>
          <p:nvPr/>
        </p:nvSpPr>
        <p:spPr>
          <a:xfrm>
            <a:off x="6190488" y="3904488"/>
            <a:ext cx="2423160" cy="822960"/>
          </a:xfrm>
          <a:prstGeom prst="rect">
            <a:avLst/>
          </a:prstGeom>
          <a:noFill/>
          <a:ln/>
        </p:spPr>
        <p:txBody>
          <a:bodyPr wrap="square" lIns="0" tIns="0" rIns="0" bIns="0" rtlCol="0" anchor="ctr"/>
          <a:lstStyle/>
          <a:p>
            <a:pPr indent="0" marL="0">
              <a:buNone/>
            </a:pPr>
            <a:r>
              <a:rPr lang="en-US" sz="950" dirty="0">
                <a:solidFill>
                  <a:srgbClr val="E2E8F0"/>
                </a:solidFill>
                <a:latin typeface="Calibri" pitchFamily="34" charset="0"/>
                <a:ea typeface="Calibri" pitchFamily="34" charset="-122"/>
                <a:cs typeface="Calibri" pitchFamily="34" charset="-120"/>
              </a:rPr>
              <a:t>Write report or patch the binary per your goal.</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3200400" cy="5143500"/>
          </a:xfrm>
          <a:prstGeom prst="rect">
            <a:avLst/>
          </a:prstGeom>
          <a:solidFill>
            <a:srgbClr val="111827"/>
          </a:solidFill>
          <a:ln w="12700">
            <a:solidFill>
              <a:srgbClr val="111827"/>
            </a:solidFill>
            <a:prstDash val="solid"/>
          </a:ln>
        </p:spPr>
      </p:sp>
      <p:sp>
        <p:nvSpPr>
          <p:cNvPr id="3" name="Shape 1"/>
          <p:cNvSpPr/>
          <p:nvPr/>
        </p:nvSpPr>
        <p:spPr>
          <a:xfrm>
            <a:off x="3163824" y="0"/>
            <a:ext cx="36576" cy="5143500"/>
          </a:xfrm>
          <a:prstGeom prst="rect">
            <a:avLst/>
          </a:prstGeom>
          <a:solidFill>
            <a:srgbClr val="FF6B35"/>
          </a:solidFill>
          <a:ln w="12700">
            <a:solidFill>
              <a:srgbClr val="FF6B35"/>
            </a:solidFill>
            <a:prstDash val="solid"/>
          </a:ln>
        </p:spPr>
      </p:sp>
      <p:sp>
        <p:nvSpPr>
          <p:cNvPr id="4" name="Text 2"/>
          <p:cNvSpPr/>
          <p:nvPr/>
        </p:nvSpPr>
        <p:spPr>
          <a:xfrm>
            <a:off x="274320" y="365760"/>
            <a:ext cx="2560320" cy="365760"/>
          </a:xfrm>
          <a:prstGeom prst="rect">
            <a:avLst/>
          </a:prstGeom>
          <a:noFill/>
          <a:ln/>
        </p:spPr>
        <p:txBody>
          <a:bodyPr wrap="square" lIns="0" tIns="0" rIns="0" bIns="0" rtlCol="0" anchor="ctr"/>
          <a:lstStyle/>
          <a:p>
            <a:pPr indent="0" marL="0">
              <a:buNone/>
            </a:pPr>
            <a:r>
              <a:rPr lang="en-US" sz="1000" spc="400" kern="0" dirty="0">
                <a:solidFill>
                  <a:srgbClr val="8B9BB4"/>
                </a:solidFill>
                <a:latin typeface="Consolas" pitchFamily="34" charset="0"/>
                <a:ea typeface="Consolas" pitchFamily="34" charset="-122"/>
                <a:cs typeface="Consolas" pitchFamily="34" charset="-120"/>
              </a:rPr>
              <a:t>SECTION 6</a:t>
            </a:r>
            <a:endParaRPr lang="en-US" sz="1000" dirty="0"/>
          </a:p>
        </p:txBody>
      </p:sp>
      <p:sp>
        <p:nvSpPr>
          <p:cNvPr id="5" name="Text 3"/>
          <p:cNvSpPr/>
          <p:nvPr/>
        </p:nvSpPr>
        <p:spPr>
          <a:xfrm>
            <a:off x="274320" y="731520"/>
            <a:ext cx="2560320" cy="1645920"/>
          </a:xfrm>
          <a:prstGeom prst="rect">
            <a:avLst/>
          </a:prstGeom>
          <a:noFill/>
          <a:ln/>
        </p:spPr>
        <p:txBody>
          <a:bodyPr wrap="square" lIns="0" tIns="0" rIns="0" bIns="0" rtlCol="0" anchor="ctr"/>
          <a:lstStyle/>
          <a:p>
            <a:pPr indent="0" marL="0">
              <a:buNone/>
            </a:pPr>
            <a:r>
              <a:rPr lang="en-US" sz="10000" b="1" dirty="0">
                <a:solidFill>
                  <a:srgbClr val="FF6B35">
                    <a:alpha val="90000"/>
                  </a:srgbClr>
                </a:solidFill>
                <a:latin typeface="Consolas" pitchFamily="34" charset="0"/>
                <a:ea typeface="Consolas" pitchFamily="34" charset="-122"/>
                <a:cs typeface="Consolas" pitchFamily="34" charset="-120"/>
              </a:rPr>
              <a:t>06</a:t>
            </a:r>
            <a:endParaRPr lang="en-US" sz="10000" dirty="0"/>
          </a:p>
        </p:txBody>
      </p:sp>
      <p:pic>
        <p:nvPicPr>
          <p:cNvPr id="6" name="Image 0" descr="preencoded.png">    </p:cNvPr>
          <p:cNvPicPr>
            <a:picLocks noChangeAspect="1"/>
          </p:cNvPicPr>
          <p:nvPr/>
        </p:nvPicPr>
        <p:blipFill>
          <a:blip r:embed="rId1"/>
          <a:stretch>
            <a:fillRect/>
          </a:stretch>
        </p:blipFill>
        <p:spPr>
          <a:xfrm>
            <a:off x="822960" y="2926080"/>
            <a:ext cx="1463040" cy="1463040"/>
          </a:xfrm>
          <a:prstGeom prst="rect">
            <a:avLst/>
          </a:prstGeom>
        </p:spPr>
      </p:pic>
      <p:sp>
        <p:nvSpPr>
          <p:cNvPr id="7" name="Text 4"/>
          <p:cNvSpPr/>
          <p:nvPr/>
        </p:nvSpPr>
        <p:spPr>
          <a:xfrm>
            <a:off x="3474720" y="1463040"/>
            <a:ext cx="5394960" cy="1371600"/>
          </a:xfrm>
          <a:prstGeom prst="rect">
            <a:avLst/>
          </a:prstGeom>
          <a:noFill/>
          <a:ln/>
        </p:spPr>
        <p:txBody>
          <a:bodyPr wrap="square" lIns="0" tIns="0" rIns="0" bIns="0" rtlCol="0" anchor="ctr"/>
          <a:lstStyle/>
          <a:p>
            <a:pPr indent="0" marL="0">
              <a:buNone/>
            </a:pPr>
            <a:r>
              <a:rPr lang="en-US" sz="3600" b="1" dirty="0">
                <a:solidFill>
                  <a:srgbClr val="FFFFFF"/>
                </a:solidFill>
                <a:latin typeface="Consolas" pitchFamily="34" charset="0"/>
                <a:ea typeface="Consolas" pitchFamily="34" charset="-122"/>
                <a:cs typeface="Consolas" pitchFamily="34" charset="-120"/>
              </a:rPr>
              <a:t>RE Tools</a:t>
            </a:r>
            <a:endParaRPr lang="en-US" sz="3600" dirty="0"/>
          </a:p>
        </p:txBody>
      </p:sp>
      <p:sp>
        <p:nvSpPr>
          <p:cNvPr id="8" name="Text 5"/>
          <p:cNvSpPr/>
          <p:nvPr/>
        </p:nvSpPr>
        <p:spPr>
          <a:xfrm>
            <a:off x="3474720" y="2926080"/>
            <a:ext cx="5394960" cy="1097280"/>
          </a:xfrm>
          <a:prstGeom prst="rect">
            <a:avLst/>
          </a:prstGeom>
          <a:noFill/>
          <a:ln/>
        </p:spPr>
        <p:txBody>
          <a:bodyPr wrap="square" lIns="0" tIns="0" rIns="0" bIns="0" rtlCol="0" anchor="ctr"/>
          <a:lstStyle/>
          <a:p>
            <a:pPr indent="0" marL="0">
              <a:buNone/>
            </a:pPr>
            <a:r>
              <a:rPr lang="en-US" sz="1400" dirty="0">
                <a:solidFill>
                  <a:srgbClr val="8B9BB4"/>
                </a:solidFill>
                <a:latin typeface="Calibri" pitchFamily="34" charset="0"/>
                <a:ea typeface="Calibri" pitchFamily="34" charset="-122"/>
                <a:cs typeface="Calibri" pitchFamily="34" charset="-120"/>
              </a:rPr>
              <a:t>The arsenal: disassemblers, debuggers, and analysis tools.</a:t>
            </a:r>
            <a:endParaRPr lang="en-US" sz="1400" dirty="0"/>
          </a:p>
        </p:txBody>
      </p:sp>
      <p:sp>
        <p:nvSpPr>
          <p:cNvPr id="9" name="Shape 6"/>
          <p:cNvSpPr/>
          <p:nvPr/>
        </p:nvSpPr>
        <p:spPr>
          <a:xfrm>
            <a:off x="3474720" y="4297680"/>
            <a:ext cx="91440" cy="91440"/>
          </a:xfrm>
          <a:prstGeom prst="ellipse">
            <a:avLst/>
          </a:prstGeom>
          <a:solidFill>
            <a:srgbClr val="FF6B35"/>
          </a:solidFill>
          <a:ln w="12700">
            <a:solidFill>
              <a:srgbClr val="FF6B35"/>
            </a:solidFill>
            <a:prstDash val="solid"/>
          </a:ln>
        </p:spPr>
      </p:sp>
      <p:sp>
        <p:nvSpPr>
          <p:cNvPr id="10" name="Shape 7"/>
          <p:cNvSpPr/>
          <p:nvPr/>
        </p:nvSpPr>
        <p:spPr>
          <a:xfrm>
            <a:off x="3794760" y="4297680"/>
            <a:ext cx="91440" cy="91440"/>
          </a:xfrm>
          <a:prstGeom prst="ellipse">
            <a:avLst/>
          </a:prstGeom>
          <a:solidFill>
            <a:srgbClr val="FF6B35">
              <a:alpha val="85000"/>
            </a:srgbClr>
          </a:solidFill>
          <a:ln w="12700">
            <a:solidFill>
              <a:srgbClr val="FF6B35">
                <a:alpha val="85000"/>
              </a:srgbClr>
            </a:solidFill>
            <a:prstDash val="solid"/>
          </a:ln>
        </p:spPr>
      </p:sp>
      <p:sp>
        <p:nvSpPr>
          <p:cNvPr id="11" name="Shape 8"/>
          <p:cNvSpPr/>
          <p:nvPr/>
        </p:nvSpPr>
        <p:spPr>
          <a:xfrm>
            <a:off x="4114800" y="4297680"/>
            <a:ext cx="91440" cy="91440"/>
          </a:xfrm>
          <a:prstGeom prst="ellipse">
            <a:avLst/>
          </a:prstGeom>
          <a:solidFill>
            <a:srgbClr val="FF6B35">
              <a:alpha val="70000"/>
            </a:srgbClr>
          </a:solidFill>
          <a:ln w="12700">
            <a:solidFill>
              <a:srgbClr val="FF6B35">
                <a:alpha val="70000"/>
              </a:srgbClr>
            </a:solidFill>
            <a:prstDash val="solid"/>
          </a:ln>
        </p:spPr>
      </p:sp>
      <p:sp>
        <p:nvSpPr>
          <p:cNvPr id="12" name="Shape 9"/>
          <p:cNvSpPr/>
          <p:nvPr/>
        </p:nvSpPr>
        <p:spPr>
          <a:xfrm>
            <a:off x="4434840" y="4297680"/>
            <a:ext cx="91440" cy="91440"/>
          </a:xfrm>
          <a:prstGeom prst="ellipse">
            <a:avLst/>
          </a:prstGeom>
          <a:solidFill>
            <a:srgbClr val="FF6B35">
              <a:alpha val="55000"/>
            </a:srgbClr>
          </a:solidFill>
          <a:ln w="12700">
            <a:solidFill>
              <a:srgbClr val="FF6B35">
                <a:alpha val="55000"/>
              </a:srgbClr>
            </a:solidFill>
            <a:prstDash val="solid"/>
          </a:ln>
        </p:spPr>
      </p:sp>
      <p:sp>
        <p:nvSpPr>
          <p:cNvPr id="13" name="Shape 10"/>
          <p:cNvSpPr/>
          <p:nvPr/>
        </p:nvSpPr>
        <p:spPr>
          <a:xfrm>
            <a:off x="4754880" y="4297680"/>
            <a:ext cx="91440" cy="91440"/>
          </a:xfrm>
          <a:prstGeom prst="ellipse">
            <a:avLst/>
          </a:prstGeom>
          <a:solidFill>
            <a:srgbClr val="FF6B35">
              <a:alpha val="40000"/>
            </a:srgbClr>
          </a:solidFill>
          <a:ln w="12700">
            <a:solidFill>
              <a:srgbClr val="FF6B35">
                <a:alpha val="40000"/>
              </a:srgbClr>
            </a:solidFill>
            <a:prstDash val="solid"/>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164592" y="164592"/>
            <a:ext cx="365760" cy="45720"/>
          </a:xfrm>
          <a:prstGeom prst="rect">
            <a:avLst/>
          </a:prstGeom>
          <a:solidFill>
            <a:srgbClr val="00FF88"/>
          </a:solidFill>
          <a:ln w="12700">
            <a:solidFill>
              <a:srgbClr val="00FF88"/>
            </a:solidFill>
            <a:prstDash val="solid"/>
          </a:ln>
        </p:spPr>
      </p:sp>
      <p:sp>
        <p:nvSpPr>
          <p:cNvPr id="3" name="Shape 1"/>
          <p:cNvSpPr/>
          <p:nvPr/>
        </p:nvSpPr>
        <p:spPr>
          <a:xfrm>
            <a:off x="164592" y="164592"/>
            <a:ext cx="45720" cy="274320"/>
          </a:xfrm>
          <a:prstGeom prst="rect">
            <a:avLst/>
          </a:prstGeom>
          <a:solidFill>
            <a:srgbClr val="00FF88"/>
          </a:solidFill>
          <a:ln w="12700">
            <a:solidFill>
              <a:srgbClr val="00FF88"/>
            </a:solidFill>
            <a:prstDash val="solid"/>
          </a:ln>
        </p:spPr>
      </p:sp>
      <p:sp>
        <p:nvSpPr>
          <p:cNvPr id="4" name="Shape 2"/>
          <p:cNvSpPr/>
          <p:nvPr/>
        </p:nvSpPr>
        <p:spPr>
          <a:xfrm>
            <a:off x="8613648" y="4910328"/>
            <a:ext cx="365760" cy="45720"/>
          </a:xfrm>
          <a:prstGeom prst="rect">
            <a:avLst/>
          </a:prstGeom>
          <a:solidFill>
            <a:srgbClr val="00D4FF"/>
          </a:solidFill>
          <a:ln w="12700">
            <a:solidFill>
              <a:srgbClr val="00D4FF"/>
            </a:solidFill>
            <a:prstDash val="solid"/>
          </a:ln>
        </p:spPr>
      </p:sp>
      <p:sp>
        <p:nvSpPr>
          <p:cNvPr id="5" name="Shape 3"/>
          <p:cNvSpPr/>
          <p:nvPr/>
        </p:nvSpPr>
        <p:spPr>
          <a:xfrm>
            <a:off x="8933688" y="4681728"/>
            <a:ext cx="45720" cy="274320"/>
          </a:xfrm>
          <a:prstGeom prst="rect">
            <a:avLst/>
          </a:prstGeom>
          <a:solidFill>
            <a:srgbClr val="00D4FF"/>
          </a:solidFill>
          <a:ln w="12700">
            <a:solidFill>
              <a:srgbClr val="00D4FF"/>
            </a:solidFill>
            <a:prstDash val="solid"/>
          </a:ln>
        </p:spPr>
      </p:sp>
      <p:sp>
        <p:nvSpPr>
          <p:cNvPr id="6" name="Shape 4"/>
          <p:cNvSpPr/>
          <p:nvPr/>
        </p:nvSpPr>
        <p:spPr>
          <a:xfrm>
            <a:off x="411480" y="201168"/>
            <a:ext cx="2061972" cy="256032"/>
          </a:xfrm>
          <a:prstGeom prst="rect">
            <a:avLst/>
          </a:prstGeom>
          <a:solidFill>
            <a:srgbClr val="FF6B35"/>
          </a:solidFill>
          <a:ln w="12700">
            <a:solidFill>
              <a:srgbClr val="FF6B35"/>
            </a:solidFill>
            <a:prstDash val="solid"/>
          </a:ln>
        </p:spPr>
      </p:sp>
      <p:sp>
        <p:nvSpPr>
          <p:cNvPr id="7" name="Text 5"/>
          <p:cNvSpPr/>
          <p:nvPr/>
        </p:nvSpPr>
        <p:spPr>
          <a:xfrm>
            <a:off x="411480" y="201168"/>
            <a:ext cx="2061972" cy="256032"/>
          </a:xfrm>
          <a:prstGeom prst="rect">
            <a:avLst/>
          </a:prstGeom>
          <a:noFill/>
          <a:ln/>
        </p:spPr>
        <p:txBody>
          <a:bodyPr wrap="square" lIns="0" tIns="0" rIns="0" bIns="0" rtlCol="0" anchor="ctr"/>
          <a:lstStyle/>
          <a:p>
            <a:pPr algn="ctr" indent="0" marL="0">
              <a:buNone/>
            </a:pPr>
            <a:r>
              <a:rPr lang="en-US" sz="900" b="1" dirty="0">
                <a:solidFill>
                  <a:srgbClr val="0A0E1A"/>
                </a:solidFill>
                <a:latin typeface="Consolas" pitchFamily="34" charset="0"/>
                <a:ea typeface="Consolas" pitchFamily="34" charset="-122"/>
                <a:cs typeface="Consolas" pitchFamily="34" charset="-120"/>
              </a:rPr>
              <a:t>SECTION 6 · TOOLS</a:t>
            </a:r>
            <a:endParaRPr lang="en-US" sz="900" dirty="0"/>
          </a:p>
        </p:txBody>
      </p:sp>
      <p:sp>
        <p:nvSpPr>
          <p:cNvPr id="8" name="Text 6"/>
          <p:cNvSpPr/>
          <p:nvPr/>
        </p:nvSpPr>
        <p:spPr>
          <a:xfrm>
            <a:off x="411480" y="530352"/>
            <a:ext cx="8321040" cy="594360"/>
          </a:xfrm>
          <a:prstGeom prst="rect">
            <a:avLst/>
          </a:prstGeom>
          <a:noFill/>
          <a:ln/>
        </p:spPr>
        <p:txBody>
          <a:bodyPr wrap="square" lIns="0" tIns="0" rIns="0" bIns="0" rtlCol="0" anchor="ctr"/>
          <a:lstStyle/>
          <a:p>
            <a:pPr algn="l" indent="0" marL="0">
              <a:buNone/>
            </a:pPr>
            <a:r>
              <a:rPr lang="en-US" sz="2800" b="1" dirty="0">
                <a:solidFill>
                  <a:srgbClr val="FF6B35"/>
                </a:solidFill>
                <a:latin typeface="Consolas" pitchFamily="34" charset="0"/>
                <a:ea typeface="Consolas" pitchFamily="34" charset="-122"/>
                <a:cs typeface="Consolas" pitchFamily="34" charset="-120"/>
              </a:rPr>
              <a:t>Reverse Engineering Tools</a:t>
            </a:r>
            <a:endParaRPr lang="en-US" sz="2800" dirty="0"/>
          </a:p>
        </p:txBody>
      </p:sp>
      <p:sp>
        <p:nvSpPr>
          <p:cNvPr id="9" name="Text 7"/>
          <p:cNvSpPr/>
          <p:nvPr/>
        </p:nvSpPr>
        <p:spPr>
          <a:xfrm>
            <a:off x="411480" y="1051560"/>
            <a:ext cx="8321040" cy="320040"/>
          </a:xfrm>
          <a:prstGeom prst="rect">
            <a:avLst/>
          </a:prstGeom>
          <a:noFill/>
          <a:ln/>
        </p:spPr>
        <p:txBody>
          <a:bodyPr wrap="square" lIns="0" tIns="0" rIns="0" bIns="0" rtlCol="0" anchor="ctr"/>
          <a:lstStyle/>
          <a:p>
            <a:pPr algn="l" indent="0" marL="0">
              <a:buNone/>
            </a:pPr>
            <a:r>
              <a:rPr lang="en-US" sz="1300" dirty="0">
                <a:solidFill>
                  <a:srgbClr val="8B9BB4"/>
                </a:solidFill>
                <a:latin typeface="Calibri" pitchFamily="34" charset="0"/>
                <a:ea typeface="Calibri" pitchFamily="34" charset="-122"/>
                <a:cs typeface="Calibri" pitchFamily="34" charset="-120"/>
              </a:rPr>
              <a:t>Your toolkit — each tool has a specific purpose in the workflow.</a:t>
            </a:r>
            <a:endParaRPr lang="en-US" sz="1300" dirty="0"/>
          </a:p>
        </p:txBody>
      </p:sp>
      <p:sp>
        <p:nvSpPr>
          <p:cNvPr id="10" name="Text 8"/>
          <p:cNvSpPr/>
          <p:nvPr/>
        </p:nvSpPr>
        <p:spPr>
          <a:xfrm>
            <a:off x="8686800" y="4754880"/>
            <a:ext cx="365760" cy="228600"/>
          </a:xfrm>
          <a:prstGeom prst="rect">
            <a:avLst/>
          </a:prstGeom>
          <a:noFill/>
          <a:ln/>
        </p:spPr>
        <p:txBody>
          <a:bodyPr wrap="square" lIns="0" tIns="0" rIns="0" bIns="0" rtlCol="0" anchor="ctr"/>
          <a:lstStyle/>
          <a:p>
            <a:pPr algn="r" indent="0" marL="0">
              <a:buNone/>
            </a:pPr>
            <a:r>
              <a:rPr lang="en-US" sz="900" dirty="0">
                <a:solidFill>
                  <a:srgbClr val="8B9BB4"/>
                </a:solidFill>
                <a:latin typeface="Consolas" pitchFamily="34" charset="0"/>
                <a:ea typeface="Consolas" pitchFamily="34" charset="-122"/>
                <a:cs typeface="Consolas" pitchFamily="34" charset="-120"/>
              </a:rPr>
              <a:t>16</a:t>
            </a:r>
            <a:endParaRPr lang="en-US" sz="900" dirty="0"/>
          </a:p>
        </p:txBody>
      </p:sp>
      <p:sp>
        <p:nvSpPr>
          <p:cNvPr id="11" name="Shape 9"/>
          <p:cNvSpPr/>
          <p:nvPr/>
        </p:nvSpPr>
        <p:spPr>
          <a:xfrm>
            <a:off x="320040" y="1234440"/>
            <a:ext cx="4114800" cy="804672"/>
          </a:xfrm>
          <a:prstGeom prst="rect">
            <a:avLst/>
          </a:prstGeom>
          <a:solidFill>
            <a:srgbClr val="111827"/>
          </a:solidFill>
          <a:ln w="12700">
            <a:solidFill>
              <a:srgbClr val="00D4FF"/>
            </a:solidFill>
            <a:prstDash val="solid"/>
          </a:ln>
        </p:spPr>
      </p:sp>
      <p:sp>
        <p:nvSpPr>
          <p:cNvPr id="12" name="Text 10"/>
          <p:cNvSpPr/>
          <p:nvPr/>
        </p:nvSpPr>
        <p:spPr>
          <a:xfrm>
            <a:off x="429768" y="1307592"/>
            <a:ext cx="1828800" cy="320040"/>
          </a:xfrm>
          <a:prstGeom prst="rect">
            <a:avLst/>
          </a:prstGeom>
          <a:noFill/>
          <a:ln/>
        </p:spPr>
        <p:txBody>
          <a:bodyPr wrap="square" lIns="0" tIns="0" rIns="0" bIns="0" rtlCol="0" anchor="ctr"/>
          <a:lstStyle/>
          <a:p>
            <a:pPr indent="0" marL="0">
              <a:buNone/>
            </a:pPr>
            <a:r>
              <a:rPr lang="en-US" sz="1200" b="1" dirty="0">
                <a:solidFill>
                  <a:srgbClr val="00D4FF"/>
                </a:solidFill>
                <a:latin typeface="Consolas" pitchFamily="34" charset="0"/>
                <a:ea typeface="Consolas" pitchFamily="34" charset="-122"/>
                <a:cs typeface="Consolas" pitchFamily="34" charset="-120"/>
              </a:rPr>
              <a:t>IDA Pro</a:t>
            </a:r>
            <a:endParaRPr lang="en-US" sz="1200" dirty="0"/>
          </a:p>
        </p:txBody>
      </p:sp>
      <p:sp>
        <p:nvSpPr>
          <p:cNvPr id="13" name="Text 11"/>
          <p:cNvSpPr/>
          <p:nvPr/>
        </p:nvSpPr>
        <p:spPr>
          <a:xfrm>
            <a:off x="429768" y="1673352"/>
            <a:ext cx="2286000" cy="228600"/>
          </a:xfrm>
          <a:prstGeom prst="rect">
            <a:avLst/>
          </a:prstGeom>
          <a:noFill/>
          <a:ln/>
        </p:spPr>
        <p:txBody>
          <a:bodyPr wrap="square" lIns="0" tIns="0" rIns="0" bIns="0" rtlCol="0" anchor="ctr"/>
          <a:lstStyle/>
          <a:p>
            <a:pPr indent="0" marL="0">
              <a:buNone/>
            </a:pPr>
            <a:r>
              <a:rPr lang="en-US" sz="850" dirty="0">
                <a:solidFill>
                  <a:srgbClr val="8B9BB4"/>
                </a:solidFill>
                <a:latin typeface="Consolas" pitchFamily="34" charset="0"/>
                <a:ea typeface="Consolas" pitchFamily="34" charset="-122"/>
                <a:cs typeface="Consolas" pitchFamily="34" charset="-120"/>
              </a:rPr>
              <a:t>Disassembler  ·  Commercial</a:t>
            </a:r>
            <a:endParaRPr lang="en-US" sz="850" dirty="0"/>
          </a:p>
        </p:txBody>
      </p:sp>
      <p:sp>
        <p:nvSpPr>
          <p:cNvPr id="14" name="Shape 12"/>
          <p:cNvSpPr/>
          <p:nvPr/>
        </p:nvSpPr>
        <p:spPr>
          <a:xfrm>
            <a:off x="2788920" y="1344168"/>
            <a:ext cx="1508760" cy="594360"/>
          </a:xfrm>
          <a:prstGeom prst="rect">
            <a:avLst/>
          </a:prstGeom>
          <a:solidFill>
            <a:srgbClr val="050A14"/>
          </a:solidFill>
          <a:ln w="12700">
            <a:solidFill>
              <a:srgbClr val="1E3A5F"/>
            </a:solidFill>
            <a:prstDash val="solid"/>
          </a:ln>
        </p:spPr>
      </p:sp>
      <p:sp>
        <p:nvSpPr>
          <p:cNvPr id="15" name="Text 13"/>
          <p:cNvSpPr/>
          <p:nvPr/>
        </p:nvSpPr>
        <p:spPr>
          <a:xfrm>
            <a:off x="2834640" y="1344168"/>
            <a:ext cx="1463040" cy="594360"/>
          </a:xfrm>
          <a:prstGeom prst="rect">
            <a:avLst/>
          </a:prstGeom>
          <a:noFill/>
          <a:ln/>
        </p:spPr>
        <p:txBody>
          <a:bodyPr wrap="square" lIns="0" tIns="0" rIns="0" bIns="0" rtlCol="0" anchor="ctr"/>
          <a:lstStyle/>
          <a:p>
            <a:pPr indent="0" marL="0">
              <a:buNone/>
            </a:pPr>
            <a:r>
              <a:rPr lang="en-US" sz="850" dirty="0">
                <a:solidFill>
                  <a:srgbClr val="E2E8F0"/>
                </a:solidFill>
                <a:latin typeface="Calibri" pitchFamily="34" charset="0"/>
                <a:ea typeface="Calibri" pitchFamily="34" charset="-122"/>
                <a:cs typeface="Calibri" pitchFamily="34" charset="-120"/>
              </a:rPr>
              <a:t>Industry standard for complex analysis</a:t>
            </a:r>
            <a:endParaRPr lang="en-US" sz="850" dirty="0"/>
          </a:p>
        </p:txBody>
      </p:sp>
      <p:sp>
        <p:nvSpPr>
          <p:cNvPr id="16" name="Shape 14"/>
          <p:cNvSpPr/>
          <p:nvPr/>
        </p:nvSpPr>
        <p:spPr>
          <a:xfrm>
            <a:off x="4754880" y="1234440"/>
            <a:ext cx="4114800" cy="804672"/>
          </a:xfrm>
          <a:prstGeom prst="rect">
            <a:avLst/>
          </a:prstGeom>
          <a:solidFill>
            <a:srgbClr val="111827"/>
          </a:solidFill>
          <a:ln w="12700">
            <a:solidFill>
              <a:srgbClr val="00FF88"/>
            </a:solidFill>
            <a:prstDash val="solid"/>
          </a:ln>
        </p:spPr>
      </p:sp>
      <p:sp>
        <p:nvSpPr>
          <p:cNvPr id="17" name="Text 15"/>
          <p:cNvSpPr/>
          <p:nvPr/>
        </p:nvSpPr>
        <p:spPr>
          <a:xfrm>
            <a:off x="4864608" y="1307592"/>
            <a:ext cx="1828800" cy="320040"/>
          </a:xfrm>
          <a:prstGeom prst="rect">
            <a:avLst/>
          </a:prstGeom>
          <a:noFill/>
          <a:ln/>
        </p:spPr>
        <p:txBody>
          <a:bodyPr wrap="square" lIns="0" tIns="0" rIns="0" bIns="0" rtlCol="0" anchor="ctr"/>
          <a:lstStyle/>
          <a:p>
            <a:pPr indent="0" marL="0">
              <a:buNone/>
            </a:pPr>
            <a:r>
              <a:rPr lang="en-US" sz="1200" b="1" dirty="0">
                <a:solidFill>
                  <a:srgbClr val="00FF88"/>
                </a:solidFill>
                <a:latin typeface="Consolas" pitchFamily="34" charset="0"/>
                <a:ea typeface="Consolas" pitchFamily="34" charset="-122"/>
                <a:cs typeface="Consolas" pitchFamily="34" charset="-120"/>
              </a:rPr>
              <a:t>Ghidra</a:t>
            </a:r>
            <a:endParaRPr lang="en-US" sz="1200" dirty="0"/>
          </a:p>
        </p:txBody>
      </p:sp>
      <p:sp>
        <p:nvSpPr>
          <p:cNvPr id="18" name="Text 16"/>
          <p:cNvSpPr/>
          <p:nvPr/>
        </p:nvSpPr>
        <p:spPr>
          <a:xfrm>
            <a:off x="4864608" y="1673352"/>
            <a:ext cx="2286000" cy="228600"/>
          </a:xfrm>
          <a:prstGeom prst="rect">
            <a:avLst/>
          </a:prstGeom>
          <a:noFill/>
          <a:ln/>
        </p:spPr>
        <p:txBody>
          <a:bodyPr wrap="square" lIns="0" tIns="0" rIns="0" bIns="0" rtlCol="0" anchor="ctr"/>
          <a:lstStyle/>
          <a:p>
            <a:pPr indent="0" marL="0">
              <a:buNone/>
            </a:pPr>
            <a:r>
              <a:rPr lang="en-US" sz="850" dirty="0">
                <a:solidFill>
                  <a:srgbClr val="8B9BB4"/>
                </a:solidFill>
                <a:latin typeface="Consolas" pitchFamily="34" charset="0"/>
                <a:ea typeface="Consolas" pitchFamily="34" charset="-122"/>
                <a:cs typeface="Consolas" pitchFamily="34" charset="-120"/>
              </a:rPr>
              <a:t>Disassembler/Decompiler  ·  Free (NSA)</a:t>
            </a:r>
            <a:endParaRPr lang="en-US" sz="850" dirty="0"/>
          </a:p>
        </p:txBody>
      </p:sp>
      <p:sp>
        <p:nvSpPr>
          <p:cNvPr id="19" name="Shape 17"/>
          <p:cNvSpPr/>
          <p:nvPr/>
        </p:nvSpPr>
        <p:spPr>
          <a:xfrm>
            <a:off x="7223760" y="1344168"/>
            <a:ext cx="1508760" cy="594360"/>
          </a:xfrm>
          <a:prstGeom prst="rect">
            <a:avLst/>
          </a:prstGeom>
          <a:solidFill>
            <a:srgbClr val="050A14"/>
          </a:solidFill>
          <a:ln w="12700">
            <a:solidFill>
              <a:srgbClr val="1E3A5F"/>
            </a:solidFill>
            <a:prstDash val="solid"/>
          </a:ln>
        </p:spPr>
      </p:sp>
      <p:sp>
        <p:nvSpPr>
          <p:cNvPr id="20" name="Text 18"/>
          <p:cNvSpPr/>
          <p:nvPr/>
        </p:nvSpPr>
        <p:spPr>
          <a:xfrm>
            <a:off x="7269480" y="1344168"/>
            <a:ext cx="1463040" cy="594360"/>
          </a:xfrm>
          <a:prstGeom prst="rect">
            <a:avLst/>
          </a:prstGeom>
          <a:noFill/>
          <a:ln/>
        </p:spPr>
        <p:txBody>
          <a:bodyPr wrap="square" lIns="0" tIns="0" rIns="0" bIns="0" rtlCol="0" anchor="ctr"/>
          <a:lstStyle/>
          <a:p>
            <a:pPr indent="0" marL="0">
              <a:buNone/>
            </a:pPr>
            <a:r>
              <a:rPr lang="en-US" sz="850" dirty="0">
                <a:solidFill>
                  <a:srgbClr val="E2E8F0"/>
                </a:solidFill>
                <a:latin typeface="Calibri" pitchFamily="34" charset="0"/>
                <a:ea typeface="Calibri" pitchFamily="34" charset="-122"/>
                <a:cs typeface="Calibri" pitchFamily="34" charset="-120"/>
              </a:rPr>
              <a:t>Best free alternative to IDA</a:t>
            </a:r>
            <a:endParaRPr lang="en-US" sz="850" dirty="0"/>
          </a:p>
        </p:txBody>
      </p:sp>
      <p:sp>
        <p:nvSpPr>
          <p:cNvPr id="21" name="Shape 19"/>
          <p:cNvSpPr/>
          <p:nvPr/>
        </p:nvSpPr>
        <p:spPr>
          <a:xfrm>
            <a:off x="320040" y="2167128"/>
            <a:ext cx="4114800" cy="804672"/>
          </a:xfrm>
          <a:prstGeom prst="rect">
            <a:avLst/>
          </a:prstGeom>
          <a:solidFill>
            <a:srgbClr val="111827"/>
          </a:solidFill>
          <a:ln w="12700">
            <a:solidFill>
              <a:srgbClr val="FF6B35"/>
            </a:solidFill>
            <a:prstDash val="solid"/>
          </a:ln>
        </p:spPr>
      </p:sp>
      <p:sp>
        <p:nvSpPr>
          <p:cNvPr id="22" name="Text 20"/>
          <p:cNvSpPr/>
          <p:nvPr/>
        </p:nvSpPr>
        <p:spPr>
          <a:xfrm>
            <a:off x="429768" y="2240280"/>
            <a:ext cx="1828800" cy="320040"/>
          </a:xfrm>
          <a:prstGeom prst="rect">
            <a:avLst/>
          </a:prstGeom>
          <a:noFill/>
          <a:ln/>
        </p:spPr>
        <p:txBody>
          <a:bodyPr wrap="square" lIns="0" tIns="0" rIns="0" bIns="0" rtlCol="0" anchor="ctr"/>
          <a:lstStyle/>
          <a:p>
            <a:pPr indent="0" marL="0">
              <a:buNone/>
            </a:pPr>
            <a:r>
              <a:rPr lang="en-US" sz="1200" b="1" dirty="0">
                <a:solidFill>
                  <a:srgbClr val="FF6B35"/>
                </a:solidFill>
                <a:latin typeface="Consolas" pitchFamily="34" charset="0"/>
                <a:ea typeface="Consolas" pitchFamily="34" charset="-122"/>
                <a:cs typeface="Consolas" pitchFamily="34" charset="-120"/>
              </a:rPr>
              <a:t>x64dbg</a:t>
            </a:r>
            <a:endParaRPr lang="en-US" sz="1200" dirty="0"/>
          </a:p>
        </p:txBody>
      </p:sp>
      <p:sp>
        <p:nvSpPr>
          <p:cNvPr id="23" name="Text 21"/>
          <p:cNvSpPr/>
          <p:nvPr/>
        </p:nvSpPr>
        <p:spPr>
          <a:xfrm>
            <a:off x="429768" y="2606040"/>
            <a:ext cx="2286000" cy="228600"/>
          </a:xfrm>
          <a:prstGeom prst="rect">
            <a:avLst/>
          </a:prstGeom>
          <a:noFill/>
          <a:ln/>
        </p:spPr>
        <p:txBody>
          <a:bodyPr wrap="square" lIns="0" tIns="0" rIns="0" bIns="0" rtlCol="0" anchor="ctr"/>
          <a:lstStyle/>
          <a:p>
            <a:pPr indent="0" marL="0">
              <a:buNone/>
            </a:pPr>
            <a:r>
              <a:rPr lang="en-US" sz="850" dirty="0">
                <a:solidFill>
                  <a:srgbClr val="8B9BB4"/>
                </a:solidFill>
                <a:latin typeface="Consolas" pitchFamily="34" charset="0"/>
                <a:ea typeface="Consolas" pitchFamily="34" charset="-122"/>
                <a:cs typeface="Consolas" pitchFamily="34" charset="-120"/>
              </a:rPr>
              <a:t>Debugger  ·  Free</a:t>
            </a:r>
            <a:endParaRPr lang="en-US" sz="850" dirty="0"/>
          </a:p>
        </p:txBody>
      </p:sp>
      <p:sp>
        <p:nvSpPr>
          <p:cNvPr id="24" name="Shape 22"/>
          <p:cNvSpPr/>
          <p:nvPr/>
        </p:nvSpPr>
        <p:spPr>
          <a:xfrm>
            <a:off x="2788920" y="2276856"/>
            <a:ext cx="1508760" cy="594360"/>
          </a:xfrm>
          <a:prstGeom prst="rect">
            <a:avLst/>
          </a:prstGeom>
          <a:solidFill>
            <a:srgbClr val="050A14"/>
          </a:solidFill>
          <a:ln w="12700">
            <a:solidFill>
              <a:srgbClr val="1E3A5F"/>
            </a:solidFill>
            <a:prstDash val="solid"/>
          </a:ln>
        </p:spPr>
      </p:sp>
      <p:sp>
        <p:nvSpPr>
          <p:cNvPr id="25" name="Text 23"/>
          <p:cNvSpPr/>
          <p:nvPr/>
        </p:nvSpPr>
        <p:spPr>
          <a:xfrm>
            <a:off x="2834640" y="2276856"/>
            <a:ext cx="1463040" cy="594360"/>
          </a:xfrm>
          <a:prstGeom prst="rect">
            <a:avLst/>
          </a:prstGeom>
          <a:noFill/>
          <a:ln/>
        </p:spPr>
        <p:txBody>
          <a:bodyPr wrap="square" lIns="0" tIns="0" rIns="0" bIns="0" rtlCol="0" anchor="ctr"/>
          <a:lstStyle/>
          <a:p>
            <a:pPr indent="0" marL="0">
              <a:buNone/>
            </a:pPr>
            <a:r>
              <a:rPr lang="en-US" sz="850" dirty="0">
                <a:solidFill>
                  <a:srgbClr val="E2E8F0"/>
                </a:solidFill>
                <a:latin typeface="Calibri" pitchFamily="34" charset="0"/>
                <a:ea typeface="Calibri" pitchFamily="34" charset="-122"/>
                <a:cs typeface="Calibri" pitchFamily="34" charset="-120"/>
              </a:rPr>
              <a:t>Modern Windows debugger, great UI</a:t>
            </a:r>
            <a:endParaRPr lang="en-US" sz="850" dirty="0"/>
          </a:p>
        </p:txBody>
      </p:sp>
      <p:sp>
        <p:nvSpPr>
          <p:cNvPr id="26" name="Shape 24"/>
          <p:cNvSpPr/>
          <p:nvPr/>
        </p:nvSpPr>
        <p:spPr>
          <a:xfrm>
            <a:off x="4754880" y="2167128"/>
            <a:ext cx="4114800" cy="804672"/>
          </a:xfrm>
          <a:prstGeom prst="rect">
            <a:avLst/>
          </a:prstGeom>
          <a:solidFill>
            <a:srgbClr val="111827"/>
          </a:solidFill>
          <a:ln w="12700">
            <a:solidFill>
              <a:srgbClr val="FFD700"/>
            </a:solidFill>
            <a:prstDash val="solid"/>
          </a:ln>
        </p:spPr>
      </p:sp>
      <p:sp>
        <p:nvSpPr>
          <p:cNvPr id="27" name="Text 25"/>
          <p:cNvSpPr/>
          <p:nvPr/>
        </p:nvSpPr>
        <p:spPr>
          <a:xfrm>
            <a:off x="4864608" y="2240280"/>
            <a:ext cx="1828800" cy="320040"/>
          </a:xfrm>
          <a:prstGeom prst="rect">
            <a:avLst/>
          </a:prstGeom>
          <a:noFill/>
          <a:ln/>
        </p:spPr>
        <p:txBody>
          <a:bodyPr wrap="square" lIns="0" tIns="0" rIns="0" bIns="0" rtlCol="0" anchor="ctr"/>
          <a:lstStyle/>
          <a:p>
            <a:pPr indent="0" marL="0">
              <a:buNone/>
            </a:pPr>
            <a:r>
              <a:rPr lang="en-US" sz="1200" b="1" dirty="0">
                <a:solidFill>
                  <a:srgbClr val="FFD700"/>
                </a:solidFill>
                <a:latin typeface="Consolas" pitchFamily="34" charset="0"/>
                <a:ea typeface="Consolas" pitchFamily="34" charset="-122"/>
                <a:cs typeface="Consolas" pitchFamily="34" charset="-120"/>
              </a:rPr>
              <a:t>OllyDbg</a:t>
            </a:r>
            <a:endParaRPr lang="en-US" sz="1200" dirty="0"/>
          </a:p>
        </p:txBody>
      </p:sp>
      <p:sp>
        <p:nvSpPr>
          <p:cNvPr id="28" name="Text 26"/>
          <p:cNvSpPr/>
          <p:nvPr/>
        </p:nvSpPr>
        <p:spPr>
          <a:xfrm>
            <a:off x="4864608" y="2606040"/>
            <a:ext cx="2286000" cy="228600"/>
          </a:xfrm>
          <a:prstGeom prst="rect">
            <a:avLst/>
          </a:prstGeom>
          <a:noFill/>
          <a:ln/>
        </p:spPr>
        <p:txBody>
          <a:bodyPr wrap="square" lIns="0" tIns="0" rIns="0" bIns="0" rtlCol="0" anchor="ctr"/>
          <a:lstStyle/>
          <a:p>
            <a:pPr indent="0" marL="0">
              <a:buNone/>
            </a:pPr>
            <a:r>
              <a:rPr lang="en-US" sz="850" dirty="0">
                <a:solidFill>
                  <a:srgbClr val="8B9BB4"/>
                </a:solidFill>
                <a:latin typeface="Consolas" pitchFamily="34" charset="0"/>
                <a:ea typeface="Consolas" pitchFamily="34" charset="-122"/>
                <a:cs typeface="Consolas" pitchFamily="34" charset="-120"/>
              </a:rPr>
              <a:t>Debugger (32-bit)  ·  Free</a:t>
            </a:r>
            <a:endParaRPr lang="en-US" sz="850" dirty="0"/>
          </a:p>
        </p:txBody>
      </p:sp>
      <p:sp>
        <p:nvSpPr>
          <p:cNvPr id="29" name="Shape 27"/>
          <p:cNvSpPr/>
          <p:nvPr/>
        </p:nvSpPr>
        <p:spPr>
          <a:xfrm>
            <a:off x="7223760" y="2276856"/>
            <a:ext cx="1508760" cy="594360"/>
          </a:xfrm>
          <a:prstGeom prst="rect">
            <a:avLst/>
          </a:prstGeom>
          <a:solidFill>
            <a:srgbClr val="050A14"/>
          </a:solidFill>
          <a:ln w="12700">
            <a:solidFill>
              <a:srgbClr val="1E3A5F"/>
            </a:solidFill>
            <a:prstDash val="solid"/>
          </a:ln>
        </p:spPr>
      </p:sp>
      <p:sp>
        <p:nvSpPr>
          <p:cNvPr id="30" name="Text 28"/>
          <p:cNvSpPr/>
          <p:nvPr/>
        </p:nvSpPr>
        <p:spPr>
          <a:xfrm>
            <a:off x="7269480" y="2276856"/>
            <a:ext cx="1463040" cy="594360"/>
          </a:xfrm>
          <a:prstGeom prst="rect">
            <a:avLst/>
          </a:prstGeom>
          <a:noFill/>
          <a:ln/>
        </p:spPr>
        <p:txBody>
          <a:bodyPr wrap="square" lIns="0" tIns="0" rIns="0" bIns="0" rtlCol="0" anchor="ctr"/>
          <a:lstStyle/>
          <a:p>
            <a:pPr indent="0" marL="0">
              <a:buNone/>
            </a:pPr>
            <a:r>
              <a:rPr lang="en-US" sz="850" dirty="0">
                <a:solidFill>
                  <a:srgbClr val="E2E8F0"/>
                </a:solidFill>
                <a:latin typeface="Calibri" pitchFamily="34" charset="0"/>
                <a:ea typeface="Calibri" pitchFamily="34" charset="-122"/>
                <a:cs typeface="Calibri" pitchFamily="34" charset="-120"/>
              </a:rPr>
              <a:t>Classic, legacy malware analysis</a:t>
            </a:r>
            <a:endParaRPr lang="en-US" sz="850" dirty="0"/>
          </a:p>
        </p:txBody>
      </p:sp>
      <p:sp>
        <p:nvSpPr>
          <p:cNvPr id="31" name="Shape 29"/>
          <p:cNvSpPr/>
          <p:nvPr/>
        </p:nvSpPr>
        <p:spPr>
          <a:xfrm>
            <a:off x="320040" y="3099816"/>
            <a:ext cx="4114800" cy="804672"/>
          </a:xfrm>
          <a:prstGeom prst="rect">
            <a:avLst/>
          </a:prstGeom>
          <a:solidFill>
            <a:srgbClr val="111827"/>
          </a:solidFill>
          <a:ln w="12700">
            <a:solidFill>
              <a:srgbClr val="A855F7"/>
            </a:solidFill>
            <a:prstDash val="solid"/>
          </a:ln>
        </p:spPr>
      </p:sp>
      <p:sp>
        <p:nvSpPr>
          <p:cNvPr id="32" name="Text 30"/>
          <p:cNvSpPr/>
          <p:nvPr/>
        </p:nvSpPr>
        <p:spPr>
          <a:xfrm>
            <a:off x="429768" y="3172968"/>
            <a:ext cx="1828800" cy="320040"/>
          </a:xfrm>
          <a:prstGeom prst="rect">
            <a:avLst/>
          </a:prstGeom>
          <a:noFill/>
          <a:ln/>
        </p:spPr>
        <p:txBody>
          <a:bodyPr wrap="square" lIns="0" tIns="0" rIns="0" bIns="0" rtlCol="0" anchor="ctr"/>
          <a:lstStyle/>
          <a:p>
            <a:pPr indent="0" marL="0">
              <a:buNone/>
            </a:pPr>
            <a:r>
              <a:rPr lang="en-US" sz="1200" b="1" dirty="0">
                <a:solidFill>
                  <a:srgbClr val="A855F7"/>
                </a:solidFill>
                <a:latin typeface="Consolas" pitchFamily="34" charset="0"/>
                <a:ea typeface="Consolas" pitchFamily="34" charset="-122"/>
                <a:cs typeface="Consolas" pitchFamily="34" charset="-120"/>
              </a:rPr>
              <a:t>Radare2</a:t>
            </a:r>
            <a:endParaRPr lang="en-US" sz="1200" dirty="0"/>
          </a:p>
        </p:txBody>
      </p:sp>
      <p:sp>
        <p:nvSpPr>
          <p:cNvPr id="33" name="Text 31"/>
          <p:cNvSpPr/>
          <p:nvPr/>
        </p:nvSpPr>
        <p:spPr>
          <a:xfrm>
            <a:off x="429768" y="3538728"/>
            <a:ext cx="2286000" cy="228600"/>
          </a:xfrm>
          <a:prstGeom prst="rect">
            <a:avLst/>
          </a:prstGeom>
          <a:noFill/>
          <a:ln/>
        </p:spPr>
        <p:txBody>
          <a:bodyPr wrap="square" lIns="0" tIns="0" rIns="0" bIns="0" rtlCol="0" anchor="ctr"/>
          <a:lstStyle/>
          <a:p>
            <a:pPr indent="0" marL="0">
              <a:buNone/>
            </a:pPr>
            <a:r>
              <a:rPr lang="en-US" sz="850" dirty="0">
                <a:solidFill>
                  <a:srgbClr val="8B9BB4"/>
                </a:solidFill>
                <a:latin typeface="Consolas" pitchFamily="34" charset="0"/>
                <a:ea typeface="Consolas" pitchFamily="34" charset="-122"/>
                <a:cs typeface="Consolas" pitchFamily="34" charset="-120"/>
              </a:rPr>
              <a:t>Framework  ·  Free</a:t>
            </a:r>
            <a:endParaRPr lang="en-US" sz="850" dirty="0"/>
          </a:p>
        </p:txBody>
      </p:sp>
      <p:sp>
        <p:nvSpPr>
          <p:cNvPr id="34" name="Shape 32"/>
          <p:cNvSpPr/>
          <p:nvPr/>
        </p:nvSpPr>
        <p:spPr>
          <a:xfrm>
            <a:off x="2788920" y="3209544"/>
            <a:ext cx="1508760" cy="594360"/>
          </a:xfrm>
          <a:prstGeom prst="rect">
            <a:avLst/>
          </a:prstGeom>
          <a:solidFill>
            <a:srgbClr val="050A14"/>
          </a:solidFill>
          <a:ln w="12700">
            <a:solidFill>
              <a:srgbClr val="1E3A5F"/>
            </a:solidFill>
            <a:prstDash val="solid"/>
          </a:ln>
        </p:spPr>
      </p:sp>
      <p:sp>
        <p:nvSpPr>
          <p:cNvPr id="35" name="Text 33"/>
          <p:cNvSpPr/>
          <p:nvPr/>
        </p:nvSpPr>
        <p:spPr>
          <a:xfrm>
            <a:off x="2834640" y="3209544"/>
            <a:ext cx="1463040" cy="594360"/>
          </a:xfrm>
          <a:prstGeom prst="rect">
            <a:avLst/>
          </a:prstGeom>
          <a:noFill/>
          <a:ln/>
        </p:spPr>
        <p:txBody>
          <a:bodyPr wrap="square" lIns="0" tIns="0" rIns="0" bIns="0" rtlCol="0" anchor="ctr"/>
          <a:lstStyle/>
          <a:p>
            <a:pPr indent="0" marL="0">
              <a:buNone/>
            </a:pPr>
            <a:r>
              <a:rPr lang="en-US" sz="850" dirty="0">
                <a:solidFill>
                  <a:srgbClr val="E2E8F0"/>
                </a:solidFill>
                <a:latin typeface="Calibri" pitchFamily="34" charset="0"/>
                <a:ea typeface="Calibri" pitchFamily="34" charset="-122"/>
                <a:cs typeface="Calibri" pitchFamily="34" charset="-120"/>
              </a:rPr>
              <a:t>CLI power, scriptable, multi-arch</a:t>
            </a:r>
            <a:endParaRPr lang="en-US" sz="850" dirty="0"/>
          </a:p>
        </p:txBody>
      </p:sp>
      <p:sp>
        <p:nvSpPr>
          <p:cNvPr id="36" name="Shape 34"/>
          <p:cNvSpPr/>
          <p:nvPr/>
        </p:nvSpPr>
        <p:spPr>
          <a:xfrm>
            <a:off x="4754880" y="3099816"/>
            <a:ext cx="4114800" cy="804672"/>
          </a:xfrm>
          <a:prstGeom prst="rect">
            <a:avLst/>
          </a:prstGeom>
          <a:solidFill>
            <a:srgbClr val="111827"/>
          </a:solidFill>
          <a:ln w="12700">
            <a:solidFill>
              <a:srgbClr val="00D4FF"/>
            </a:solidFill>
            <a:prstDash val="solid"/>
          </a:ln>
        </p:spPr>
      </p:sp>
      <p:sp>
        <p:nvSpPr>
          <p:cNvPr id="37" name="Text 35"/>
          <p:cNvSpPr/>
          <p:nvPr/>
        </p:nvSpPr>
        <p:spPr>
          <a:xfrm>
            <a:off x="4864608" y="3172968"/>
            <a:ext cx="1828800" cy="320040"/>
          </a:xfrm>
          <a:prstGeom prst="rect">
            <a:avLst/>
          </a:prstGeom>
          <a:noFill/>
          <a:ln/>
        </p:spPr>
        <p:txBody>
          <a:bodyPr wrap="square" lIns="0" tIns="0" rIns="0" bIns="0" rtlCol="0" anchor="ctr"/>
          <a:lstStyle/>
          <a:p>
            <a:pPr indent="0" marL="0">
              <a:buNone/>
            </a:pPr>
            <a:r>
              <a:rPr lang="en-US" sz="1200" b="1" dirty="0">
                <a:solidFill>
                  <a:srgbClr val="00D4FF"/>
                </a:solidFill>
                <a:latin typeface="Consolas" pitchFamily="34" charset="0"/>
                <a:ea typeface="Consolas" pitchFamily="34" charset="-122"/>
                <a:cs typeface="Consolas" pitchFamily="34" charset="-120"/>
              </a:rPr>
              <a:t>Binary Ninja</a:t>
            </a:r>
            <a:endParaRPr lang="en-US" sz="1200" dirty="0"/>
          </a:p>
        </p:txBody>
      </p:sp>
      <p:sp>
        <p:nvSpPr>
          <p:cNvPr id="38" name="Text 36"/>
          <p:cNvSpPr/>
          <p:nvPr/>
        </p:nvSpPr>
        <p:spPr>
          <a:xfrm>
            <a:off x="4864608" y="3538728"/>
            <a:ext cx="2286000" cy="228600"/>
          </a:xfrm>
          <a:prstGeom prst="rect">
            <a:avLst/>
          </a:prstGeom>
          <a:noFill/>
          <a:ln/>
        </p:spPr>
        <p:txBody>
          <a:bodyPr wrap="square" lIns="0" tIns="0" rIns="0" bIns="0" rtlCol="0" anchor="ctr"/>
          <a:lstStyle/>
          <a:p>
            <a:pPr indent="0" marL="0">
              <a:buNone/>
            </a:pPr>
            <a:r>
              <a:rPr lang="en-US" sz="850" dirty="0">
                <a:solidFill>
                  <a:srgbClr val="8B9BB4"/>
                </a:solidFill>
                <a:latin typeface="Consolas" pitchFamily="34" charset="0"/>
                <a:ea typeface="Consolas" pitchFamily="34" charset="-122"/>
                <a:cs typeface="Consolas" pitchFamily="34" charset="-120"/>
              </a:rPr>
              <a:t>Disassembler  ·  Commercial</a:t>
            </a:r>
            <a:endParaRPr lang="en-US" sz="850" dirty="0"/>
          </a:p>
        </p:txBody>
      </p:sp>
      <p:sp>
        <p:nvSpPr>
          <p:cNvPr id="39" name="Shape 37"/>
          <p:cNvSpPr/>
          <p:nvPr/>
        </p:nvSpPr>
        <p:spPr>
          <a:xfrm>
            <a:off x="7223760" y="3209544"/>
            <a:ext cx="1508760" cy="594360"/>
          </a:xfrm>
          <a:prstGeom prst="rect">
            <a:avLst/>
          </a:prstGeom>
          <a:solidFill>
            <a:srgbClr val="050A14"/>
          </a:solidFill>
          <a:ln w="12700">
            <a:solidFill>
              <a:srgbClr val="1E3A5F"/>
            </a:solidFill>
            <a:prstDash val="solid"/>
          </a:ln>
        </p:spPr>
      </p:sp>
      <p:sp>
        <p:nvSpPr>
          <p:cNvPr id="40" name="Text 38"/>
          <p:cNvSpPr/>
          <p:nvPr/>
        </p:nvSpPr>
        <p:spPr>
          <a:xfrm>
            <a:off x="7269480" y="3209544"/>
            <a:ext cx="1463040" cy="594360"/>
          </a:xfrm>
          <a:prstGeom prst="rect">
            <a:avLst/>
          </a:prstGeom>
          <a:noFill/>
          <a:ln/>
        </p:spPr>
        <p:txBody>
          <a:bodyPr wrap="square" lIns="0" tIns="0" rIns="0" bIns="0" rtlCol="0" anchor="ctr"/>
          <a:lstStyle/>
          <a:p>
            <a:pPr indent="0" marL="0">
              <a:buNone/>
            </a:pPr>
            <a:r>
              <a:rPr lang="en-US" sz="850" dirty="0">
                <a:solidFill>
                  <a:srgbClr val="E2E8F0"/>
                </a:solidFill>
                <a:latin typeface="Calibri" pitchFamily="34" charset="0"/>
                <a:ea typeface="Calibri" pitchFamily="34" charset="-122"/>
                <a:cs typeface="Calibri" pitchFamily="34" charset="-120"/>
              </a:rPr>
              <a:t>Modern UI, great HLIL decompiler</a:t>
            </a:r>
            <a:endParaRPr lang="en-US" sz="850" dirty="0"/>
          </a:p>
        </p:txBody>
      </p:sp>
      <p:sp>
        <p:nvSpPr>
          <p:cNvPr id="41" name="Shape 39"/>
          <p:cNvSpPr/>
          <p:nvPr/>
        </p:nvSpPr>
        <p:spPr>
          <a:xfrm>
            <a:off x="320040" y="4032504"/>
            <a:ext cx="4114800" cy="804672"/>
          </a:xfrm>
          <a:prstGeom prst="rect">
            <a:avLst/>
          </a:prstGeom>
          <a:solidFill>
            <a:srgbClr val="111827"/>
          </a:solidFill>
          <a:ln w="12700">
            <a:solidFill>
              <a:srgbClr val="FF3355"/>
            </a:solidFill>
            <a:prstDash val="solid"/>
          </a:ln>
        </p:spPr>
      </p:sp>
      <p:sp>
        <p:nvSpPr>
          <p:cNvPr id="42" name="Text 40"/>
          <p:cNvSpPr/>
          <p:nvPr/>
        </p:nvSpPr>
        <p:spPr>
          <a:xfrm>
            <a:off x="429768" y="4105656"/>
            <a:ext cx="1828800" cy="320040"/>
          </a:xfrm>
          <a:prstGeom prst="rect">
            <a:avLst/>
          </a:prstGeom>
          <a:noFill/>
          <a:ln/>
        </p:spPr>
        <p:txBody>
          <a:bodyPr wrap="square" lIns="0" tIns="0" rIns="0" bIns="0" rtlCol="0" anchor="ctr"/>
          <a:lstStyle/>
          <a:p>
            <a:pPr indent="0" marL="0">
              <a:buNone/>
            </a:pPr>
            <a:r>
              <a:rPr lang="en-US" sz="1200" b="1" dirty="0">
                <a:solidFill>
                  <a:srgbClr val="FF3355"/>
                </a:solidFill>
                <a:latin typeface="Consolas" pitchFamily="34" charset="0"/>
                <a:ea typeface="Consolas" pitchFamily="34" charset="-122"/>
                <a:cs typeface="Consolas" pitchFamily="34" charset="-120"/>
              </a:rPr>
              <a:t>DIE</a:t>
            </a:r>
            <a:endParaRPr lang="en-US" sz="1200" dirty="0"/>
          </a:p>
        </p:txBody>
      </p:sp>
      <p:sp>
        <p:nvSpPr>
          <p:cNvPr id="43" name="Text 41"/>
          <p:cNvSpPr/>
          <p:nvPr/>
        </p:nvSpPr>
        <p:spPr>
          <a:xfrm>
            <a:off x="429768" y="4471416"/>
            <a:ext cx="2286000" cy="228600"/>
          </a:xfrm>
          <a:prstGeom prst="rect">
            <a:avLst/>
          </a:prstGeom>
          <a:noFill/>
          <a:ln/>
        </p:spPr>
        <p:txBody>
          <a:bodyPr wrap="square" lIns="0" tIns="0" rIns="0" bIns="0" rtlCol="0" anchor="ctr"/>
          <a:lstStyle/>
          <a:p>
            <a:pPr indent="0" marL="0">
              <a:buNone/>
            </a:pPr>
            <a:r>
              <a:rPr lang="en-US" sz="850" dirty="0">
                <a:solidFill>
                  <a:srgbClr val="8B9BB4"/>
                </a:solidFill>
                <a:latin typeface="Consolas" pitchFamily="34" charset="0"/>
                <a:ea typeface="Consolas" pitchFamily="34" charset="-122"/>
                <a:cs typeface="Consolas" pitchFamily="34" charset="-120"/>
              </a:rPr>
              <a:t>Identifier  ·  Free</a:t>
            </a:r>
            <a:endParaRPr lang="en-US" sz="850" dirty="0"/>
          </a:p>
        </p:txBody>
      </p:sp>
      <p:sp>
        <p:nvSpPr>
          <p:cNvPr id="44" name="Shape 42"/>
          <p:cNvSpPr/>
          <p:nvPr/>
        </p:nvSpPr>
        <p:spPr>
          <a:xfrm>
            <a:off x="2788920" y="4142232"/>
            <a:ext cx="1508760" cy="594360"/>
          </a:xfrm>
          <a:prstGeom prst="rect">
            <a:avLst/>
          </a:prstGeom>
          <a:solidFill>
            <a:srgbClr val="050A14"/>
          </a:solidFill>
          <a:ln w="12700">
            <a:solidFill>
              <a:srgbClr val="1E3A5F"/>
            </a:solidFill>
            <a:prstDash val="solid"/>
          </a:ln>
        </p:spPr>
      </p:sp>
      <p:sp>
        <p:nvSpPr>
          <p:cNvPr id="45" name="Text 43"/>
          <p:cNvSpPr/>
          <p:nvPr/>
        </p:nvSpPr>
        <p:spPr>
          <a:xfrm>
            <a:off x="2834640" y="4142232"/>
            <a:ext cx="1463040" cy="594360"/>
          </a:xfrm>
          <a:prstGeom prst="rect">
            <a:avLst/>
          </a:prstGeom>
          <a:noFill/>
          <a:ln/>
        </p:spPr>
        <p:txBody>
          <a:bodyPr wrap="square" lIns="0" tIns="0" rIns="0" bIns="0" rtlCol="0" anchor="ctr"/>
          <a:lstStyle/>
          <a:p>
            <a:pPr indent="0" marL="0">
              <a:buNone/>
            </a:pPr>
            <a:r>
              <a:rPr lang="en-US" sz="850" dirty="0">
                <a:solidFill>
                  <a:srgbClr val="E2E8F0"/>
                </a:solidFill>
                <a:latin typeface="Calibri" pitchFamily="34" charset="0"/>
                <a:ea typeface="Calibri" pitchFamily="34" charset="-122"/>
                <a:cs typeface="Calibri" pitchFamily="34" charset="-120"/>
              </a:rPr>
              <a:t>Detect packers, compilers, protectors</a:t>
            </a:r>
            <a:endParaRPr lang="en-US" sz="850" dirty="0"/>
          </a:p>
        </p:txBody>
      </p:sp>
      <p:sp>
        <p:nvSpPr>
          <p:cNvPr id="46" name="Shape 44"/>
          <p:cNvSpPr/>
          <p:nvPr/>
        </p:nvSpPr>
        <p:spPr>
          <a:xfrm>
            <a:off x="4754880" y="4032504"/>
            <a:ext cx="4114800" cy="804672"/>
          </a:xfrm>
          <a:prstGeom prst="rect">
            <a:avLst/>
          </a:prstGeom>
          <a:solidFill>
            <a:srgbClr val="111827"/>
          </a:solidFill>
          <a:ln w="12700">
            <a:solidFill>
              <a:srgbClr val="FF6B35"/>
            </a:solidFill>
            <a:prstDash val="solid"/>
          </a:ln>
        </p:spPr>
      </p:sp>
      <p:sp>
        <p:nvSpPr>
          <p:cNvPr id="47" name="Text 45"/>
          <p:cNvSpPr/>
          <p:nvPr/>
        </p:nvSpPr>
        <p:spPr>
          <a:xfrm>
            <a:off x="4864608" y="4105656"/>
            <a:ext cx="1828800" cy="320040"/>
          </a:xfrm>
          <a:prstGeom prst="rect">
            <a:avLst/>
          </a:prstGeom>
          <a:noFill/>
          <a:ln/>
        </p:spPr>
        <p:txBody>
          <a:bodyPr wrap="square" lIns="0" tIns="0" rIns="0" bIns="0" rtlCol="0" anchor="ctr"/>
          <a:lstStyle/>
          <a:p>
            <a:pPr indent="0" marL="0">
              <a:buNone/>
            </a:pPr>
            <a:r>
              <a:rPr lang="en-US" sz="1200" b="1" dirty="0">
                <a:solidFill>
                  <a:srgbClr val="FF6B35"/>
                </a:solidFill>
                <a:latin typeface="Consolas" pitchFamily="34" charset="0"/>
                <a:ea typeface="Consolas" pitchFamily="34" charset="-122"/>
                <a:cs typeface="Consolas" pitchFamily="34" charset="-120"/>
              </a:rPr>
              <a:t>PE-bear</a:t>
            </a:r>
            <a:endParaRPr lang="en-US" sz="1200" dirty="0"/>
          </a:p>
        </p:txBody>
      </p:sp>
      <p:sp>
        <p:nvSpPr>
          <p:cNvPr id="48" name="Text 46"/>
          <p:cNvSpPr/>
          <p:nvPr/>
        </p:nvSpPr>
        <p:spPr>
          <a:xfrm>
            <a:off x="4864608" y="4471416"/>
            <a:ext cx="2286000" cy="228600"/>
          </a:xfrm>
          <a:prstGeom prst="rect">
            <a:avLst/>
          </a:prstGeom>
          <a:noFill/>
          <a:ln/>
        </p:spPr>
        <p:txBody>
          <a:bodyPr wrap="square" lIns="0" tIns="0" rIns="0" bIns="0" rtlCol="0" anchor="ctr"/>
          <a:lstStyle/>
          <a:p>
            <a:pPr indent="0" marL="0">
              <a:buNone/>
            </a:pPr>
            <a:r>
              <a:rPr lang="en-US" sz="850" dirty="0">
                <a:solidFill>
                  <a:srgbClr val="8B9BB4"/>
                </a:solidFill>
                <a:latin typeface="Consolas" pitchFamily="34" charset="0"/>
                <a:ea typeface="Consolas" pitchFamily="34" charset="-122"/>
                <a:cs typeface="Consolas" pitchFamily="34" charset="-120"/>
              </a:rPr>
              <a:t>PE Viewer  ·  Free</a:t>
            </a:r>
            <a:endParaRPr lang="en-US" sz="850" dirty="0"/>
          </a:p>
        </p:txBody>
      </p:sp>
      <p:sp>
        <p:nvSpPr>
          <p:cNvPr id="49" name="Shape 47"/>
          <p:cNvSpPr/>
          <p:nvPr/>
        </p:nvSpPr>
        <p:spPr>
          <a:xfrm>
            <a:off x="7223760" y="4142232"/>
            <a:ext cx="1508760" cy="594360"/>
          </a:xfrm>
          <a:prstGeom prst="rect">
            <a:avLst/>
          </a:prstGeom>
          <a:solidFill>
            <a:srgbClr val="050A14"/>
          </a:solidFill>
          <a:ln w="12700">
            <a:solidFill>
              <a:srgbClr val="1E3A5F"/>
            </a:solidFill>
            <a:prstDash val="solid"/>
          </a:ln>
        </p:spPr>
      </p:sp>
      <p:sp>
        <p:nvSpPr>
          <p:cNvPr id="50" name="Text 48"/>
          <p:cNvSpPr/>
          <p:nvPr/>
        </p:nvSpPr>
        <p:spPr>
          <a:xfrm>
            <a:off x="7269480" y="4142232"/>
            <a:ext cx="1463040" cy="594360"/>
          </a:xfrm>
          <a:prstGeom prst="rect">
            <a:avLst/>
          </a:prstGeom>
          <a:noFill/>
          <a:ln/>
        </p:spPr>
        <p:txBody>
          <a:bodyPr wrap="square" lIns="0" tIns="0" rIns="0" bIns="0" rtlCol="0" anchor="ctr"/>
          <a:lstStyle/>
          <a:p>
            <a:pPr indent="0" marL="0">
              <a:buNone/>
            </a:pPr>
            <a:r>
              <a:rPr lang="en-US" sz="850" dirty="0">
                <a:solidFill>
                  <a:srgbClr val="E2E8F0"/>
                </a:solidFill>
                <a:latin typeface="Calibri" pitchFamily="34" charset="0"/>
                <a:ea typeface="Calibri" pitchFamily="34" charset="-122"/>
                <a:cs typeface="Calibri" pitchFamily="34" charset="-120"/>
              </a:rPr>
              <a:t>Inspect PE headers without disasm</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3200400" cy="5143500"/>
          </a:xfrm>
          <a:prstGeom prst="rect">
            <a:avLst/>
          </a:prstGeom>
          <a:solidFill>
            <a:srgbClr val="111827"/>
          </a:solidFill>
          <a:ln w="12700">
            <a:solidFill>
              <a:srgbClr val="111827"/>
            </a:solidFill>
            <a:prstDash val="solid"/>
          </a:ln>
        </p:spPr>
      </p:sp>
      <p:sp>
        <p:nvSpPr>
          <p:cNvPr id="3" name="Shape 1"/>
          <p:cNvSpPr/>
          <p:nvPr/>
        </p:nvSpPr>
        <p:spPr>
          <a:xfrm>
            <a:off x="3163824" y="0"/>
            <a:ext cx="36576" cy="5143500"/>
          </a:xfrm>
          <a:prstGeom prst="rect">
            <a:avLst/>
          </a:prstGeom>
          <a:solidFill>
            <a:srgbClr val="00D4FF"/>
          </a:solidFill>
          <a:ln w="12700">
            <a:solidFill>
              <a:srgbClr val="00D4FF"/>
            </a:solidFill>
            <a:prstDash val="solid"/>
          </a:ln>
        </p:spPr>
      </p:sp>
      <p:sp>
        <p:nvSpPr>
          <p:cNvPr id="4" name="Text 2"/>
          <p:cNvSpPr/>
          <p:nvPr/>
        </p:nvSpPr>
        <p:spPr>
          <a:xfrm>
            <a:off x="274320" y="365760"/>
            <a:ext cx="2560320" cy="365760"/>
          </a:xfrm>
          <a:prstGeom prst="rect">
            <a:avLst/>
          </a:prstGeom>
          <a:noFill/>
          <a:ln/>
        </p:spPr>
        <p:txBody>
          <a:bodyPr wrap="square" lIns="0" tIns="0" rIns="0" bIns="0" rtlCol="0" anchor="ctr"/>
          <a:lstStyle/>
          <a:p>
            <a:pPr indent="0" marL="0">
              <a:buNone/>
            </a:pPr>
            <a:r>
              <a:rPr lang="en-US" sz="1000" spc="400" kern="0" dirty="0">
                <a:solidFill>
                  <a:srgbClr val="8B9BB4"/>
                </a:solidFill>
                <a:latin typeface="Consolas" pitchFamily="34" charset="0"/>
                <a:ea typeface="Consolas" pitchFamily="34" charset="-122"/>
                <a:cs typeface="Consolas" pitchFamily="34" charset="-120"/>
              </a:rPr>
              <a:t>SECTION 7</a:t>
            </a:r>
            <a:endParaRPr lang="en-US" sz="1000" dirty="0"/>
          </a:p>
        </p:txBody>
      </p:sp>
      <p:sp>
        <p:nvSpPr>
          <p:cNvPr id="5" name="Text 3"/>
          <p:cNvSpPr/>
          <p:nvPr/>
        </p:nvSpPr>
        <p:spPr>
          <a:xfrm>
            <a:off x="274320" y="731520"/>
            <a:ext cx="2560320" cy="1645920"/>
          </a:xfrm>
          <a:prstGeom prst="rect">
            <a:avLst/>
          </a:prstGeom>
          <a:noFill/>
          <a:ln/>
        </p:spPr>
        <p:txBody>
          <a:bodyPr wrap="square" lIns="0" tIns="0" rIns="0" bIns="0" rtlCol="0" anchor="ctr"/>
          <a:lstStyle/>
          <a:p>
            <a:pPr indent="0" marL="0">
              <a:buNone/>
            </a:pPr>
            <a:r>
              <a:rPr lang="en-US" sz="10000" b="1" dirty="0">
                <a:solidFill>
                  <a:srgbClr val="00D4FF">
                    <a:alpha val="90000"/>
                  </a:srgbClr>
                </a:solidFill>
                <a:latin typeface="Consolas" pitchFamily="34" charset="0"/>
                <a:ea typeface="Consolas" pitchFamily="34" charset="-122"/>
                <a:cs typeface="Consolas" pitchFamily="34" charset="-120"/>
              </a:rPr>
              <a:t>07</a:t>
            </a:r>
            <a:endParaRPr lang="en-US" sz="10000" dirty="0"/>
          </a:p>
        </p:txBody>
      </p:sp>
      <p:pic>
        <p:nvPicPr>
          <p:cNvPr id="6" name="Image 0" descr="preencoded.png">    </p:cNvPr>
          <p:cNvPicPr>
            <a:picLocks noChangeAspect="1"/>
          </p:cNvPicPr>
          <p:nvPr/>
        </p:nvPicPr>
        <p:blipFill>
          <a:blip r:embed="rId1"/>
          <a:stretch>
            <a:fillRect/>
          </a:stretch>
        </p:blipFill>
        <p:spPr>
          <a:xfrm>
            <a:off x="822960" y="2926080"/>
            <a:ext cx="1463040" cy="1463040"/>
          </a:xfrm>
          <a:prstGeom prst="rect">
            <a:avLst/>
          </a:prstGeom>
        </p:spPr>
      </p:pic>
      <p:sp>
        <p:nvSpPr>
          <p:cNvPr id="7" name="Text 4"/>
          <p:cNvSpPr/>
          <p:nvPr/>
        </p:nvSpPr>
        <p:spPr>
          <a:xfrm>
            <a:off x="3474720" y="1463040"/>
            <a:ext cx="5394960" cy="1371600"/>
          </a:xfrm>
          <a:prstGeom prst="rect">
            <a:avLst/>
          </a:prstGeom>
          <a:noFill/>
          <a:ln/>
        </p:spPr>
        <p:txBody>
          <a:bodyPr wrap="square" lIns="0" tIns="0" rIns="0" bIns="0" rtlCol="0" anchor="ctr"/>
          <a:lstStyle/>
          <a:p>
            <a:pPr indent="0" marL="0">
              <a:buNone/>
            </a:pPr>
            <a:r>
              <a:rPr lang="en-US" sz="3600" b="1" dirty="0">
                <a:solidFill>
                  <a:srgbClr val="FFFFFF"/>
                </a:solidFill>
                <a:latin typeface="Consolas" pitchFamily="34" charset="0"/>
                <a:ea typeface="Consolas" pitchFamily="34" charset="-122"/>
                <a:cs typeface="Consolas" pitchFamily="34" charset="-120"/>
              </a:rPr>
              <a:t>Static Analysis</a:t>
            </a:r>
            <a:endParaRPr lang="en-US" sz="3600" dirty="0"/>
          </a:p>
        </p:txBody>
      </p:sp>
      <p:sp>
        <p:nvSpPr>
          <p:cNvPr id="8" name="Text 5"/>
          <p:cNvSpPr/>
          <p:nvPr/>
        </p:nvSpPr>
        <p:spPr>
          <a:xfrm>
            <a:off x="3474720" y="2926080"/>
            <a:ext cx="5394960" cy="1097280"/>
          </a:xfrm>
          <a:prstGeom prst="rect">
            <a:avLst/>
          </a:prstGeom>
          <a:noFill/>
          <a:ln/>
        </p:spPr>
        <p:txBody>
          <a:bodyPr wrap="square" lIns="0" tIns="0" rIns="0" bIns="0" rtlCol="0" anchor="ctr"/>
          <a:lstStyle/>
          <a:p>
            <a:pPr indent="0" marL="0">
              <a:buNone/>
            </a:pPr>
            <a:r>
              <a:rPr lang="en-US" sz="1400" dirty="0">
                <a:solidFill>
                  <a:srgbClr val="8B9BB4"/>
                </a:solidFill>
                <a:latin typeface="Calibri" pitchFamily="34" charset="0"/>
                <a:ea typeface="Calibri" pitchFamily="34" charset="-122"/>
                <a:cs typeface="Calibri" pitchFamily="34" charset="-120"/>
              </a:rPr>
              <a:t>Reading binaries without running them.</a:t>
            </a:r>
            <a:endParaRPr lang="en-US" sz="1400" dirty="0"/>
          </a:p>
        </p:txBody>
      </p:sp>
      <p:sp>
        <p:nvSpPr>
          <p:cNvPr id="9" name="Shape 6"/>
          <p:cNvSpPr/>
          <p:nvPr/>
        </p:nvSpPr>
        <p:spPr>
          <a:xfrm>
            <a:off x="3474720" y="4297680"/>
            <a:ext cx="91440" cy="91440"/>
          </a:xfrm>
          <a:prstGeom prst="ellipse">
            <a:avLst/>
          </a:prstGeom>
          <a:solidFill>
            <a:srgbClr val="00D4FF"/>
          </a:solidFill>
          <a:ln w="12700">
            <a:solidFill>
              <a:srgbClr val="00D4FF"/>
            </a:solidFill>
            <a:prstDash val="solid"/>
          </a:ln>
        </p:spPr>
      </p:sp>
      <p:sp>
        <p:nvSpPr>
          <p:cNvPr id="10" name="Shape 7"/>
          <p:cNvSpPr/>
          <p:nvPr/>
        </p:nvSpPr>
        <p:spPr>
          <a:xfrm>
            <a:off x="3794760" y="4297680"/>
            <a:ext cx="91440" cy="91440"/>
          </a:xfrm>
          <a:prstGeom prst="ellipse">
            <a:avLst/>
          </a:prstGeom>
          <a:solidFill>
            <a:srgbClr val="00D4FF">
              <a:alpha val="85000"/>
            </a:srgbClr>
          </a:solidFill>
          <a:ln w="12700">
            <a:solidFill>
              <a:srgbClr val="00D4FF">
                <a:alpha val="85000"/>
              </a:srgbClr>
            </a:solidFill>
            <a:prstDash val="solid"/>
          </a:ln>
        </p:spPr>
      </p:sp>
      <p:sp>
        <p:nvSpPr>
          <p:cNvPr id="11" name="Shape 8"/>
          <p:cNvSpPr/>
          <p:nvPr/>
        </p:nvSpPr>
        <p:spPr>
          <a:xfrm>
            <a:off x="4114800" y="4297680"/>
            <a:ext cx="91440" cy="91440"/>
          </a:xfrm>
          <a:prstGeom prst="ellipse">
            <a:avLst/>
          </a:prstGeom>
          <a:solidFill>
            <a:srgbClr val="00D4FF">
              <a:alpha val="70000"/>
            </a:srgbClr>
          </a:solidFill>
          <a:ln w="12700">
            <a:solidFill>
              <a:srgbClr val="00D4FF">
                <a:alpha val="70000"/>
              </a:srgbClr>
            </a:solidFill>
            <a:prstDash val="solid"/>
          </a:ln>
        </p:spPr>
      </p:sp>
      <p:sp>
        <p:nvSpPr>
          <p:cNvPr id="12" name="Shape 9"/>
          <p:cNvSpPr/>
          <p:nvPr/>
        </p:nvSpPr>
        <p:spPr>
          <a:xfrm>
            <a:off x="4434840" y="4297680"/>
            <a:ext cx="91440" cy="91440"/>
          </a:xfrm>
          <a:prstGeom prst="ellipse">
            <a:avLst/>
          </a:prstGeom>
          <a:solidFill>
            <a:srgbClr val="00D4FF">
              <a:alpha val="55000"/>
            </a:srgbClr>
          </a:solidFill>
          <a:ln w="12700">
            <a:solidFill>
              <a:srgbClr val="00D4FF">
                <a:alpha val="55000"/>
              </a:srgbClr>
            </a:solidFill>
            <a:prstDash val="solid"/>
          </a:ln>
        </p:spPr>
      </p:sp>
      <p:sp>
        <p:nvSpPr>
          <p:cNvPr id="13" name="Shape 10"/>
          <p:cNvSpPr/>
          <p:nvPr/>
        </p:nvSpPr>
        <p:spPr>
          <a:xfrm>
            <a:off x="4754880" y="4297680"/>
            <a:ext cx="91440" cy="91440"/>
          </a:xfrm>
          <a:prstGeom prst="ellipse">
            <a:avLst/>
          </a:prstGeom>
          <a:solidFill>
            <a:srgbClr val="00D4FF">
              <a:alpha val="40000"/>
            </a:srgbClr>
          </a:solidFill>
          <a:ln w="12700">
            <a:solidFill>
              <a:srgbClr val="00D4FF">
                <a:alpha val="40000"/>
              </a:srgbClr>
            </a:solidFill>
            <a:prstDash val="solid"/>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164592" y="164592"/>
            <a:ext cx="365760" cy="45720"/>
          </a:xfrm>
          <a:prstGeom prst="rect">
            <a:avLst/>
          </a:prstGeom>
          <a:solidFill>
            <a:srgbClr val="00FF88"/>
          </a:solidFill>
          <a:ln w="12700">
            <a:solidFill>
              <a:srgbClr val="00FF88"/>
            </a:solidFill>
            <a:prstDash val="solid"/>
          </a:ln>
        </p:spPr>
      </p:sp>
      <p:sp>
        <p:nvSpPr>
          <p:cNvPr id="3" name="Shape 1"/>
          <p:cNvSpPr/>
          <p:nvPr/>
        </p:nvSpPr>
        <p:spPr>
          <a:xfrm>
            <a:off x="164592" y="164592"/>
            <a:ext cx="45720" cy="274320"/>
          </a:xfrm>
          <a:prstGeom prst="rect">
            <a:avLst/>
          </a:prstGeom>
          <a:solidFill>
            <a:srgbClr val="00FF88"/>
          </a:solidFill>
          <a:ln w="12700">
            <a:solidFill>
              <a:srgbClr val="00FF88"/>
            </a:solidFill>
            <a:prstDash val="solid"/>
          </a:ln>
        </p:spPr>
      </p:sp>
      <p:sp>
        <p:nvSpPr>
          <p:cNvPr id="4" name="Shape 2"/>
          <p:cNvSpPr/>
          <p:nvPr/>
        </p:nvSpPr>
        <p:spPr>
          <a:xfrm>
            <a:off x="8613648" y="4910328"/>
            <a:ext cx="365760" cy="45720"/>
          </a:xfrm>
          <a:prstGeom prst="rect">
            <a:avLst/>
          </a:prstGeom>
          <a:solidFill>
            <a:srgbClr val="00D4FF"/>
          </a:solidFill>
          <a:ln w="12700">
            <a:solidFill>
              <a:srgbClr val="00D4FF"/>
            </a:solidFill>
            <a:prstDash val="solid"/>
          </a:ln>
        </p:spPr>
      </p:sp>
      <p:sp>
        <p:nvSpPr>
          <p:cNvPr id="5" name="Shape 3"/>
          <p:cNvSpPr/>
          <p:nvPr/>
        </p:nvSpPr>
        <p:spPr>
          <a:xfrm>
            <a:off x="8933688" y="4681728"/>
            <a:ext cx="45720" cy="274320"/>
          </a:xfrm>
          <a:prstGeom prst="rect">
            <a:avLst/>
          </a:prstGeom>
          <a:solidFill>
            <a:srgbClr val="00D4FF"/>
          </a:solidFill>
          <a:ln w="12700">
            <a:solidFill>
              <a:srgbClr val="00D4FF"/>
            </a:solidFill>
            <a:prstDash val="solid"/>
          </a:ln>
        </p:spPr>
      </p:sp>
      <p:sp>
        <p:nvSpPr>
          <p:cNvPr id="6" name="Shape 4"/>
          <p:cNvSpPr/>
          <p:nvPr/>
        </p:nvSpPr>
        <p:spPr>
          <a:xfrm>
            <a:off x="411480" y="201168"/>
            <a:ext cx="3113532" cy="256032"/>
          </a:xfrm>
          <a:prstGeom prst="rect">
            <a:avLst/>
          </a:prstGeom>
          <a:solidFill>
            <a:srgbClr val="00D4FF"/>
          </a:solidFill>
          <a:ln w="12700">
            <a:solidFill>
              <a:srgbClr val="00D4FF"/>
            </a:solidFill>
            <a:prstDash val="solid"/>
          </a:ln>
        </p:spPr>
      </p:sp>
      <p:sp>
        <p:nvSpPr>
          <p:cNvPr id="7" name="Text 5"/>
          <p:cNvSpPr/>
          <p:nvPr/>
        </p:nvSpPr>
        <p:spPr>
          <a:xfrm>
            <a:off x="411480" y="201168"/>
            <a:ext cx="3113532" cy="256032"/>
          </a:xfrm>
          <a:prstGeom prst="rect">
            <a:avLst/>
          </a:prstGeom>
          <a:noFill/>
          <a:ln/>
        </p:spPr>
        <p:txBody>
          <a:bodyPr wrap="square" lIns="0" tIns="0" rIns="0" bIns="0" rtlCol="0" anchor="ctr"/>
          <a:lstStyle/>
          <a:p>
            <a:pPr algn="ctr" indent="0" marL="0">
              <a:buNone/>
            </a:pPr>
            <a:r>
              <a:rPr lang="en-US" sz="900" b="1" dirty="0">
                <a:solidFill>
                  <a:srgbClr val="0A0E1A"/>
                </a:solidFill>
                <a:latin typeface="Consolas" pitchFamily="34" charset="0"/>
                <a:ea typeface="Consolas" pitchFamily="34" charset="-122"/>
                <a:cs typeface="Consolas" pitchFamily="34" charset="-120"/>
              </a:rPr>
              <a:t>SECTION 7 · STATIC ANALYSIS</a:t>
            </a:r>
            <a:endParaRPr lang="en-US" sz="900" dirty="0"/>
          </a:p>
        </p:txBody>
      </p:sp>
      <p:sp>
        <p:nvSpPr>
          <p:cNvPr id="8" name="Text 6"/>
          <p:cNvSpPr/>
          <p:nvPr/>
        </p:nvSpPr>
        <p:spPr>
          <a:xfrm>
            <a:off x="411480" y="530352"/>
            <a:ext cx="8321040" cy="594360"/>
          </a:xfrm>
          <a:prstGeom prst="rect">
            <a:avLst/>
          </a:prstGeom>
          <a:noFill/>
          <a:ln/>
        </p:spPr>
        <p:txBody>
          <a:bodyPr wrap="square" lIns="0" tIns="0" rIns="0" bIns="0" rtlCol="0" anchor="ctr"/>
          <a:lstStyle/>
          <a:p>
            <a:pPr algn="l" indent="0" marL="0">
              <a:buNone/>
            </a:pPr>
            <a:r>
              <a:rPr lang="en-US" sz="2800" b="1" dirty="0">
                <a:solidFill>
                  <a:srgbClr val="00D4FF"/>
                </a:solidFill>
                <a:latin typeface="Consolas" pitchFamily="34" charset="0"/>
                <a:ea typeface="Consolas" pitchFamily="34" charset="-122"/>
                <a:cs typeface="Consolas" pitchFamily="34" charset="-120"/>
              </a:rPr>
              <a:t>Static Analysis Techniques</a:t>
            </a:r>
            <a:endParaRPr lang="en-US" sz="2800" dirty="0"/>
          </a:p>
        </p:txBody>
      </p:sp>
      <p:sp>
        <p:nvSpPr>
          <p:cNvPr id="9" name="Text 7"/>
          <p:cNvSpPr/>
          <p:nvPr/>
        </p:nvSpPr>
        <p:spPr>
          <a:xfrm>
            <a:off x="411480" y="1051560"/>
            <a:ext cx="8321040" cy="320040"/>
          </a:xfrm>
          <a:prstGeom prst="rect">
            <a:avLst/>
          </a:prstGeom>
          <a:noFill/>
          <a:ln/>
        </p:spPr>
        <p:txBody>
          <a:bodyPr wrap="square" lIns="0" tIns="0" rIns="0" bIns="0" rtlCol="0" anchor="ctr"/>
          <a:lstStyle/>
          <a:p>
            <a:pPr algn="l" indent="0" marL="0">
              <a:buNone/>
            </a:pPr>
            <a:r>
              <a:rPr lang="en-US" sz="1300" dirty="0">
                <a:solidFill>
                  <a:srgbClr val="8B9BB4"/>
                </a:solidFill>
                <a:latin typeface="Calibri" pitchFamily="34" charset="0"/>
                <a:ea typeface="Calibri" pitchFamily="34" charset="-122"/>
                <a:cs typeface="Calibri" pitchFamily="34" charset="-120"/>
              </a:rPr>
              <a:t>Extracting maximum information before touching the keyboard.</a:t>
            </a:r>
            <a:endParaRPr lang="en-US" sz="1300" dirty="0"/>
          </a:p>
        </p:txBody>
      </p:sp>
      <p:sp>
        <p:nvSpPr>
          <p:cNvPr id="10" name="Text 8"/>
          <p:cNvSpPr/>
          <p:nvPr/>
        </p:nvSpPr>
        <p:spPr>
          <a:xfrm>
            <a:off x="8686800" y="4754880"/>
            <a:ext cx="365760" cy="228600"/>
          </a:xfrm>
          <a:prstGeom prst="rect">
            <a:avLst/>
          </a:prstGeom>
          <a:noFill/>
          <a:ln/>
        </p:spPr>
        <p:txBody>
          <a:bodyPr wrap="square" lIns="0" tIns="0" rIns="0" bIns="0" rtlCol="0" anchor="ctr"/>
          <a:lstStyle/>
          <a:p>
            <a:pPr algn="r" indent="0" marL="0">
              <a:buNone/>
            </a:pPr>
            <a:r>
              <a:rPr lang="en-US" sz="900" dirty="0">
                <a:solidFill>
                  <a:srgbClr val="8B9BB4"/>
                </a:solidFill>
                <a:latin typeface="Consolas" pitchFamily="34" charset="0"/>
                <a:ea typeface="Consolas" pitchFamily="34" charset="-122"/>
                <a:cs typeface="Consolas" pitchFamily="34" charset="-120"/>
              </a:rPr>
              <a:t>18</a:t>
            </a:r>
            <a:endParaRPr lang="en-US" sz="900" dirty="0"/>
          </a:p>
        </p:txBody>
      </p:sp>
      <p:sp>
        <p:nvSpPr>
          <p:cNvPr id="11" name="Shape 9"/>
          <p:cNvSpPr/>
          <p:nvPr/>
        </p:nvSpPr>
        <p:spPr>
          <a:xfrm>
            <a:off x="320040" y="1234440"/>
            <a:ext cx="5029200" cy="777240"/>
          </a:xfrm>
          <a:prstGeom prst="rect">
            <a:avLst/>
          </a:prstGeom>
          <a:solidFill>
            <a:srgbClr val="111827"/>
          </a:solidFill>
          <a:ln w="12700">
            <a:solidFill>
              <a:srgbClr val="00D4FF"/>
            </a:solidFill>
            <a:prstDash val="solid"/>
          </a:ln>
        </p:spPr>
      </p:sp>
      <p:sp>
        <p:nvSpPr>
          <p:cNvPr id="12" name="Text 10"/>
          <p:cNvSpPr/>
          <p:nvPr/>
        </p:nvSpPr>
        <p:spPr>
          <a:xfrm>
            <a:off x="457200" y="1307592"/>
            <a:ext cx="4754880" cy="274320"/>
          </a:xfrm>
          <a:prstGeom prst="rect">
            <a:avLst/>
          </a:prstGeom>
          <a:noFill/>
          <a:ln/>
        </p:spPr>
        <p:txBody>
          <a:bodyPr wrap="square" lIns="0" tIns="0" rIns="0" bIns="0" rtlCol="0" anchor="ctr"/>
          <a:lstStyle/>
          <a:p>
            <a:pPr indent="0" marL="0">
              <a:buNone/>
            </a:pPr>
            <a:r>
              <a:rPr lang="en-US" sz="1100" b="1" dirty="0">
                <a:solidFill>
                  <a:srgbClr val="00D4FF"/>
                </a:solidFill>
                <a:latin typeface="Consolas" pitchFamily="34" charset="0"/>
                <a:ea typeface="Consolas" pitchFamily="34" charset="-122"/>
                <a:cs typeface="Consolas" pitchFamily="34" charset="-120"/>
              </a:rPr>
              <a:t>String Extraction</a:t>
            </a:r>
            <a:endParaRPr lang="en-US" sz="1100" dirty="0"/>
          </a:p>
        </p:txBody>
      </p:sp>
      <p:sp>
        <p:nvSpPr>
          <p:cNvPr id="13" name="Text 11"/>
          <p:cNvSpPr/>
          <p:nvPr/>
        </p:nvSpPr>
        <p:spPr>
          <a:xfrm>
            <a:off x="457200" y="1618488"/>
            <a:ext cx="4754880" cy="320040"/>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Hardcoded URLs, passwords, error messages, registry keys</a:t>
            </a:r>
            <a:endParaRPr lang="en-US" sz="900" dirty="0"/>
          </a:p>
        </p:txBody>
      </p:sp>
      <p:sp>
        <p:nvSpPr>
          <p:cNvPr id="14" name="Shape 12"/>
          <p:cNvSpPr/>
          <p:nvPr/>
        </p:nvSpPr>
        <p:spPr>
          <a:xfrm>
            <a:off x="5440680" y="1234440"/>
            <a:ext cx="3383280" cy="777240"/>
          </a:xfrm>
          <a:prstGeom prst="rect">
            <a:avLst/>
          </a:prstGeom>
          <a:solidFill>
            <a:srgbClr val="050A14"/>
          </a:solidFill>
          <a:ln w="12700">
            <a:solidFill>
              <a:srgbClr val="1E3A5F"/>
            </a:solidFill>
            <a:prstDash val="solid"/>
          </a:ln>
        </p:spPr>
      </p:sp>
      <p:sp>
        <p:nvSpPr>
          <p:cNvPr id="15" name="Text 13"/>
          <p:cNvSpPr/>
          <p:nvPr/>
        </p:nvSpPr>
        <p:spPr>
          <a:xfrm>
            <a:off x="5550408" y="1344168"/>
            <a:ext cx="3163824" cy="594360"/>
          </a:xfrm>
          <a:prstGeom prst="rect">
            <a:avLst/>
          </a:prstGeom>
          <a:noFill/>
          <a:ln/>
        </p:spPr>
        <p:txBody>
          <a:bodyPr wrap="square" lIns="0" tIns="0" rIns="0" bIns="0" rtlCol="0" anchor="t"/>
          <a:lstStyle/>
          <a:p>
            <a:pPr algn="l" indent="0" marL="0">
              <a:buNone/>
            </a:pPr>
            <a:r>
              <a:rPr lang="en-US" sz="950" dirty="0">
                <a:solidFill>
                  <a:srgbClr val="00FF88"/>
                </a:solidFill>
                <a:latin typeface="Consolas" pitchFamily="34" charset="0"/>
                <a:ea typeface="Consolas" pitchFamily="34" charset="-122"/>
                <a:cs typeface="Consolas" pitchFamily="34" charset="-120"/>
              </a:rPr>
              <a:t>strings malware.exe | grep "http"</a:t>
            </a:r>
            <a:endParaRPr lang="en-US" sz="950" dirty="0"/>
          </a:p>
        </p:txBody>
      </p:sp>
      <p:sp>
        <p:nvSpPr>
          <p:cNvPr id="16" name="Shape 14"/>
          <p:cNvSpPr/>
          <p:nvPr/>
        </p:nvSpPr>
        <p:spPr>
          <a:xfrm>
            <a:off x="320040" y="2148840"/>
            <a:ext cx="5029200" cy="777240"/>
          </a:xfrm>
          <a:prstGeom prst="rect">
            <a:avLst/>
          </a:prstGeom>
          <a:solidFill>
            <a:srgbClr val="111827"/>
          </a:solidFill>
          <a:ln w="12700">
            <a:solidFill>
              <a:srgbClr val="00D4FF"/>
            </a:solidFill>
            <a:prstDash val="solid"/>
          </a:ln>
        </p:spPr>
      </p:sp>
      <p:sp>
        <p:nvSpPr>
          <p:cNvPr id="17" name="Text 15"/>
          <p:cNvSpPr/>
          <p:nvPr/>
        </p:nvSpPr>
        <p:spPr>
          <a:xfrm>
            <a:off x="457200" y="2221992"/>
            <a:ext cx="4754880" cy="274320"/>
          </a:xfrm>
          <a:prstGeom prst="rect">
            <a:avLst/>
          </a:prstGeom>
          <a:noFill/>
          <a:ln/>
        </p:spPr>
        <p:txBody>
          <a:bodyPr wrap="square" lIns="0" tIns="0" rIns="0" bIns="0" rtlCol="0" anchor="ctr"/>
          <a:lstStyle/>
          <a:p>
            <a:pPr indent="0" marL="0">
              <a:buNone/>
            </a:pPr>
            <a:r>
              <a:rPr lang="en-US" sz="1100" b="1" dirty="0">
                <a:solidFill>
                  <a:srgbClr val="00D4FF"/>
                </a:solidFill>
                <a:latin typeface="Consolas" pitchFamily="34" charset="0"/>
                <a:ea typeface="Consolas" pitchFamily="34" charset="-122"/>
                <a:cs typeface="Consolas" pitchFamily="34" charset="-120"/>
              </a:rPr>
              <a:t>Import Analysis</a:t>
            </a:r>
            <a:endParaRPr lang="en-US" sz="1100" dirty="0"/>
          </a:p>
        </p:txBody>
      </p:sp>
      <p:sp>
        <p:nvSpPr>
          <p:cNvPr id="18" name="Text 16"/>
          <p:cNvSpPr/>
          <p:nvPr/>
        </p:nvSpPr>
        <p:spPr>
          <a:xfrm>
            <a:off x="457200" y="2532888"/>
            <a:ext cx="4754880" cy="320040"/>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Which Windows APIs? CreateFile → file ops, WSAConnect → network</a:t>
            </a:r>
            <a:endParaRPr lang="en-US" sz="900" dirty="0"/>
          </a:p>
        </p:txBody>
      </p:sp>
      <p:sp>
        <p:nvSpPr>
          <p:cNvPr id="19" name="Shape 17"/>
          <p:cNvSpPr/>
          <p:nvPr/>
        </p:nvSpPr>
        <p:spPr>
          <a:xfrm>
            <a:off x="5440680" y="2148840"/>
            <a:ext cx="3383280" cy="777240"/>
          </a:xfrm>
          <a:prstGeom prst="rect">
            <a:avLst/>
          </a:prstGeom>
          <a:solidFill>
            <a:srgbClr val="050A14"/>
          </a:solidFill>
          <a:ln w="12700">
            <a:solidFill>
              <a:srgbClr val="1E3A5F"/>
            </a:solidFill>
            <a:prstDash val="solid"/>
          </a:ln>
        </p:spPr>
      </p:sp>
      <p:sp>
        <p:nvSpPr>
          <p:cNvPr id="20" name="Text 18"/>
          <p:cNvSpPr/>
          <p:nvPr/>
        </p:nvSpPr>
        <p:spPr>
          <a:xfrm>
            <a:off x="5550408" y="2258568"/>
            <a:ext cx="3163824" cy="594360"/>
          </a:xfrm>
          <a:prstGeom prst="rect">
            <a:avLst/>
          </a:prstGeom>
          <a:noFill/>
          <a:ln/>
        </p:spPr>
        <p:txBody>
          <a:bodyPr wrap="square" lIns="0" tIns="0" rIns="0" bIns="0" rtlCol="0" anchor="t"/>
          <a:lstStyle/>
          <a:p>
            <a:pPr algn="l" indent="0" marL="0">
              <a:buNone/>
            </a:pPr>
            <a:r>
              <a:rPr lang="en-US" sz="950" dirty="0">
                <a:solidFill>
                  <a:srgbClr val="00FF88"/>
                </a:solidFill>
                <a:latin typeface="Consolas" pitchFamily="34" charset="0"/>
                <a:ea typeface="Consolas" pitchFamily="34" charset="-122"/>
                <a:cs typeface="Consolas" pitchFamily="34" charset="-120"/>
              </a:rPr>
              <a:t>dumpbin /imports target.exe</a:t>
            </a:r>
            <a:endParaRPr lang="en-US" sz="950" dirty="0"/>
          </a:p>
        </p:txBody>
      </p:sp>
      <p:sp>
        <p:nvSpPr>
          <p:cNvPr id="21" name="Shape 19"/>
          <p:cNvSpPr/>
          <p:nvPr/>
        </p:nvSpPr>
        <p:spPr>
          <a:xfrm>
            <a:off x="320040" y="3063240"/>
            <a:ext cx="5029200" cy="777240"/>
          </a:xfrm>
          <a:prstGeom prst="rect">
            <a:avLst/>
          </a:prstGeom>
          <a:solidFill>
            <a:srgbClr val="111827"/>
          </a:solidFill>
          <a:ln w="12700">
            <a:solidFill>
              <a:srgbClr val="00D4FF"/>
            </a:solidFill>
            <a:prstDash val="solid"/>
          </a:ln>
        </p:spPr>
      </p:sp>
      <p:sp>
        <p:nvSpPr>
          <p:cNvPr id="22" name="Text 20"/>
          <p:cNvSpPr/>
          <p:nvPr/>
        </p:nvSpPr>
        <p:spPr>
          <a:xfrm>
            <a:off x="457200" y="3136392"/>
            <a:ext cx="4754880" cy="274320"/>
          </a:xfrm>
          <a:prstGeom prst="rect">
            <a:avLst/>
          </a:prstGeom>
          <a:noFill/>
          <a:ln/>
        </p:spPr>
        <p:txBody>
          <a:bodyPr wrap="square" lIns="0" tIns="0" rIns="0" bIns="0" rtlCol="0" anchor="ctr"/>
          <a:lstStyle/>
          <a:p>
            <a:pPr indent="0" marL="0">
              <a:buNone/>
            </a:pPr>
            <a:r>
              <a:rPr lang="en-US" sz="1100" b="1" dirty="0">
                <a:solidFill>
                  <a:srgbClr val="00D4FF"/>
                </a:solidFill>
                <a:latin typeface="Consolas" pitchFamily="34" charset="0"/>
                <a:ea typeface="Consolas" pitchFamily="34" charset="-122"/>
                <a:cs typeface="Consolas" pitchFamily="34" charset="-120"/>
              </a:rPr>
              <a:t>Cross References</a:t>
            </a:r>
            <a:endParaRPr lang="en-US" sz="1100" dirty="0"/>
          </a:p>
        </p:txBody>
      </p:sp>
      <p:sp>
        <p:nvSpPr>
          <p:cNvPr id="23" name="Text 21"/>
          <p:cNvSpPr/>
          <p:nvPr/>
        </p:nvSpPr>
        <p:spPr>
          <a:xfrm>
            <a:off x="457200" y="3447288"/>
            <a:ext cx="4754880" cy="320040"/>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Who calls this function? Where is this string used?</a:t>
            </a:r>
            <a:endParaRPr lang="en-US" sz="900" dirty="0"/>
          </a:p>
        </p:txBody>
      </p:sp>
      <p:sp>
        <p:nvSpPr>
          <p:cNvPr id="24" name="Shape 22"/>
          <p:cNvSpPr/>
          <p:nvPr/>
        </p:nvSpPr>
        <p:spPr>
          <a:xfrm>
            <a:off x="5440680" y="3063240"/>
            <a:ext cx="3383280" cy="777240"/>
          </a:xfrm>
          <a:prstGeom prst="rect">
            <a:avLst/>
          </a:prstGeom>
          <a:solidFill>
            <a:srgbClr val="050A14"/>
          </a:solidFill>
          <a:ln w="12700">
            <a:solidFill>
              <a:srgbClr val="1E3A5F"/>
            </a:solidFill>
            <a:prstDash val="solid"/>
          </a:ln>
        </p:spPr>
      </p:sp>
      <p:sp>
        <p:nvSpPr>
          <p:cNvPr id="25" name="Text 23"/>
          <p:cNvSpPr/>
          <p:nvPr/>
        </p:nvSpPr>
        <p:spPr>
          <a:xfrm>
            <a:off x="5550408" y="3172968"/>
            <a:ext cx="3163824" cy="594360"/>
          </a:xfrm>
          <a:prstGeom prst="rect">
            <a:avLst/>
          </a:prstGeom>
          <a:noFill/>
          <a:ln/>
        </p:spPr>
        <p:txBody>
          <a:bodyPr wrap="square" lIns="0" tIns="0" rIns="0" bIns="0" rtlCol="0" anchor="t"/>
          <a:lstStyle/>
          <a:p>
            <a:pPr algn="l" indent="0" marL="0">
              <a:buNone/>
            </a:pPr>
            <a:r>
              <a:rPr lang="en-US" sz="950" dirty="0">
                <a:solidFill>
                  <a:srgbClr val="00FF88"/>
                </a:solidFill>
                <a:latin typeface="Consolas" pitchFamily="34" charset="0"/>
                <a:ea typeface="Consolas" pitchFamily="34" charset="-122"/>
                <a:cs typeface="Consolas" pitchFamily="34" charset="-120"/>
              </a:rPr>
              <a:t>In Ghidra: Right-click → References</a:t>
            </a:r>
            <a:endParaRPr lang="en-US" sz="950" dirty="0"/>
          </a:p>
        </p:txBody>
      </p:sp>
      <p:sp>
        <p:nvSpPr>
          <p:cNvPr id="26" name="Shape 24"/>
          <p:cNvSpPr/>
          <p:nvPr/>
        </p:nvSpPr>
        <p:spPr>
          <a:xfrm>
            <a:off x="320040" y="3977640"/>
            <a:ext cx="5029200" cy="777240"/>
          </a:xfrm>
          <a:prstGeom prst="rect">
            <a:avLst/>
          </a:prstGeom>
          <a:solidFill>
            <a:srgbClr val="111827"/>
          </a:solidFill>
          <a:ln w="12700">
            <a:solidFill>
              <a:srgbClr val="00D4FF"/>
            </a:solidFill>
            <a:prstDash val="solid"/>
          </a:ln>
        </p:spPr>
      </p:sp>
      <p:sp>
        <p:nvSpPr>
          <p:cNvPr id="27" name="Text 25"/>
          <p:cNvSpPr/>
          <p:nvPr/>
        </p:nvSpPr>
        <p:spPr>
          <a:xfrm>
            <a:off x="457200" y="4050792"/>
            <a:ext cx="4754880" cy="274320"/>
          </a:xfrm>
          <a:prstGeom prst="rect">
            <a:avLst/>
          </a:prstGeom>
          <a:noFill/>
          <a:ln/>
        </p:spPr>
        <p:txBody>
          <a:bodyPr wrap="square" lIns="0" tIns="0" rIns="0" bIns="0" rtlCol="0" anchor="ctr"/>
          <a:lstStyle/>
          <a:p>
            <a:pPr indent="0" marL="0">
              <a:buNone/>
            </a:pPr>
            <a:r>
              <a:rPr lang="en-US" sz="1100" b="1" dirty="0">
                <a:solidFill>
                  <a:srgbClr val="00D4FF"/>
                </a:solidFill>
                <a:latin typeface="Consolas" pitchFamily="34" charset="0"/>
                <a:ea typeface="Consolas" pitchFamily="34" charset="-122"/>
                <a:cs typeface="Consolas" pitchFamily="34" charset="-120"/>
              </a:rPr>
              <a:t>Control Flow Graph</a:t>
            </a:r>
            <a:endParaRPr lang="en-US" sz="1100" dirty="0"/>
          </a:p>
        </p:txBody>
      </p:sp>
      <p:sp>
        <p:nvSpPr>
          <p:cNvPr id="28" name="Text 26"/>
          <p:cNvSpPr/>
          <p:nvPr/>
        </p:nvSpPr>
        <p:spPr>
          <a:xfrm>
            <a:off x="457200" y="4361688"/>
            <a:ext cx="4754880" cy="320040"/>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Visual representation of all code paths in a function</a:t>
            </a:r>
            <a:endParaRPr lang="en-US" sz="900" dirty="0"/>
          </a:p>
        </p:txBody>
      </p:sp>
      <p:sp>
        <p:nvSpPr>
          <p:cNvPr id="29" name="Shape 27"/>
          <p:cNvSpPr/>
          <p:nvPr/>
        </p:nvSpPr>
        <p:spPr>
          <a:xfrm>
            <a:off x="5440680" y="3977640"/>
            <a:ext cx="3383280" cy="777240"/>
          </a:xfrm>
          <a:prstGeom prst="rect">
            <a:avLst/>
          </a:prstGeom>
          <a:solidFill>
            <a:srgbClr val="050A14"/>
          </a:solidFill>
          <a:ln w="12700">
            <a:solidFill>
              <a:srgbClr val="1E3A5F"/>
            </a:solidFill>
            <a:prstDash val="solid"/>
          </a:ln>
        </p:spPr>
      </p:sp>
      <p:sp>
        <p:nvSpPr>
          <p:cNvPr id="30" name="Text 28"/>
          <p:cNvSpPr/>
          <p:nvPr/>
        </p:nvSpPr>
        <p:spPr>
          <a:xfrm>
            <a:off x="5550408" y="4087368"/>
            <a:ext cx="3163824" cy="594360"/>
          </a:xfrm>
          <a:prstGeom prst="rect">
            <a:avLst/>
          </a:prstGeom>
          <a:noFill/>
          <a:ln/>
        </p:spPr>
        <p:txBody>
          <a:bodyPr wrap="square" lIns="0" tIns="0" rIns="0" bIns="0" rtlCol="0" anchor="t"/>
          <a:lstStyle/>
          <a:p>
            <a:pPr algn="l" indent="0" marL="0">
              <a:buNone/>
            </a:pPr>
            <a:r>
              <a:rPr lang="en-US" sz="950" dirty="0">
                <a:solidFill>
                  <a:srgbClr val="00FF88"/>
                </a:solidFill>
                <a:latin typeface="Consolas" pitchFamily="34" charset="0"/>
                <a:ea typeface="Consolas" pitchFamily="34" charset="-122"/>
                <a:cs typeface="Consolas" pitchFamily="34" charset="-120"/>
              </a:rPr>
              <a:t>View → Function Graph (Ghidra/IDA)</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3200400" cy="5143500"/>
          </a:xfrm>
          <a:prstGeom prst="rect">
            <a:avLst/>
          </a:prstGeom>
          <a:solidFill>
            <a:srgbClr val="111827"/>
          </a:solidFill>
          <a:ln w="12700">
            <a:solidFill>
              <a:srgbClr val="111827"/>
            </a:solidFill>
            <a:prstDash val="solid"/>
          </a:ln>
        </p:spPr>
      </p:sp>
      <p:sp>
        <p:nvSpPr>
          <p:cNvPr id="3" name="Shape 1"/>
          <p:cNvSpPr/>
          <p:nvPr/>
        </p:nvSpPr>
        <p:spPr>
          <a:xfrm>
            <a:off x="3163824" y="0"/>
            <a:ext cx="36576" cy="5143500"/>
          </a:xfrm>
          <a:prstGeom prst="rect">
            <a:avLst/>
          </a:prstGeom>
          <a:solidFill>
            <a:srgbClr val="FF3355"/>
          </a:solidFill>
          <a:ln w="12700">
            <a:solidFill>
              <a:srgbClr val="FF3355"/>
            </a:solidFill>
            <a:prstDash val="solid"/>
          </a:ln>
        </p:spPr>
      </p:sp>
      <p:sp>
        <p:nvSpPr>
          <p:cNvPr id="4" name="Text 2"/>
          <p:cNvSpPr/>
          <p:nvPr/>
        </p:nvSpPr>
        <p:spPr>
          <a:xfrm>
            <a:off x="274320" y="365760"/>
            <a:ext cx="2560320" cy="365760"/>
          </a:xfrm>
          <a:prstGeom prst="rect">
            <a:avLst/>
          </a:prstGeom>
          <a:noFill/>
          <a:ln/>
        </p:spPr>
        <p:txBody>
          <a:bodyPr wrap="square" lIns="0" tIns="0" rIns="0" bIns="0" rtlCol="0" anchor="ctr"/>
          <a:lstStyle/>
          <a:p>
            <a:pPr indent="0" marL="0">
              <a:buNone/>
            </a:pPr>
            <a:r>
              <a:rPr lang="en-US" sz="1000" spc="400" kern="0" dirty="0">
                <a:solidFill>
                  <a:srgbClr val="8B9BB4"/>
                </a:solidFill>
                <a:latin typeface="Consolas" pitchFamily="34" charset="0"/>
                <a:ea typeface="Consolas" pitchFamily="34" charset="-122"/>
                <a:cs typeface="Consolas" pitchFamily="34" charset="-120"/>
              </a:rPr>
              <a:t>SECTION 8</a:t>
            </a:r>
            <a:endParaRPr lang="en-US" sz="1000" dirty="0"/>
          </a:p>
        </p:txBody>
      </p:sp>
      <p:sp>
        <p:nvSpPr>
          <p:cNvPr id="5" name="Text 3"/>
          <p:cNvSpPr/>
          <p:nvPr/>
        </p:nvSpPr>
        <p:spPr>
          <a:xfrm>
            <a:off x="274320" y="731520"/>
            <a:ext cx="2560320" cy="1645920"/>
          </a:xfrm>
          <a:prstGeom prst="rect">
            <a:avLst/>
          </a:prstGeom>
          <a:noFill/>
          <a:ln/>
        </p:spPr>
        <p:txBody>
          <a:bodyPr wrap="square" lIns="0" tIns="0" rIns="0" bIns="0" rtlCol="0" anchor="ctr"/>
          <a:lstStyle/>
          <a:p>
            <a:pPr indent="0" marL="0">
              <a:buNone/>
            </a:pPr>
            <a:r>
              <a:rPr lang="en-US" sz="10000" b="1" dirty="0">
                <a:solidFill>
                  <a:srgbClr val="FF3355">
                    <a:alpha val="90000"/>
                  </a:srgbClr>
                </a:solidFill>
                <a:latin typeface="Consolas" pitchFamily="34" charset="0"/>
                <a:ea typeface="Consolas" pitchFamily="34" charset="-122"/>
                <a:cs typeface="Consolas" pitchFamily="34" charset="-120"/>
              </a:rPr>
              <a:t>08</a:t>
            </a:r>
            <a:endParaRPr lang="en-US" sz="10000" dirty="0"/>
          </a:p>
        </p:txBody>
      </p:sp>
      <p:pic>
        <p:nvPicPr>
          <p:cNvPr id="6" name="Image 0" descr="preencoded.png">    </p:cNvPr>
          <p:cNvPicPr>
            <a:picLocks noChangeAspect="1"/>
          </p:cNvPicPr>
          <p:nvPr/>
        </p:nvPicPr>
        <p:blipFill>
          <a:blip r:embed="rId1"/>
          <a:stretch>
            <a:fillRect/>
          </a:stretch>
        </p:blipFill>
        <p:spPr>
          <a:xfrm>
            <a:off x="822960" y="2926080"/>
            <a:ext cx="1463040" cy="1463040"/>
          </a:xfrm>
          <a:prstGeom prst="rect">
            <a:avLst/>
          </a:prstGeom>
        </p:spPr>
      </p:pic>
      <p:sp>
        <p:nvSpPr>
          <p:cNvPr id="7" name="Text 4"/>
          <p:cNvSpPr/>
          <p:nvPr/>
        </p:nvSpPr>
        <p:spPr>
          <a:xfrm>
            <a:off x="3474720" y="1463040"/>
            <a:ext cx="5394960" cy="1371600"/>
          </a:xfrm>
          <a:prstGeom prst="rect">
            <a:avLst/>
          </a:prstGeom>
          <a:noFill/>
          <a:ln/>
        </p:spPr>
        <p:txBody>
          <a:bodyPr wrap="square" lIns="0" tIns="0" rIns="0" bIns="0" rtlCol="0" anchor="ctr"/>
          <a:lstStyle/>
          <a:p>
            <a:pPr indent="0" marL="0">
              <a:buNone/>
            </a:pPr>
            <a:r>
              <a:rPr lang="en-US" sz="3600" b="1" dirty="0">
                <a:solidFill>
                  <a:srgbClr val="FFFFFF"/>
                </a:solidFill>
                <a:latin typeface="Consolas" pitchFamily="34" charset="0"/>
                <a:ea typeface="Consolas" pitchFamily="34" charset="-122"/>
                <a:cs typeface="Consolas" pitchFamily="34" charset="-120"/>
              </a:rPr>
              <a:t>Dynamic Analysis</a:t>
            </a:r>
            <a:endParaRPr lang="en-US" sz="3600" dirty="0"/>
          </a:p>
        </p:txBody>
      </p:sp>
      <p:sp>
        <p:nvSpPr>
          <p:cNvPr id="8" name="Text 5"/>
          <p:cNvSpPr/>
          <p:nvPr/>
        </p:nvSpPr>
        <p:spPr>
          <a:xfrm>
            <a:off x="3474720" y="2926080"/>
            <a:ext cx="5394960" cy="1097280"/>
          </a:xfrm>
          <a:prstGeom prst="rect">
            <a:avLst/>
          </a:prstGeom>
          <a:noFill/>
          <a:ln/>
        </p:spPr>
        <p:txBody>
          <a:bodyPr wrap="square" lIns="0" tIns="0" rIns="0" bIns="0" rtlCol="0" anchor="ctr"/>
          <a:lstStyle/>
          <a:p>
            <a:pPr indent="0" marL="0">
              <a:buNone/>
            </a:pPr>
            <a:r>
              <a:rPr lang="en-US" sz="1400" dirty="0">
                <a:solidFill>
                  <a:srgbClr val="8B9BB4"/>
                </a:solidFill>
                <a:latin typeface="Calibri" pitchFamily="34" charset="0"/>
                <a:ea typeface="Calibri" pitchFamily="34" charset="-122"/>
                <a:cs typeface="Calibri" pitchFamily="34" charset="-120"/>
              </a:rPr>
              <a:t>Running the binary and observing its behavior live.</a:t>
            </a:r>
            <a:endParaRPr lang="en-US" sz="1400" dirty="0"/>
          </a:p>
        </p:txBody>
      </p:sp>
      <p:sp>
        <p:nvSpPr>
          <p:cNvPr id="9" name="Shape 6"/>
          <p:cNvSpPr/>
          <p:nvPr/>
        </p:nvSpPr>
        <p:spPr>
          <a:xfrm>
            <a:off x="3474720" y="4297680"/>
            <a:ext cx="91440" cy="91440"/>
          </a:xfrm>
          <a:prstGeom prst="ellipse">
            <a:avLst/>
          </a:prstGeom>
          <a:solidFill>
            <a:srgbClr val="FF3355"/>
          </a:solidFill>
          <a:ln w="12700">
            <a:solidFill>
              <a:srgbClr val="FF3355"/>
            </a:solidFill>
            <a:prstDash val="solid"/>
          </a:ln>
        </p:spPr>
      </p:sp>
      <p:sp>
        <p:nvSpPr>
          <p:cNvPr id="10" name="Shape 7"/>
          <p:cNvSpPr/>
          <p:nvPr/>
        </p:nvSpPr>
        <p:spPr>
          <a:xfrm>
            <a:off x="3794760" y="4297680"/>
            <a:ext cx="91440" cy="91440"/>
          </a:xfrm>
          <a:prstGeom prst="ellipse">
            <a:avLst/>
          </a:prstGeom>
          <a:solidFill>
            <a:srgbClr val="FF3355">
              <a:alpha val="85000"/>
            </a:srgbClr>
          </a:solidFill>
          <a:ln w="12700">
            <a:solidFill>
              <a:srgbClr val="FF3355">
                <a:alpha val="85000"/>
              </a:srgbClr>
            </a:solidFill>
            <a:prstDash val="solid"/>
          </a:ln>
        </p:spPr>
      </p:sp>
      <p:sp>
        <p:nvSpPr>
          <p:cNvPr id="11" name="Shape 8"/>
          <p:cNvSpPr/>
          <p:nvPr/>
        </p:nvSpPr>
        <p:spPr>
          <a:xfrm>
            <a:off x="4114800" y="4297680"/>
            <a:ext cx="91440" cy="91440"/>
          </a:xfrm>
          <a:prstGeom prst="ellipse">
            <a:avLst/>
          </a:prstGeom>
          <a:solidFill>
            <a:srgbClr val="FF3355">
              <a:alpha val="70000"/>
            </a:srgbClr>
          </a:solidFill>
          <a:ln w="12700">
            <a:solidFill>
              <a:srgbClr val="FF3355">
                <a:alpha val="70000"/>
              </a:srgbClr>
            </a:solidFill>
            <a:prstDash val="solid"/>
          </a:ln>
        </p:spPr>
      </p:sp>
      <p:sp>
        <p:nvSpPr>
          <p:cNvPr id="12" name="Shape 9"/>
          <p:cNvSpPr/>
          <p:nvPr/>
        </p:nvSpPr>
        <p:spPr>
          <a:xfrm>
            <a:off x="4434840" y="4297680"/>
            <a:ext cx="91440" cy="91440"/>
          </a:xfrm>
          <a:prstGeom prst="ellipse">
            <a:avLst/>
          </a:prstGeom>
          <a:solidFill>
            <a:srgbClr val="FF3355">
              <a:alpha val="55000"/>
            </a:srgbClr>
          </a:solidFill>
          <a:ln w="12700">
            <a:solidFill>
              <a:srgbClr val="FF3355">
                <a:alpha val="55000"/>
              </a:srgbClr>
            </a:solidFill>
            <a:prstDash val="solid"/>
          </a:ln>
        </p:spPr>
      </p:sp>
      <p:sp>
        <p:nvSpPr>
          <p:cNvPr id="13" name="Shape 10"/>
          <p:cNvSpPr/>
          <p:nvPr/>
        </p:nvSpPr>
        <p:spPr>
          <a:xfrm>
            <a:off x="4754880" y="4297680"/>
            <a:ext cx="91440" cy="91440"/>
          </a:xfrm>
          <a:prstGeom prst="ellipse">
            <a:avLst/>
          </a:prstGeom>
          <a:solidFill>
            <a:srgbClr val="FF3355">
              <a:alpha val="40000"/>
            </a:srgbClr>
          </a:solidFill>
          <a:ln w="12700">
            <a:solidFill>
              <a:srgbClr val="FF3355">
                <a:alpha val="40000"/>
              </a:srgbClr>
            </a:solidFill>
            <a:prstDash val="solid"/>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164592" y="164592"/>
            <a:ext cx="365760" cy="45720"/>
          </a:xfrm>
          <a:prstGeom prst="rect">
            <a:avLst/>
          </a:prstGeom>
          <a:solidFill>
            <a:srgbClr val="00FF88"/>
          </a:solidFill>
          <a:ln w="12700">
            <a:solidFill>
              <a:srgbClr val="00FF88"/>
            </a:solidFill>
            <a:prstDash val="solid"/>
          </a:ln>
        </p:spPr>
      </p:sp>
      <p:sp>
        <p:nvSpPr>
          <p:cNvPr id="3" name="Shape 1"/>
          <p:cNvSpPr/>
          <p:nvPr/>
        </p:nvSpPr>
        <p:spPr>
          <a:xfrm>
            <a:off x="164592" y="164592"/>
            <a:ext cx="45720" cy="274320"/>
          </a:xfrm>
          <a:prstGeom prst="rect">
            <a:avLst/>
          </a:prstGeom>
          <a:solidFill>
            <a:srgbClr val="00FF88"/>
          </a:solidFill>
          <a:ln w="12700">
            <a:solidFill>
              <a:srgbClr val="00FF88"/>
            </a:solidFill>
            <a:prstDash val="solid"/>
          </a:ln>
        </p:spPr>
      </p:sp>
      <p:sp>
        <p:nvSpPr>
          <p:cNvPr id="4" name="Shape 2"/>
          <p:cNvSpPr/>
          <p:nvPr/>
        </p:nvSpPr>
        <p:spPr>
          <a:xfrm>
            <a:off x="8613648" y="4910328"/>
            <a:ext cx="365760" cy="45720"/>
          </a:xfrm>
          <a:prstGeom prst="rect">
            <a:avLst/>
          </a:prstGeom>
          <a:solidFill>
            <a:srgbClr val="00D4FF"/>
          </a:solidFill>
          <a:ln w="12700">
            <a:solidFill>
              <a:srgbClr val="00D4FF"/>
            </a:solidFill>
            <a:prstDash val="solid"/>
          </a:ln>
        </p:spPr>
      </p:sp>
      <p:sp>
        <p:nvSpPr>
          <p:cNvPr id="5" name="Shape 3"/>
          <p:cNvSpPr/>
          <p:nvPr/>
        </p:nvSpPr>
        <p:spPr>
          <a:xfrm>
            <a:off x="8933688" y="4681728"/>
            <a:ext cx="45720" cy="274320"/>
          </a:xfrm>
          <a:prstGeom prst="rect">
            <a:avLst/>
          </a:prstGeom>
          <a:solidFill>
            <a:srgbClr val="00D4FF"/>
          </a:solidFill>
          <a:ln w="12700">
            <a:solidFill>
              <a:srgbClr val="00D4FF"/>
            </a:solidFill>
            <a:prstDash val="solid"/>
          </a:ln>
        </p:spPr>
      </p:sp>
      <p:sp>
        <p:nvSpPr>
          <p:cNvPr id="6" name="Shape 4"/>
          <p:cNvSpPr/>
          <p:nvPr/>
        </p:nvSpPr>
        <p:spPr>
          <a:xfrm>
            <a:off x="411480" y="201168"/>
            <a:ext cx="3218688" cy="256032"/>
          </a:xfrm>
          <a:prstGeom prst="rect">
            <a:avLst/>
          </a:prstGeom>
          <a:solidFill>
            <a:srgbClr val="FF3355"/>
          </a:solidFill>
          <a:ln w="12700">
            <a:solidFill>
              <a:srgbClr val="FF3355"/>
            </a:solidFill>
            <a:prstDash val="solid"/>
          </a:ln>
        </p:spPr>
      </p:sp>
      <p:sp>
        <p:nvSpPr>
          <p:cNvPr id="7" name="Text 5"/>
          <p:cNvSpPr/>
          <p:nvPr/>
        </p:nvSpPr>
        <p:spPr>
          <a:xfrm>
            <a:off x="411480" y="201168"/>
            <a:ext cx="3218688" cy="256032"/>
          </a:xfrm>
          <a:prstGeom prst="rect">
            <a:avLst/>
          </a:prstGeom>
          <a:noFill/>
          <a:ln/>
        </p:spPr>
        <p:txBody>
          <a:bodyPr wrap="square" lIns="0" tIns="0" rIns="0" bIns="0" rtlCol="0" anchor="ctr"/>
          <a:lstStyle/>
          <a:p>
            <a:pPr algn="ctr" indent="0" marL="0">
              <a:buNone/>
            </a:pPr>
            <a:r>
              <a:rPr lang="en-US" sz="900" b="1" dirty="0">
                <a:solidFill>
                  <a:srgbClr val="0A0E1A"/>
                </a:solidFill>
                <a:latin typeface="Consolas" pitchFamily="34" charset="0"/>
                <a:ea typeface="Consolas" pitchFamily="34" charset="-122"/>
                <a:cs typeface="Consolas" pitchFamily="34" charset="-120"/>
              </a:rPr>
              <a:t>SECTION 8 · DYNAMIC ANALYSIS</a:t>
            </a:r>
            <a:endParaRPr lang="en-US" sz="900" dirty="0"/>
          </a:p>
        </p:txBody>
      </p:sp>
      <p:sp>
        <p:nvSpPr>
          <p:cNvPr id="8" name="Text 6"/>
          <p:cNvSpPr/>
          <p:nvPr/>
        </p:nvSpPr>
        <p:spPr>
          <a:xfrm>
            <a:off x="411480" y="530352"/>
            <a:ext cx="8321040" cy="594360"/>
          </a:xfrm>
          <a:prstGeom prst="rect">
            <a:avLst/>
          </a:prstGeom>
          <a:noFill/>
          <a:ln/>
        </p:spPr>
        <p:txBody>
          <a:bodyPr wrap="square" lIns="0" tIns="0" rIns="0" bIns="0" rtlCol="0" anchor="ctr"/>
          <a:lstStyle/>
          <a:p>
            <a:pPr algn="l" indent="0" marL="0">
              <a:buNone/>
            </a:pPr>
            <a:r>
              <a:rPr lang="en-US" sz="2800" b="1" dirty="0">
                <a:solidFill>
                  <a:srgbClr val="FF3355"/>
                </a:solidFill>
                <a:latin typeface="Consolas" pitchFamily="34" charset="0"/>
                <a:ea typeface="Consolas" pitchFamily="34" charset="-122"/>
                <a:cs typeface="Consolas" pitchFamily="34" charset="-120"/>
              </a:rPr>
              <a:t>Dynamic Analysis: Debugging Live</a:t>
            </a:r>
            <a:endParaRPr lang="en-US" sz="2800" dirty="0"/>
          </a:p>
        </p:txBody>
      </p:sp>
      <p:sp>
        <p:nvSpPr>
          <p:cNvPr id="9" name="Text 7"/>
          <p:cNvSpPr/>
          <p:nvPr/>
        </p:nvSpPr>
        <p:spPr>
          <a:xfrm>
            <a:off x="411480" y="1051560"/>
            <a:ext cx="8321040" cy="320040"/>
          </a:xfrm>
          <a:prstGeom prst="rect">
            <a:avLst/>
          </a:prstGeom>
          <a:noFill/>
          <a:ln/>
        </p:spPr>
        <p:txBody>
          <a:bodyPr wrap="square" lIns="0" tIns="0" rIns="0" bIns="0" rtlCol="0" anchor="ctr"/>
          <a:lstStyle/>
          <a:p>
            <a:pPr algn="l" indent="0" marL="0">
              <a:buNone/>
            </a:pPr>
            <a:r>
              <a:rPr lang="en-US" sz="1300" dirty="0">
                <a:solidFill>
                  <a:srgbClr val="8B9BB4"/>
                </a:solidFill>
                <a:latin typeface="Calibri" pitchFamily="34" charset="0"/>
                <a:ea typeface="Calibri" pitchFamily="34" charset="-122"/>
                <a:cs typeface="Calibri" pitchFamily="34" charset="-120"/>
              </a:rPr>
              <a:t>Observe actual execution — see registers change, memory fill, APIs called.</a:t>
            </a:r>
            <a:endParaRPr lang="en-US" sz="1300" dirty="0"/>
          </a:p>
        </p:txBody>
      </p:sp>
      <p:sp>
        <p:nvSpPr>
          <p:cNvPr id="10" name="Text 8"/>
          <p:cNvSpPr/>
          <p:nvPr/>
        </p:nvSpPr>
        <p:spPr>
          <a:xfrm>
            <a:off x="8686800" y="4754880"/>
            <a:ext cx="365760" cy="228600"/>
          </a:xfrm>
          <a:prstGeom prst="rect">
            <a:avLst/>
          </a:prstGeom>
          <a:noFill/>
          <a:ln/>
        </p:spPr>
        <p:txBody>
          <a:bodyPr wrap="square" lIns="0" tIns="0" rIns="0" bIns="0" rtlCol="0" anchor="ctr"/>
          <a:lstStyle/>
          <a:p>
            <a:pPr algn="r" indent="0" marL="0">
              <a:buNone/>
            </a:pPr>
            <a:r>
              <a:rPr lang="en-US" sz="900" dirty="0">
                <a:solidFill>
                  <a:srgbClr val="8B9BB4"/>
                </a:solidFill>
                <a:latin typeface="Consolas" pitchFamily="34" charset="0"/>
                <a:ea typeface="Consolas" pitchFamily="34" charset="-122"/>
                <a:cs typeface="Consolas" pitchFamily="34" charset="-120"/>
              </a:rPr>
              <a:t>20</a:t>
            </a:r>
            <a:endParaRPr lang="en-US" sz="900" dirty="0"/>
          </a:p>
        </p:txBody>
      </p:sp>
      <p:sp>
        <p:nvSpPr>
          <p:cNvPr id="11" name="Shape 9"/>
          <p:cNvSpPr/>
          <p:nvPr/>
        </p:nvSpPr>
        <p:spPr>
          <a:xfrm>
            <a:off x="320040" y="1234440"/>
            <a:ext cx="5029200" cy="3657600"/>
          </a:xfrm>
          <a:prstGeom prst="rect">
            <a:avLst/>
          </a:prstGeom>
          <a:solidFill>
            <a:srgbClr val="030608"/>
          </a:solidFill>
          <a:ln w="12700">
            <a:solidFill>
              <a:srgbClr val="1E3A5F"/>
            </a:solidFill>
            <a:prstDash val="solid"/>
          </a:ln>
        </p:spPr>
      </p:sp>
      <p:sp>
        <p:nvSpPr>
          <p:cNvPr id="12" name="Shape 10"/>
          <p:cNvSpPr/>
          <p:nvPr/>
        </p:nvSpPr>
        <p:spPr>
          <a:xfrm>
            <a:off x="320040" y="1234440"/>
            <a:ext cx="5029200" cy="320040"/>
          </a:xfrm>
          <a:prstGeom prst="rect">
            <a:avLst/>
          </a:prstGeom>
          <a:solidFill>
            <a:srgbClr val="0D1520"/>
          </a:solidFill>
          <a:ln w="12700">
            <a:solidFill>
              <a:srgbClr val="1E3A5F"/>
            </a:solidFill>
            <a:prstDash val="solid"/>
          </a:ln>
        </p:spPr>
      </p:sp>
      <p:sp>
        <p:nvSpPr>
          <p:cNvPr id="13" name="Text 11"/>
          <p:cNvSpPr/>
          <p:nvPr/>
        </p:nvSpPr>
        <p:spPr>
          <a:xfrm>
            <a:off x="411480" y="1261872"/>
            <a:ext cx="4754880" cy="256032"/>
          </a:xfrm>
          <a:prstGeom prst="rect">
            <a:avLst/>
          </a:prstGeom>
          <a:noFill/>
          <a:ln/>
        </p:spPr>
        <p:txBody>
          <a:bodyPr wrap="square" lIns="0" tIns="0" rIns="0" bIns="0" rtlCol="0" anchor="ctr"/>
          <a:lstStyle/>
          <a:p>
            <a:pPr indent="0" marL="0">
              <a:buNone/>
            </a:pPr>
            <a:r>
              <a:rPr lang="en-US" sz="900" dirty="0">
                <a:solidFill>
                  <a:srgbClr val="FF3355"/>
                </a:solidFill>
                <a:latin typeface="Consolas" pitchFamily="34" charset="0"/>
                <a:ea typeface="Consolas" pitchFamily="34" charset="-122"/>
                <a:cs typeface="Consolas" pitchFamily="34" charset="-120"/>
              </a:rPr>
              <a:t>x64dbg  —  [target.exe]  —  PAUSED  ●</a:t>
            </a:r>
            <a:endParaRPr lang="en-US" sz="900" dirty="0"/>
          </a:p>
        </p:txBody>
      </p:sp>
      <p:sp>
        <p:nvSpPr>
          <p:cNvPr id="14" name="Shape 12"/>
          <p:cNvSpPr/>
          <p:nvPr/>
        </p:nvSpPr>
        <p:spPr>
          <a:xfrm>
            <a:off x="320040" y="1627632"/>
            <a:ext cx="5029200" cy="301752"/>
          </a:xfrm>
          <a:prstGeom prst="rect">
            <a:avLst/>
          </a:prstGeom>
          <a:solidFill>
            <a:srgbClr val="1A0000"/>
          </a:solidFill>
          <a:ln w="12700">
            <a:solidFill>
              <a:srgbClr val="1A0000"/>
            </a:solidFill>
            <a:prstDash val="solid"/>
          </a:ln>
        </p:spPr>
      </p:sp>
      <p:sp>
        <p:nvSpPr>
          <p:cNvPr id="15" name="Text 13"/>
          <p:cNvSpPr/>
          <p:nvPr/>
        </p:nvSpPr>
        <p:spPr>
          <a:xfrm>
            <a:off x="411480" y="1664208"/>
            <a:ext cx="914400" cy="237744"/>
          </a:xfrm>
          <a:prstGeom prst="rect">
            <a:avLst/>
          </a:prstGeom>
          <a:noFill/>
          <a:ln/>
        </p:spPr>
        <p:txBody>
          <a:bodyPr wrap="square" lIns="0" tIns="0" rIns="0" bIns="0" rtlCol="0" anchor="ctr"/>
          <a:lstStyle/>
          <a:p>
            <a:pPr indent="0" marL="0">
              <a:buNone/>
            </a:pPr>
            <a:r>
              <a:rPr lang="en-US" sz="850" dirty="0">
                <a:solidFill>
                  <a:srgbClr val="8B9BB4"/>
                </a:solidFill>
                <a:latin typeface="Consolas" pitchFamily="34" charset="0"/>
                <a:ea typeface="Consolas" pitchFamily="34" charset="-122"/>
                <a:cs typeface="Consolas" pitchFamily="34" charset="-120"/>
              </a:rPr>
              <a:t>00401020</a:t>
            </a:r>
            <a:endParaRPr lang="en-US" sz="850" dirty="0"/>
          </a:p>
        </p:txBody>
      </p:sp>
      <p:sp>
        <p:nvSpPr>
          <p:cNvPr id="16" name="Text 14"/>
          <p:cNvSpPr/>
          <p:nvPr/>
        </p:nvSpPr>
        <p:spPr>
          <a:xfrm>
            <a:off x="1371600" y="1664208"/>
            <a:ext cx="822960" cy="237744"/>
          </a:xfrm>
          <a:prstGeom prst="rect">
            <a:avLst/>
          </a:prstGeom>
          <a:noFill/>
          <a:ln/>
        </p:spPr>
        <p:txBody>
          <a:bodyPr wrap="square" lIns="0" tIns="0" rIns="0" bIns="0" rtlCol="0" anchor="ctr"/>
          <a:lstStyle/>
          <a:p>
            <a:pPr indent="0" marL="0">
              <a:buNone/>
            </a:pPr>
            <a:r>
              <a:rPr lang="en-US" sz="850" dirty="0">
                <a:solidFill>
                  <a:srgbClr val="FF6B35"/>
                </a:solidFill>
                <a:latin typeface="Consolas" pitchFamily="34" charset="0"/>
                <a:ea typeface="Consolas" pitchFamily="34" charset="-122"/>
                <a:cs typeface="Consolas" pitchFamily="34" charset="-120"/>
              </a:rPr>
              <a:t>55</a:t>
            </a:r>
            <a:endParaRPr lang="en-US" sz="850" dirty="0"/>
          </a:p>
        </p:txBody>
      </p:sp>
      <p:sp>
        <p:nvSpPr>
          <p:cNvPr id="17" name="Text 15"/>
          <p:cNvSpPr/>
          <p:nvPr/>
        </p:nvSpPr>
        <p:spPr>
          <a:xfrm>
            <a:off x="2240280" y="1664208"/>
            <a:ext cx="2103120" cy="237744"/>
          </a:xfrm>
          <a:prstGeom prst="rect">
            <a:avLst/>
          </a:prstGeom>
          <a:noFill/>
          <a:ln/>
        </p:spPr>
        <p:txBody>
          <a:bodyPr wrap="square" lIns="0" tIns="0" rIns="0" bIns="0" rtlCol="0" anchor="ctr"/>
          <a:lstStyle/>
          <a:p>
            <a:pPr indent="0" marL="0">
              <a:buNone/>
            </a:pPr>
            <a:r>
              <a:rPr lang="en-US" sz="850" dirty="0">
                <a:solidFill>
                  <a:srgbClr val="FFD700"/>
                </a:solidFill>
                <a:latin typeface="Consolas" pitchFamily="34" charset="0"/>
                <a:ea typeface="Consolas" pitchFamily="34" charset="-122"/>
                <a:cs typeface="Consolas" pitchFamily="34" charset="-120"/>
              </a:rPr>
              <a:t>push    rbp</a:t>
            </a:r>
            <a:endParaRPr lang="en-US" sz="850" dirty="0"/>
          </a:p>
        </p:txBody>
      </p:sp>
      <p:sp>
        <p:nvSpPr>
          <p:cNvPr id="18" name="Text 16"/>
          <p:cNvSpPr/>
          <p:nvPr/>
        </p:nvSpPr>
        <p:spPr>
          <a:xfrm>
            <a:off x="3840480" y="1664208"/>
            <a:ext cx="1371600" cy="237744"/>
          </a:xfrm>
          <a:prstGeom prst="rect">
            <a:avLst/>
          </a:prstGeom>
          <a:noFill/>
          <a:ln/>
        </p:spPr>
        <p:txBody>
          <a:bodyPr wrap="square" lIns="0" tIns="0" rIns="0" bIns="0" rtlCol="0" anchor="ctr"/>
          <a:lstStyle/>
          <a:p>
            <a:pPr indent="0" marL="0">
              <a:buNone/>
            </a:pPr>
            <a:r>
              <a:rPr lang="en-US" sz="750" dirty="0">
                <a:solidFill>
                  <a:srgbClr val="FF3355"/>
                </a:solidFill>
                <a:latin typeface="Calibri" pitchFamily="34" charset="0"/>
                <a:ea typeface="Calibri" pitchFamily="34" charset="-122"/>
                <a:cs typeface="Calibri" pitchFamily="34" charset="-120"/>
              </a:rPr>
              <a:t>← Breakpoint hit</a:t>
            </a:r>
            <a:endParaRPr lang="en-US" sz="750" dirty="0"/>
          </a:p>
        </p:txBody>
      </p:sp>
      <p:sp>
        <p:nvSpPr>
          <p:cNvPr id="19" name="Text 17"/>
          <p:cNvSpPr/>
          <p:nvPr/>
        </p:nvSpPr>
        <p:spPr>
          <a:xfrm>
            <a:off x="411480" y="1984248"/>
            <a:ext cx="914400" cy="237744"/>
          </a:xfrm>
          <a:prstGeom prst="rect">
            <a:avLst/>
          </a:prstGeom>
          <a:noFill/>
          <a:ln/>
        </p:spPr>
        <p:txBody>
          <a:bodyPr wrap="square" lIns="0" tIns="0" rIns="0" bIns="0" rtlCol="0" anchor="ctr"/>
          <a:lstStyle/>
          <a:p>
            <a:pPr indent="0" marL="0">
              <a:buNone/>
            </a:pPr>
            <a:r>
              <a:rPr lang="en-US" sz="850" dirty="0">
                <a:solidFill>
                  <a:srgbClr val="8B9BB4"/>
                </a:solidFill>
                <a:latin typeface="Consolas" pitchFamily="34" charset="0"/>
                <a:ea typeface="Consolas" pitchFamily="34" charset="-122"/>
                <a:cs typeface="Consolas" pitchFamily="34" charset="-120"/>
              </a:rPr>
              <a:t>00401021</a:t>
            </a:r>
            <a:endParaRPr lang="en-US" sz="850" dirty="0"/>
          </a:p>
        </p:txBody>
      </p:sp>
      <p:sp>
        <p:nvSpPr>
          <p:cNvPr id="20" name="Text 18"/>
          <p:cNvSpPr/>
          <p:nvPr/>
        </p:nvSpPr>
        <p:spPr>
          <a:xfrm>
            <a:off x="1371600" y="1984248"/>
            <a:ext cx="822960" cy="237744"/>
          </a:xfrm>
          <a:prstGeom prst="rect">
            <a:avLst/>
          </a:prstGeom>
          <a:noFill/>
          <a:ln/>
        </p:spPr>
        <p:txBody>
          <a:bodyPr wrap="square" lIns="0" tIns="0" rIns="0" bIns="0" rtlCol="0" anchor="ctr"/>
          <a:lstStyle/>
          <a:p>
            <a:pPr indent="0" marL="0">
              <a:buNone/>
            </a:pPr>
            <a:r>
              <a:rPr lang="en-US" sz="850" dirty="0">
                <a:solidFill>
                  <a:srgbClr val="FF6B35"/>
                </a:solidFill>
                <a:latin typeface="Consolas" pitchFamily="34" charset="0"/>
                <a:ea typeface="Consolas" pitchFamily="34" charset="-122"/>
                <a:cs typeface="Consolas" pitchFamily="34" charset="-120"/>
              </a:rPr>
              <a:t>48 89 E5</a:t>
            </a:r>
            <a:endParaRPr lang="en-US" sz="850" dirty="0"/>
          </a:p>
        </p:txBody>
      </p:sp>
      <p:sp>
        <p:nvSpPr>
          <p:cNvPr id="21" name="Text 19"/>
          <p:cNvSpPr/>
          <p:nvPr/>
        </p:nvSpPr>
        <p:spPr>
          <a:xfrm>
            <a:off x="2240280" y="1984248"/>
            <a:ext cx="2103120" cy="237744"/>
          </a:xfrm>
          <a:prstGeom prst="rect">
            <a:avLst/>
          </a:prstGeom>
          <a:noFill/>
          <a:ln/>
        </p:spPr>
        <p:txBody>
          <a:bodyPr wrap="square" lIns="0" tIns="0" rIns="0" bIns="0" rtlCol="0" anchor="ctr"/>
          <a:lstStyle/>
          <a:p>
            <a:pPr indent="0" marL="0">
              <a:buNone/>
            </a:pPr>
            <a:r>
              <a:rPr lang="en-US" sz="850" dirty="0">
                <a:solidFill>
                  <a:srgbClr val="00FF88"/>
                </a:solidFill>
                <a:latin typeface="Consolas" pitchFamily="34" charset="0"/>
                <a:ea typeface="Consolas" pitchFamily="34" charset="-122"/>
                <a:cs typeface="Consolas" pitchFamily="34" charset="-120"/>
              </a:rPr>
              <a:t>mov     rbp, rsp</a:t>
            </a:r>
            <a:endParaRPr lang="en-US" sz="850" dirty="0"/>
          </a:p>
        </p:txBody>
      </p:sp>
      <p:sp>
        <p:nvSpPr>
          <p:cNvPr id="22" name="Text 20"/>
          <p:cNvSpPr/>
          <p:nvPr/>
        </p:nvSpPr>
        <p:spPr>
          <a:xfrm>
            <a:off x="411480" y="2304288"/>
            <a:ext cx="914400" cy="237744"/>
          </a:xfrm>
          <a:prstGeom prst="rect">
            <a:avLst/>
          </a:prstGeom>
          <a:noFill/>
          <a:ln/>
        </p:spPr>
        <p:txBody>
          <a:bodyPr wrap="square" lIns="0" tIns="0" rIns="0" bIns="0" rtlCol="0" anchor="ctr"/>
          <a:lstStyle/>
          <a:p>
            <a:pPr indent="0" marL="0">
              <a:buNone/>
            </a:pPr>
            <a:r>
              <a:rPr lang="en-US" sz="850" dirty="0">
                <a:solidFill>
                  <a:srgbClr val="8B9BB4"/>
                </a:solidFill>
                <a:latin typeface="Consolas" pitchFamily="34" charset="0"/>
                <a:ea typeface="Consolas" pitchFamily="34" charset="-122"/>
                <a:cs typeface="Consolas" pitchFamily="34" charset="-120"/>
              </a:rPr>
              <a:t>00401024</a:t>
            </a:r>
            <a:endParaRPr lang="en-US" sz="850" dirty="0"/>
          </a:p>
        </p:txBody>
      </p:sp>
      <p:sp>
        <p:nvSpPr>
          <p:cNvPr id="23" name="Text 21"/>
          <p:cNvSpPr/>
          <p:nvPr/>
        </p:nvSpPr>
        <p:spPr>
          <a:xfrm>
            <a:off x="1371600" y="2304288"/>
            <a:ext cx="822960" cy="237744"/>
          </a:xfrm>
          <a:prstGeom prst="rect">
            <a:avLst/>
          </a:prstGeom>
          <a:noFill/>
          <a:ln/>
        </p:spPr>
        <p:txBody>
          <a:bodyPr wrap="square" lIns="0" tIns="0" rIns="0" bIns="0" rtlCol="0" anchor="ctr"/>
          <a:lstStyle/>
          <a:p>
            <a:pPr indent="0" marL="0">
              <a:buNone/>
            </a:pPr>
            <a:r>
              <a:rPr lang="en-US" sz="850" dirty="0">
                <a:solidFill>
                  <a:srgbClr val="FF6B35"/>
                </a:solidFill>
                <a:latin typeface="Consolas" pitchFamily="34" charset="0"/>
                <a:ea typeface="Consolas" pitchFamily="34" charset="-122"/>
                <a:cs typeface="Consolas" pitchFamily="34" charset="-120"/>
              </a:rPr>
              <a:t>48 83 EC</a:t>
            </a:r>
            <a:endParaRPr lang="en-US" sz="850" dirty="0"/>
          </a:p>
        </p:txBody>
      </p:sp>
      <p:sp>
        <p:nvSpPr>
          <p:cNvPr id="24" name="Text 22"/>
          <p:cNvSpPr/>
          <p:nvPr/>
        </p:nvSpPr>
        <p:spPr>
          <a:xfrm>
            <a:off x="2240280" y="2304288"/>
            <a:ext cx="2103120" cy="237744"/>
          </a:xfrm>
          <a:prstGeom prst="rect">
            <a:avLst/>
          </a:prstGeom>
          <a:noFill/>
          <a:ln/>
        </p:spPr>
        <p:txBody>
          <a:bodyPr wrap="square" lIns="0" tIns="0" rIns="0" bIns="0" rtlCol="0" anchor="ctr"/>
          <a:lstStyle/>
          <a:p>
            <a:pPr indent="0" marL="0">
              <a:buNone/>
            </a:pPr>
            <a:r>
              <a:rPr lang="en-US" sz="850" dirty="0">
                <a:solidFill>
                  <a:srgbClr val="00FF88"/>
                </a:solidFill>
                <a:latin typeface="Consolas" pitchFamily="34" charset="0"/>
                <a:ea typeface="Consolas" pitchFamily="34" charset="-122"/>
                <a:cs typeface="Consolas" pitchFamily="34" charset="-120"/>
              </a:rPr>
              <a:t>sub     rsp, 0x30</a:t>
            </a:r>
            <a:endParaRPr lang="en-US" sz="850" dirty="0"/>
          </a:p>
        </p:txBody>
      </p:sp>
      <p:sp>
        <p:nvSpPr>
          <p:cNvPr id="25" name="Text 23"/>
          <p:cNvSpPr/>
          <p:nvPr/>
        </p:nvSpPr>
        <p:spPr>
          <a:xfrm>
            <a:off x="411480" y="2624328"/>
            <a:ext cx="914400" cy="237744"/>
          </a:xfrm>
          <a:prstGeom prst="rect">
            <a:avLst/>
          </a:prstGeom>
          <a:noFill/>
          <a:ln/>
        </p:spPr>
        <p:txBody>
          <a:bodyPr wrap="square" lIns="0" tIns="0" rIns="0" bIns="0" rtlCol="0" anchor="ctr"/>
          <a:lstStyle/>
          <a:p>
            <a:pPr indent="0" marL="0">
              <a:buNone/>
            </a:pPr>
            <a:r>
              <a:rPr lang="en-US" sz="850" dirty="0">
                <a:solidFill>
                  <a:srgbClr val="8B9BB4"/>
                </a:solidFill>
                <a:latin typeface="Consolas" pitchFamily="34" charset="0"/>
                <a:ea typeface="Consolas" pitchFamily="34" charset="-122"/>
                <a:cs typeface="Consolas" pitchFamily="34" charset="-120"/>
              </a:rPr>
              <a:t>00401028</a:t>
            </a:r>
            <a:endParaRPr lang="en-US" sz="850" dirty="0"/>
          </a:p>
        </p:txBody>
      </p:sp>
      <p:sp>
        <p:nvSpPr>
          <p:cNvPr id="26" name="Text 24"/>
          <p:cNvSpPr/>
          <p:nvPr/>
        </p:nvSpPr>
        <p:spPr>
          <a:xfrm>
            <a:off x="1371600" y="2624328"/>
            <a:ext cx="822960" cy="237744"/>
          </a:xfrm>
          <a:prstGeom prst="rect">
            <a:avLst/>
          </a:prstGeom>
          <a:noFill/>
          <a:ln/>
        </p:spPr>
        <p:txBody>
          <a:bodyPr wrap="square" lIns="0" tIns="0" rIns="0" bIns="0" rtlCol="0" anchor="ctr"/>
          <a:lstStyle/>
          <a:p>
            <a:pPr indent="0" marL="0">
              <a:buNone/>
            </a:pPr>
            <a:r>
              <a:rPr lang="en-US" sz="850" dirty="0">
                <a:solidFill>
                  <a:srgbClr val="FF6B35"/>
                </a:solidFill>
                <a:latin typeface="Consolas" pitchFamily="34" charset="0"/>
                <a:ea typeface="Consolas" pitchFamily="34" charset="-122"/>
                <a:cs typeface="Consolas" pitchFamily="34" charset="-120"/>
              </a:rPr>
              <a:t>89 7D FC</a:t>
            </a:r>
            <a:endParaRPr lang="en-US" sz="850" dirty="0"/>
          </a:p>
        </p:txBody>
      </p:sp>
      <p:sp>
        <p:nvSpPr>
          <p:cNvPr id="27" name="Text 25"/>
          <p:cNvSpPr/>
          <p:nvPr/>
        </p:nvSpPr>
        <p:spPr>
          <a:xfrm>
            <a:off x="2240280" y="2624328"/>
            <a:ext cx="2103120" cy="237744"/>
          </a:xfrm>
          <a:prstGeom prst="rect">
            <a:avLst/>
          </a:prstGeom>
          <a:noFill/>
          <a:ln/>
        </p:spPr>
        <p:txBody>
          <a:bodyPr wrap="square" lIns="0" tIns="0" rIns="0" bIns="0" rtlCol="0" anchor="ctr"/>
          <a:lstStyle/>
          <a:p>
            <a:pPr indent="0" marL="0">
              <a:buNone/>
            </a:pPr>
            <a:r>
              <a:rPr lang="en-US" sz="850" dirty="0">
                <a:solidFill>
                  <a:srgbClr val="00FF88"/>
                </a:solidFill>
                <a:latin typeface="Consolas" pitchFamily="34" charset="0"/>
                <a:ea typeface="Consolas" pitchFamily="34" charset="-122"/>
                <a:cs typeface="Consolas" pitchFamily="34" charset="-120"/>
              </a:rPr>
              <a:t>mov [rbp-0x4], edi</a:t>
            </a:r>
            <a:endParaRPr lang="en-US" sz="850" dirty="0"/>
          </a:p>
        </p:txBody>
      </p:sp>
      <p:sp>
        <p:nvSpPr>
          <p:cNvPr id="28" name="Text 26"/>
          <p:cNvSpPr/>
          <p:nvPr/>
        </p:nvSpPr>
        <p:spPr>
          <a:xfrm>
            <a:off x="411480" y="2944368"/>
            <a:ext cx="914400" cy="237744"/>
          </a:xfrm>
          <a:prstGeom prst="rect">
            <a:avLst/>
          </a:prstGeom>
          <a:noFill/>
          <a:ln/>
        </p:spPr>
        <p:txBody>
          <a:bodyPr wrap="square" lIns="0" tIns="0" rIns="0" bIns="0" rtlCol="0" anchor="ctr"/>
          <a:lstStyle/>
          <a:p>
            <a:pPr indent="0" marL="0">
              <a:buNone/>
            </a:pPr>
            <a:r>
              <a:rPr lang="en-US" sz="850" dirty="0">
                <a:solidFill>
                  <a:srgbClr val="8B9BB4"/>
                </a:solidFill>
                <a:latin typeface="Consolas" pitchFamily="34" charset="0"/>
                <a:ea typeface="Consolas" pitchFamily="34" charset="-122"/>
                <a:cs typeface="Consolas" pitchFamily="34" charset="-120"/>
              </a:rPr>
              <a:t>0040102B</a:t>
            </a:r>
            <a:endParaRPr lang="en-US" sz="850" dirty="0"/>
          </a:p>
        </p:txBody>
      </p:sp>
      <p:sp>
        <p:nvSpPr>
          <p:cNvPr id="29" name="Text 27"/>
          <p:cNvSpPr/>
          <p:nvPr/>
        </p:nvSpPr>
        <p:spPr>
          <a:xfrm>
            <a:off x="1371600" y="2944368"/>
            <a:ext cx="822960" cy="237744"/>
          </a:xfrm>
          <a:prstGeom prst="rect">
            <a:avLst/>
          </a:prstGeom>
          <a:noFill/>
          <a:ln/>
        </p:spPr>
        <p:txBody>
          <a:bodyPr wrap="square" lIns="0" tIns="0" rIns="0" bIns="0" rtlCol="0" anchor="ctr"/>
          <a:lstStyle/>
          <a:p>
            <a:pPr indent="0" marL="0">
              <a:buNone/>
            </a:pPr>
            <a:r>
              <a:rPr lang="en-US" sz="850" dirty="0">
                <a:solidFill>
                  <a:srgbClr val="FF6B35"/>
                </a:solidFill>
                <a:latin typeface="Consolas" pitchFamily="34" charset="0"/>
                <a:ea typeface="Consolas" pitchFamily="34" charset="-122"/>
                <a:cs typeface="Consolas" pitchFamily="34" charset="-120"/>
              </a:rPr>
              <a:t>8B 45 FC</a:t>
            </a:r>
            <a:endParaRPr lang="en-US" sz="850" dirty="0"/>
          </a:p>
        </p:txBody>
      </p:sp>
      <p:sp>
        <p:nvSpPr>
          <p:cNvPr id="30" name="Text 28"/>
          <p:cNvSpPr/>
          <p:nvPr/>
        </p:nvSpPr>
        <p:spPr>
          <a:xfrm>
            <a:off x="2240280" y="2944368"/>
            <a:ext cx="2103120" cy="237744"/>
          </a:xfrm>
          <a:prstGeom prst="rect">
            <a:avLst/>
          </a:prstGeom>
          <a:noFill/>
          <a:ln/>
        </p:spPr>
        <p:txBody>
          <a:bodyPr wrap="square" lIns="0" tIns="0" rIns="0" bIns="0" rtlCol="0" anchor="ctr"/>
          <a:lstStyle/>
          <a:p>
            <a:pPr indent="0" marL="0">
              <a:buNone/>
            </a:pPr>
            <a:r>
              <a:rPr lang="en-US" sz="850" dirty="0">
                <a:solidFill>
                  <a:srgbClr val="00FF88"/>
                </a:solidFill>
                <a:latin typeface="Consolas" pitchFamily="34" charset="0"/>
                <a:ea typeface="Consolas" pitchFamily="34" charset="-122"/>
                <a:cs typeface="Consolas" pitchFamily="34" charset="-120"/>
              </a:rPr>
              <a:t>mov eax, [rbp-0x4]</a:t>
            </a:r>
            <a:endParaRPr lang="en-US" sz="850" dirty="0"/>
          </a:p>
        </p:txBody>
      </p:sp>
      <p:sp>
        <p:nvSpPr>
          <p:cNvPr id="31" name="Shape 29"/>
          <p:cNvSpPr/>
          <p:nvPr/>
        </p:nvSpPr>
        <p:spPr>
          <a:xfrm>
            <a:off x="5440680" y="1234440"/>
            <a:ext cx="3383280" cy="3657600"/>
          </a:xfrm>
          <a:prstGeom prst="rect">
            <a:avLst/>
          </a:prstGeom>
          <a:solidFill>
            <a:srgbClr val="030608"/>
          </a:solidFill>
          <a:ln w="12700">
            <a:solidFill>
              <a:srgbClr val="1E3A5F"/>
            </a:solidFill>
            <a:prstDash val="solid"/>
          </a:ln>
        </p:spPr>
      </p:sp>
      <p:sp>
        <p:nvSpPr>
          <p:cNvPr id="32" name="Shape 30"/>
          <p:cNvSpPr/>
          <p:nvPr/>
        </p:nvSpPr>
        <p:spPr>
          <a:xfrm>
            <a:off x="5440680" y="1234440"/>
            <a:ext cx="3383280" cy="320040"/>
          </a:xfrm>
          <a:prstGeom prst="rect">
            <a:avLst/>
          </a:prstGeom>
          <a:solidFill>
            <a:srgbClr val="0D1520"/>
          </a:solidFill>
          <a:ln w="12700">
            <a:solidFill>
              <a:srgbClr val="1E3A5F"/>
            </a:solidFill>
            <a:prstDash val="solid"/>
          </a:ln>
        </p:spPr>
      </p:sp>
      <p:sp>
        <p:nvSpPr>
          <p:cNvPr id="33" name="Text 31"/>
          <p:cNvSpPr/>
          <p:nvPr/>
        </p:nvSpPr>
        <p:spPr>
          <a:xfrm>
            <a:off x="5486400" y="1261872"/>
            <a:ext cx="3200400" cy="256032"/>
          </a:xfrm>
          <a:prstGeom prst="rect">
            <a:avLst/>
          </a:prstGeom>
          <a:noFill/>
          <a:ln/>
        </p:spPr>
        <p:txBody>
          <a:bodyPr wrap="square" lIns="0" tIns="0" rIns="0" bIns="0" rtlCol="0" anchor="ctr"/>
          <a:lstStyle/>
          <a:p>
            <a:pPr indent="0" marL="0">
              <a:buNone/>
            </a:pPr>
            <a:r>
              <a:rPr lang="en-US" sz="900" dirty="0">
                <a:solidFill>
                  <a:srgbClr val="00D4FF"/>
                </a:solidFill>
                <a:latin typeface="Consolas" pitchFamily="34" charset="0"/>
                <a:ea typeface="Consolas" pitchFamily="34" charset="-122"/>
                <a:cs typeface="Consolas" pitchFamily="34" charset="-120"/>
              </a:rPr>
              <a:t>Registers</a:t>
            </a:r>
            <a:endParaRPr lang="en-US" sz="900" dirty="0"/>
          </a:p>
        </p:txBody>
      </p:sp>
      <p:sp>
        <p:nvSpPr>
          <p:cNvPr id="34" name="Text 32"/>
          <p:cNvSpPr/>
          <p:nvPr/>
        </p:nvSpPr>
        <p:spPr>
          <a:xfrm>
            <a:off x="5486400" y="1700784"/>
            <a:ext cx="502920" cy="237744"/>
          </a:xfrm>
          <a:prstGeom prst="rect">
            <a:avLst/>
          </a:prstGeom>
          <a:noFill/>
          <a:ln/>
        </p:spPr>
        <p:txBody>
          <a:bodyPr wrap="square" lIns="0" tIns="0" rIns="0" bIns="0" rtlCol="0" anchor="ctr"/>
          <a:lstStyle/>
          <a:p>
            <a:pPr indent="0" marL="0">
              <a:buNone/>
            </a:pPr>
            <a:r>
              <a:rPr lang="en-US" sz="850" dirty="0">
                <a:solidFill>
                  <a:srgbClr val="FF6B35"/>
                </a:solidFill>
                <a:latin typeface="Consolas" pitchFamily="34" charset="0"/>
                <a:ea typeface="Consolas" pitchFamily="34" charset="-122"/>
                <a:cs typeface="Consolas" pitchFamily="34" charset="-120"/>
              </a:rPr>
              <a:t>RAX</a:t>
            </a:r>
            <a:endParaRPr lang="en-US" sz="850" dirty="0"/>
          </a:p>
        </p:txBody>
      </p:sp>
      <p:sp>
        <p:nvSpPr>
          <p:cNvPr id="35" name="Text 33"/>
          <p:cNvSpPr/>
          <p:nvPr/>
        </p:nvSpPr>
        <p:spPr>
          <a:xfrm>
            <a:off x="6035040" y="1700784"/>
            <a:ext cx="2651760" cy="237744"/>
          </a:xfrm>
          <a:prstGeom prst="rect">
            <a:avLst/>
          </a:prstGeom>
          <a:noFill/>
          <a:ln/>
        </p:spPr>
        <p:txBody>
          <a:bodyPr wrap="square" lIns="0" tIns="0" rIns="0" bIns="0" rtlCol="0" anchor="ctr"/>
          <a:lstStyle/>
          <a:p>
            <a:pPr indent="0" marL="0">
              <a:buNone/>
            </a:pPr>
            <a:r>
              <a:rPr lang="en-US" sz="800" dirty="0">
                <a:solidFill>
                  <a:srgbClr val="E2E8F0"/>
                </a:solidFill>
                <a:latin typeface="Consolas" pitchFamily="34" charset="0"/>
                <a:ea typeface="Consolas" pitchFamily="34" charset="-122"/>
                <a:cs typeface="Consolas" pitchFamily="34" charset="-120"/>
              </a:rPr>
              <a:t>0x0000000000000000</a:t>
            </a:r>
            <a:endParaRPr lang="en-US" sz="800" dirty="0"/>
          </a:p>
        </p:txBody>
      </p:sp>
      <p:sp>
        <p:nvSpPr>
          <p:cNvPr id="36" name="Text 34"/>
          <p:cNvSpPr/>
          <p:nvPr/>
        </p:nvSpPr>
        <p:spPr>
          <a:xfrm>
            <a:off x="5486400" y="2020824"/>
            <a:ext cx="502920" cy="237744"/>
          </a:xfrm>
          <a:prstGeom prst="rect">
            <a:avLst/>
          </a:prstGeom>
          <a:noFill/>
          <a:ln/>
        </p:spPr>
        <p:txBody>
          <a:bodyPr wrap="square" lIns="0" tIns="0" rIns="0" bIns="0" rtlCol="0" anchor="ctr"/>
          <a:lstStyle/>
          <a:p>
            <a:pPr indent="0" marL="0">
              <a:buNone/>
            </a:pPr>
            <a:r>
              <a:rPr lang="en-US" sz="850" dirty="0">
                <a:solidFill>
                  <a:srgbClr val="FF6B35"/>
                </a:solidFill>
                <a:latin typeface="Consolas" pitchFamily="34" charset="0"/>
                <a:ea typeface="Consolas" pitchFamily="34" charset="-122"/>
                <a:cs typeface="Consolas" pitchFamily="34" charset="-120"/>
              </a:rPr>
              <a:t>RBX</a:t>
            </a:r>
            <a:endParaRPr lang="en-US" sz="850" dirty="0"/>
          </a:p>
        </p:txBody>
      </p:sp>
      <p:sp>
        <p:nvSpPr>
          <p:cNvPr id="37" name="Text 35"/>
          <p:cNvSpPr/>
          <p:nvPr/>
        </p:nvSpPr>
        <p:spPr>
          <a:xfrm>
            <a:off x="6035040" y="2020824"/>
            <a:ext cx="2651760" cy="237744"/>
          </a:xfrm>
          <a:prstGeom prst="rect">
            <a:avLst/>
          </a:prstGeom>
          <a:noFill/>
          <a:ln/>
        </p:spPr>
        <p:txBody>
          <a:bodyPr wrap="square" lIns="0" tIns="0" rIns="0" bIns="0" rtlCol="0" anchor="ctr"/>
          <a:lstStyle/>
          <a:p>
            <a:pPr indent="0" marL="0">
              <a:buNone/>
            </a:pPr>
            <a:r>
              <a:rPr lang="en-US" sz="800" dirty="0">
                <a:solidFill>
                  <a:srgbClr val="E2E8F0"/>
                </a:solidFill>
                <a:latin typeface="Consolas" pitchFamily="34" charset="0"/>
                <a:ea typeface="Consolas" pitchFamily="34" charset="-122"/>
                <a:cs typeface="Consolas" pitchFamily="34" charset="-120"/>
              </a:rPr>
              <a:t>0x00007FFB8C1A4000</a:t>
            </a:r>
            <a:endParaRPr lang="en-US" sz="800" dirty="0"/>
          </a:p>
        </p:txBody>
      </p:sp>
      <p:sp>
        <p:nvSpPr>
          <p:cNvPr id="38" name="Text 36"/>
          <p:cNvSpPr/>
          <p:nvPr/>
        </p:nvSpPr>
        <p:spPr>
          <a:xfrm>
            <a:off x="5486400" y="2340864"/>
            <a:ext cx="502920" cy="237744"/>
          </a:xfrm>
          <a:prstGeom prst="rect">
            <a:avLst/>
          </a:prstGeom>
          <a:noFill/>
          <a:ln/>
        </p:spPr>
        <p:txBody>
          <a:bodyPr wrap="square" lIns="0" tIns="0" rIns="0" bIns="0" rtlCol="0" anchor="ctr"/>
          <a:lstStyle/>
          <a:p>
            <a:pPr indent="0" marL="0">
              <a:buNone/>
            </a:pPr>
            <a:r>
              <a:rPr lang="en-US" sz="850" dirty="0">
                <a:solidFill>
                  <a:srgbClr val="FF6B35"/>
                </a:solidFill>
                <a:latin typeface="Consolas" pitchFamily="34" charset="0"/>
                <a:ea typeface="Consolas" pitchFamily="34" charset="-122"/>
                <a:cs typeface="Consolas" pitchFamily="34" charset="-120"/>
              </a:rPr>
              <a:t>RCX</a:t>
            </a:r>
            <a:endParaRPr lang="en-US" sz="850" dirty="0"/>
          </a:p>
        </p:txBody>
      </p:sp>
      <p:sp>
        <p:nvSpPr>
          <p:cNvPr id="39" name="Text 37"/>
          <p:cNvSpPr/>
          <p:nvPr/>
        </p:nvSpPr>
        <p:spPr>
          <a:xfrm>
            <a:off x="6035040" y="2340864"/>
            <a:ext cx="2651760" cy="237744"/>
          </a:xfrm>
          <a:prstGeom prst="rect">
            <a:avLst/>
          </a:prstGeom>
          <a:noFill/>
          <a:ln/>
        </p:spPr>
        <p:txBody>
          <a:bodyPr wrap="square" lIns="0" tIns="0" rIns="0" bIns="0" rtlCol="0" anchor="ctr"/>
          <a:lstStyle/>
          <a:p>
            <a:pPr indent="0" marL="0">
              <a:buNone/>
            </a:pPr>
            <a:r>
              <a:rPr lang="en-US" sz="800" dirty="0">
                <a:solidFill>
                  <a:srgbClr val="E2E8F0"/>
                </a:solidFill>
                <a:latin typeface="Consolas" pitchFamily="34" charset="0"/>
                <a:ea typeface="Consolas" pitchFamily="34" charset="-122"/>
                <a:cs typeface="Consolas" pitchFamily="34" charset="-120"/>
              </a:rPr>
              <a:t>0x0000000000000001</a:t>
            </a:r>
            <a:endParaRPr lang="en-US" sz="800" dirty="0"/>
          </a:p>
        </p:txBody>
      </p:sp>
      <p:sp>
        <p:nvSpPr>
          <p:cNvPr id="40" name="Text 38"/>
          <p:cNvSpPr/>
          <p:nvPr/>
        </p:nvSpPr>
        <p:spPr>
          <a:xfrm>
            <a:off x="5486400" y="2660904"/>
            <a:ext cx="502920" cy="237744"/>
          </a:xfrm>
          <a:prstGeom prst="rect">
            <a:avLst/>
          </a:prstGeom>
          <a:noFill/>
          <a:ln/>
        </p:spPr>
        <p:txBody>
          <a:bodyPr wrap="square" lIns="0" tIns="0" rIns="0" bIns="0" rtlCol="0" anchor="ctr"/>
          <a:lstStyle/>
          <a:p>
            <a:pPr indent="0" marL="0">
              <a:buNone/>
            </a:pPr>
            <a:r>
              <a:rPr lang="en-US" sz="850" dirty="0">
                <a:solidFill>
                  <a:srgbClr val="FF6B35"/>
                </a:solidFill>
                <a:latin typeface="Consolas" pitchFamily="34" charset="0"/>
                <a:ea typeface="Consolas" pitchFamily="34" charset="-122"/>
                <a:cs typeface="Consolas" pitchFamily="34" charset="-120"/>
              </a:rPr>
              <a:t>RDX</a:t>
            </a:r>
            <a:endParaRPr lang="en-US" sz="850" dirty="0"/>
          </a:p>
        </p:txBody>
      </p:sp>
      <p:sp>
        <p:nvSpPr>
          <p:cNvPr id="41" name="Text 39"/>
          <p:cNvSpPr/>
          <p:nvPr/>
        </p:nvSpPr>
        <p:spPr>
          <a:xfrm>
            <a:off x="6035040" y="2660904"/>
            <a:ext cx="2651760" cy="237744"/>
          </a:xfrm>
          <a:prstGeom prst="rect">
            <a:avLst/>
          </a:prstGeom>
          <a:noFill/>
          <a:ln/>
        </p:spPr>
        <p:txBody>
          <a:bodyPr wrap="square" lIns="0" tIns="0" rIns="0" bIns="0" rtlCol="0" anchor="ctr"/>
          <a:lstStyle/>
          <a:p>
            <a:pPr indent="0" marL="0">
              <a:buNone/>
            </a:pPr>
            <a:r>
              <a:rPr lang="en-US" sz="800" dirty="0">
                <a:solidFill>
                  <a:srgbClr val="E2E8F0"/>
                </a:solidFill>
                <a:latin typeface="Consolas" pitchFamily="34" charset="0"/>
                <a:ea typeface="Consolas" pitchFamily="34" charset="-122"/>
                <a:cs typeface="Consolas" pitchFamily="34" charset="-120"/>
              </a:rPr>
              <a:t>0x0000000000000005</a:t>
            </a:r>
            <a:endParaRPr lang="en-US" sz="800" dirty="0"/>
          </a:p>
        </p:txBody>
      </p:sp>
      <p:sp>
        <p:nvSpPr>
          <p:cNvPr id="42" name="Text 40"/>
          <p:cNvSpPr/>
          <p:nvPr/>
        </p:nvSpPr>
        <p:spPr>
          <a:xfrm>
            <a:off x="5486400" y="2980944"/>
            <a:ext cx="502920" cy="237744"/>
          </a:xfrm>
          <a:prstGeom prst="rect">
            <a:avLst/>
          </a:prstGeom>
          <a:noFill/>
          <a:ln/>
        </p:spPr>
        <p:txBody>
          <a:bodyPr wrap="square" lIns="0" tIns="0" rIns="0" bIns="0" rtlCol="0" anchor="ctr"/>
          <a:lstStyle/>
          <a:p>
            <a:pPr indent="0" marL="0">
              <a:buNone/>
            </a:pPr>
            <a:r>
              <a:rPr lang="en-US" sz="850" dirty="0">
                <a:solidFill>
                  <a:srgbClr val="FF6B35"/>
                </a:solidFill>
                <a:latin typeface="Consolas" pitchFamily="34" charset="0"/>
                <a:ea typeface="Consolas" pitchFamily="34" charset="-122"/>
                <a:cs typeface="Consolas" pitchFamily="34" charset="-120"/>
              </a:rPr>
              <a:t>RSP</a:t>
            </a:r>
            <a:endParaRPr lang="en-US" sz="850" dirty="0"/>
          </a:p>
        </p:txBody>
      </p:sp>
      <p:sp>
        <p:nvSpPr>
          <p:cNvPr id="43" name="Text 41"/>
          <p:cNvSpPr/>
          <p:nvPr/>
        </p:nvSpPr>
        <p:spPr>
          <a:xfrm>
            <a:off x="6035040" y="2980944"/>
            <a:ext cx="2651760" cy="237744"/>
          </a:xfrm>
          <a:prstGeom prst="rect">
            <a:avLst/>
          </a:prstGeom>
          <a:noFill/>
          <a:ln/>
        </p:spPr>
        <p:txBody>
          <a:bodyPr wrap="square" lIns="0" tIns="0" rIns="0" bIns="0" rtlCol="0" anchor="ctr"/>
          <a:lstStyle/>
          <a:p>
            <a:pPr indent="0" marL="0">
              <a:buNone/>
            </a:pPr>
            <a:r>
              <a:rPr lang="en-US" sz="800" dirty="0">
                <a:solidFill>
                  <a:srgbClr val="E2E8F0"/>
                </a:solidFill>
                <a:latin typeface="Consolas" pitchFamily="34" charset="0"/>
                <a:ea typeface="Consolas" pitchFamily="34" charset="-122"/>
                <a:cs typeface="Consolas" pitchFamily="34" charset="-120"/>
              </a:rPr>
              <a:t>0x000000D9A6CFF9C0</a:t>
            </a:r>
            <a:endParaRPr lang="en-US" sz="800" dirty="0"/>
          </a:p>
        </p:txBody>
      </p:sp>
      <p:sp>
        <p:nvSpPr>
          <p:cNvPr id="44" name="Text 42"/>
          <p:cNvSpPr/>
          <p:nvPr/>
        </p:nvSpPr>
        <p:spPr>
          <a:xfrm>
            <a:off x="5486400" y="3300984"/>
            <a:ext cx="502920" cy="237744"/>
          </a:xfrm>
          <a:prstGeom prst="rect">
            <a:avLst/>
          </a:prstGeom>
          <a:noFill/>
          <a:ln/>
        </p:spPr>
        <p:txBody>
          <a:bodyPr wrap="square" lIns="0" tIns="0" rIns="0" bIns="0" rtlCol="0" anchor="ctr"/>
          <a:lstStyle/>
          <a:p>
            <a:pPr indent="0" marL="0">
              <a:buNone/>
            </a:pPr>
            <a:r>
              <a:rPr lang="en-US" sz="850" dirty="0">
                <a:solidFill>
                  <a:srgbClr val="FF6B35"/>
                </a:solidFill>
                <a:latin typeface="Consolas" pitchFamily="34" charset="0"/>
                <a:ea typeface="Consolas" pitchFamily="34" charset="-122"/>
                <a:cs typeface="Consolas" pitchFamily="34" charset="-120"/>
              </a:rPr>
              <a:t>RBP</a:t>
            </a:r>
            <a:endParaRPr lang="en-US" sz="850" dirty="0"/>
          </a:p>
        </p:txBody>
      </p:sp>
      <p:sp>
        <p:nvSpPr>
          <p:cNvPr id="45" name="Text 43"/>
          <p:cNvSpPr/>
          <p:nvPr/>
        </p:nvSpPr>
        <p:spPr>
          <a:xfrm>
            <a:off x="6035040" y="3300984"/>
            <a:ext cx="2651760" cy="237744"/>
          </a:xfrm>
          <a:prstGeom prst="rect">
            <a:avLst/>
          </a:prstGeom>
          <a:noFill/>
          <a:ln/>
        </p:spPr>
        <p:txBody>
          <a:bodyPr wrap="square" lIns="0" tIns="0" rIns="0" bIns="0" rtlCol="0" anchor="ctr"/>
          <a:lstStyle/>
          <a:p>
            <a:pPr indent="0" marL="0">
              <a:buNone/>
            </a:pPr>
            <a:r>
              <a:rPr lang="en-US" sz="800" dirty="0">
                <a:solidFill>
                  <a:srgbClr val="E2E8F0"/>
                </a:solidFill>
                <a:latin typeface="Consolas" pitchFamily="34" charset="0"/>
                <a:ea typeface="Consolas" pitchFamily="34" charset="-122"/>
                <a:cs typeface="Consolas" pitchFamily="34" charset="-120"/>
              </a:rPr>
              <a:t>0x000000D9A6CFF9D0</a:t>
            </a:r>
            <a:endParaRPr lang="en-US" sz="800" dirty="0"/>
          </a:p>
        </p:txBody>
      </p:sp>
      <p:sp>
        <p:nvSpPr>
          <p:cNvPr id="46" name="Text 44"/>
          <p:cNvSpPr/>
          <p:nvPr/>
        </p:nvSpPr>
        <p:spPr>
          <a:xfrm>
            <a:off x="5486400" y="3621024"/>
            <a:ext cx="502920" cy="237744"/>
          </a:xfrm>
          <a:prstGeom prst="rect">
            <a:avLst/>
          </a:prstGeom>
          <a:noFill/>
          <a:ln/>
        </p:spPr>
        <p:txBody>
          <a:bodyPr wrap="square" lIns="0" tIns="0" rIns="0" bIns="0" rtlCol="0" anchor="ctr"/>
          <a:lstStyle/>
          <a:p>
            <a:pPr indent="0" marL="0">
              <a:buNone/>
            </a:pPr>
            <a:r>
              <a:rPr lang="en-US" sz="850" dirty="0">
                <a:solidFill>
                  <a:srgbClr val="FF6B35"/>
                </a:solidFill>
                <a:latin typeface="Consolas" pitchFamily="34" charset="0"/>
                <a:ea typeface="Consolas" pitchFamily="34" charset="-122"/>
                <a:cs typeface="Consolas" pitchFamily="34" charset="-120"/>
              </a:rPr>
              <a:t>RIP</a:t>
            </a:r>
            <a:endParaRPr lang="en-US" sz="850" dirty="0"/>
          </a:p>
        </p:txBody>
      </p:sp>
      <p:sp>
        <p:nvSpPr>
          <p:cNvPr id="47" name="Text 45"/>
          <p:cNvSpPr/>
          <p:nvPr/>
        </p:nvSpPr>
        <p:spPr>
          <a:xfrm>
            <a:off x="6035040" y="3621024"/>
            <a:ext cx="2651760" cy="237744"/>
          </a:xfrm>
          <a:prstGeom prst="rect">
            <a:avLst/>
          </a:prstGeom>
          <a:noFill/>
          <a:ln/>
        </p:spPr>
        <p:txBody>
          <a:bodyPr wrap="square" lIns="0" tIns="0" rIns="0" bIns="0" rtlCol="0" anchor="ctr"/>
          <a:lstStyle/>
          <a:p>
            <a:pPr indent="0" marL="0">
              <a:buNone/>
            </a:pPr>
            <a:r>
              <a:rPr lang="en-US" sz="800" dirty="0">
                <a:solidFill>
                  <a:srgbClr val="00FF88"/>
                </a:solidFill>
                <a:latin typeface="Consolas" pitchFamily="34" charset="0"/>
                <a:ea typeface="Consolas" pitchFamily="34" charset="-122"/>
                <a:cs typeface="Consolas" pitchFamily="34" charset="-120"/>
              </a:rPr>
              <a:t>0x0000000000401020</a:t>
            </a:r>
            <a:endParaRPr lang="en-US" sz="800" dirty="0"/>
          </a:p>
        </p:txBody>
      </p:sp>
      <p:sp>
        <p:nvSpPr>
          <p:cNvPr id="48" name="Text 46"/>
          <p:cNvSpPr/>
          <p:nvPr/>
        </p:nvSpPr>
        <p:spPr>
          <a:xfrm>
            <a:off x="5486400" y="3941064"/>
            <a:ext cx="502920" cy="237744"/>
          </a:xfrm>
          <a:prstGeom prst="rect">
            <a:avLst/>
          </a:prstGeom>
          <a:noFill/>
          <a:ln/>
        </p:spPr>
        <p:txBody>
          <a:bodyPr wrap="square" lIns="0" tIns="0" rIns="0" bIns="0" rtlCol="0" anchor="ctr"/>
          <a:lstStyle/>
          <a:p>
            <a:pPr indent="0" marL="0">
              <a:buNone/>
            </a:pPr>
            <a:r>
              <a:rPr lang="en-US" sz="850" dirty="0">
                <a:solidFill>
                  <a:srgbClr val="FF6B35"/>
                </a:solidFill>
                <a:latin typeface="Consolas" pitchFamily="34" charset="0"/>
                <a:ea typeface="Consolas" pitchFamily="34" charset="-122"/>
                <a:cs typeface="Consolas" pitchFamily="34" charset="-120"/>
              </a:rPr>
              <a:t>RFL</a:t>
            </a:r>
            <a:endParaRPr lang="en-US" sz="850" dirty="0"/>
          </a:p>
        </p:txBody>
      </p:sp>
      <p:sp>
        <p:nvSpPr>
          <p:cNvPr id="49" name="Text 47"/>
          <p:cNvSpPr/>
          <p:nvPr/>
        </p:nvSpPr>
        <p:spPr>
          <a:xfrm>
            <a:off x="6035040" y="3941064"/>
            <a:ext cx="2651760" cy="237744"/>
          </a:xfrm>
          <a:prstGeom prst="rect">
            <a:avLst/>
          </a:prstGeom>
          <a:noFill/>
          <a:ln/>
        </p:spPr>
        <p:txBody>
          <a:bodyPr wrap="square" lIns="0" tIns="0" rIns="0" bIns="0" rtlCol="0" anchor="ctr"/>
          <a:lstStyle/>
          <a:p>
            <a:pPr indent="0" marL="0">
              <a:buNone/>
            </a:pPr>
            <a:r>
              <a:rPr lang="en-US" sz="800" dirty="0">
                <a:solidFill>
                  <a:srgbClr val="E2E8F0"/>
                </a:solidFill>
                <a:latin typeface="Consolas" pitchFamily="34" charset="0"/>
                <a:ea typeface="Consolas" pitchFamily="34" charset="-122"/>
                <a:cs typeface="Consolas" pitchFamily="34" charset="-120"/>
              </a:rPr>
              <a:t>0x0000000000000246</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3200400" cy="5143500"/>
          </a:xfrm>
          <a:prstGeom prst="rect">
            <a:avLst/>
          </a:prstGeom>
          <a:solidFill>
            <a:srgbClr val="111827"/>
          </a:solidFill>
          <a:ln w="12700">
            <a:solidFill>
              <a:srgbClr val="111827"/>
            </a:solidFill>
            <a:prstDash val="solid"/>
          </a:ln>
        </p:spPr>
      </p:sp>
      <p:sp>
        <p:nvSpPr>
          <p:cNvPr id="3" name="Shape 1"/>
          <p:cNvSpPr/>
          <p:nvPr/>
        </p:nvSpPr>
        <p:spPr>
          <a:xfrm>
            <a:off x="3163824" y="0"/>
            <a:ext cx="36576" cy="5143500"/>
          </a:xfrm>
          <a:prstGeom prst="rect">
            <a:avLst/>
          </a:prstGeom>
          <a:solidFill>
            <a:srgbClr val="FFD700"/>
          </a:solidFill>
          <a:ln w="12700">
            <a:solidFill>
              <a:srgbClr val="FFD700"/>
            </a:solidFill>
            <a:prstDash val="solid"/>
          </a:ln>
        </p:spPr>
      </p:sp>
      <p:sp>
        <p:nvSpPr>
          <p:cNvPr id="4" name="Text 2"/>
          <p:cNvSpPr/>
          <p:nvPr/>
        </p:nvSpPr>
        <p:spPr>
          <a:xfrm>
            <a:off x="274320" y="365760"/>
            <a:ext cx="2560320" cy="365760"/>
          </a:xfrm>
          <a:prstGeom prst="rect">
            <a:avLst/>
          </a:prstGeom>
          <a:noFill/>
          <a:ln/>
        </p:spPr>
        <p:txBody>
          <a:bodyPr wrap="square" lIns="0" tIns="0" rIns="0" bIns="0" rtlCol="0" anchor="ctr"/>
          <a:lstStyle/>
          <a:p>
            <a:pPr indent="0" marL="0">
              <a:buNone/>
            </a:pPr>
            <a:r>
              <a:rPr lang="en-US" sz="1000" spc="400" kern="0" dirty="0">
                <a:solidFill>
                  <a:srgbClr val="8B9BB4"/>
                </a:solidFill>
                <a:latin typeface="Consolas" pitchFamily="34" charset="0"/>
                <a:ea typeface="Consolas" pitchFamily="34" charset="-122"/>
                <a:cs typeface="Consolas" pitchFamily="34" charset="-120"/>
              </a:rPr>
              <a:t>SECTION 9</a:t>
            </a:r>
            <a:endParaRPr lang="en-US" sz="1000" dirty="0"/>
          </a:p>
        </p:txBody>
      </p:sp>
      <p:sp>
        <p:nvSpPr>
          <p:cNvPr id="5" name="Text 3"/>
          <p:cNvSpPr/>
          <p:nvPr/>
        </p:nvSpPr>
        <p:spPr>
          <a:xfrm>
            <a:off x="274320" y="731520"/>
            <a:ext cx="2560320" cy="1645920"/>
          </a:xfrm>
          <a:prstGeom prst="rect">
            <a:avLst/>
          </a:prstGeom>
          <a:noFill/>
          <a:ln/>
        </p:spPr>
        <p:txBody>
          <a:bodyPr wrap="square" lIns="0" tIns="0" rIns="0" bIns="0" rtlCol="0" anchor="ctr"/>
          <a:lstStyle/>
          <a:p>
            <a:pPr indent="0" marL="0">
              <a:buNone/>
            </a:pPr>
            <a:r>
              <a:rPr lang="en-US" sz="10000" b="1" dirty="0">
                <a:solidFill>
                  <a:srgbClr val="FFD700">
                    <a:alpha val="90000"/>
                  </a:srgbClr>
                </a:solidFill>
                <a:latin typeface="Consolas" pitchFamily="34" charset="0"/>
                <a:ea typeface="Consolas" pitchFamily="34" charset="-122"/>
                <a:cs typeface="Consolas" pitchFamily="34" charset="-120"/>
              </a:rPr>
              <a:t>09</a:t>
            </a:r>
            <a:endParaRPr lang="en-US" sz="10000" dirty="0"/>
          </a:p>
        </p:txBody>
      </p:sp>
      <p:pic>
        <p:nvPicPr>
          <p:cNvPr id="6" name="Image 0" descr="preencoded.png">    </p:cNvPr>
          <p:cNvPicPr>
            <a:picLocks noChangeAspect="1"/>
          </p:cNvPicPr>
          <p:nvPr/>
        </p:nvPicPr>
        <p:blipFill>
          <a:blip r:embed="rId1"/>
          <a:stretch>
            <a:fillRect/>
          </a:stretch>
        </p:blipFill>
        <p:spPr>
          <a:xfrm>
            <a:off x="822960" y="2926080"/>
            <a:ext cx="1463040" cy="1463040"/>
          </a:xfrm>
          <a:prstGeom prst="rect">
            <a:avLst/>
          </a:prstGeom>
        </p:spPr>
      </p:pic>
      <p:sp>
        <p:nvSpPr>
          <p:cNvPr id="7" name="Text 4"/>
          <p:cNvSpPr/>
          <p:nvPr/>
        </p:nvSpPr>
        <p:spPr>
          <a:xfrm>
            <a:off x="3474720" y="1463040"/>
            <a:ext cx="5394960" cy="1371600"/>
          </a:xfrm>
          <a:prstGeom prst="rect">
            <a:avLst/>
          </a:prstGeom>
          <a:noFill/>
          <a:ln/>
        </p:spPr>
        <p:txBody>
          <a:bodyPr wrap="square" lIns="0" tIns="0" rIns="0" bIns="0" rtlCol="0" anchor="ctr"/>
          <a:lstStyle/>
          <a:p>
            <a:pPr indent="0" marL="0">
              <a:buNone/>
            </a:pPr>
            <a:r>
              <a:rPr lang="en-US" sz="3600" b="1" dirty="0">
                <a:solidFill>
                  <a:srgbClr val="FFFFFF"/>
                </a:solidFill>
                <a:latin typeface="Consolas" pitchFamily="34" charset="0"/>
                <a:ea typeface="Consolas" pitchFamily="34" charset="-122"/>
                <a:cs typeface="Consolas" pitchFamily="34" charset="-120"/>
              </a:rPr>
              <a:t>Crackme Walkthrough</a:t>
            </a:r>
            <a:endParaRPr lang="en-US" sz="3600" dirty="0"/>
          </a:p>
        </p:txBody>
      </p:sp>
      <p:sp>
        <p:nvSpPr>
          <p:cNvPr id="8" name="Text 5"/>
          <p:cNvSpPr/>
          <p:nvPr/>
        </p:nvSpPr>
        <p:spPr>
          <a:xfrm>
            <a:off x="3474720" y="2926080"/>
            <a:ext cx="5394960" cy="1097280"/>
          </a:xfrm>
          <a:prstGeom prst="rect">
            <a:avLst/>
          </a:prstGeom>
          <a:noFill/>
          <a:ln/>
        </p:spPr>
        <p:txBody>
          <a:bodyPr wrap="square" lIns="0" tIns="0" rIns="0" bIns="0" rtlCol="0" anchor="ctr"/>
          <a:lstStyle/>
          <a:p>
            <a:pPr indent="0" marL="0">
              <a:buNone/>
            </a:pPr>
            <a:r>
              <a:rPr lang="en-US" sz="1400" dirty="0">
                <a:solidFill>
                  <a:srgbClr val="8B9BB4"/>
                </a:solidFill>
                <a:latin typeface="Calibri" pitchFamily="34" charset="0"/>
                <a:ea typeface="Calibri" pitchFamily="34" charset="-122"/>
                <a:cs typeface="Calibri" pitchFamily="34" charset="-120"/>
              </a:rPr>
              <a:t>Hands-on: analyzing a login check and patching it.</a:t>
            </a:r>
            <a:endParaRPr lang="en-US" sz="1400" dirty="0"/>
          </a:p>
        </p:txBody>
      </p:sp>
      <p:sp>
        <p:nvSpPr>
          <p:cNvPr id="9" name="Shape 6"/>
          <p:cNvSpPr/>
          <p:nvPr/>
        </p:nvSpPr>
        <p:spPr>
          <a:xfrm>
            <a:off x="3474720" y="4297680"/>
            <a:ext cx="91440" cy="91440"/>
          </a:xfrm>
          <a:prstGeom prst="ellipse">
            <a:avLst/>
          </a:prstGeom>
          <a:solidFill>
            <a:srgbClr val="FFD700"/>
          </a:solidFill>
          <a:ln w="12700">
            <a:solidFill>
              <a:srgbClr val="FFD700"/>
            </a:solidFill>
            <a:prstDash val="solid"/>
          </a:ln>
        </p:spPr>
      </p:sp>
      <p:sp>
        <p:nvSpPr>
          <p:cNvPr id="10" name="Shape 7"/>
          <p:cNvSpPr/>
          <p:nvPr/>
        </p:nvSpPr>
        <p:spPr>
          <a:xfrm>
            <a:off x="3794760" y="4297680"/>
            <a:ext cx="91440" cy="91440"/>
          </a:xfrm>
          <a:prstGeom prst="ellipse">
            <a:avLst/>
          </a:prstGeom>
          <a:solidFill>
            <a:srgbClr val="FFD700">
              <a:alpha val="85000"/>
            </a:srgbClr>
          </a:solidFill>
          <a:ln w="12700">
            <a:solidFill>
              <a:srgbClr val="FFD700">
                <a:alpha val="85000"/>
              </a:srgbClr>
            </a:solidFill>
            <a:prstDash val="solid"/>
          </a:ln>
        </p:spPr>
      </p:sp>
      <p:sp>
        <p:nvSpPr>
          <p:cNvPr id="11" name="Shape 8"/>
          <p:cNvSpPr/>
          <p:nvPr/>
        </p:nvSpPr>
        <p:spPr>
          <a:xfrm>
            <a:off x="4114800" y="4297680"/>
            <a:ext cx="91440" cy="91440"/>
          </a:xfrm>
          <a:prstGeom prst="ellipse">
            <a:avLst/>
          </a:prstGeom>
          <a:solidFill>
            <a:srgbClr val="FFD700">
              <a:alpha val="70000"/>
            </a:srgbClr>
          </a:solidFill>
          <a:ln w="12700">
            <a:solidFill>
              <a:srgbClr val="FFD700">
                <a:alpha val="70000"/>
              </a:srgbClr>
            </a:solidFill>
            <a:prstDash val="solid"/>
          </a:ln>
        </p:spPr>
      </p:sp>
      <p:sp>
        <p:nvSpPr>
          <p:cNvPr id="12" name="Shape 9"/>
          <p:cNvSpPr/>
          <p:nvPr/>
        </p:nvSpPr>
        <p:spPr>
          <a:xfrm>
            <a:off x="4434840" y="4297680"/>
            <a:ext cx="91440" cy="91440"/>
          </a:xfrm>
          <a:prstGeom prst="ellipse">
            <a:avLst/>
          </a:prstGeom>
          <a:solidFill>
            <a:srgbClr val="FFD700">
              <a:alpha val="55000"/>
            </a:srgbClr>
          </a:solidFill>
          <a:ln w="12700">
            <a:solidFill>
              <a:srgbClr val="FFD700">
                <a:alpha val="55000"/>
              </a:srgbClr>
            </a:solidFill>
            <a:prstDash val="solid"/>
          </a:ln>
        </p:spPr>
      </p:sp>
      <p:sp>
        <p:nvSpPr>
          <p:cNvPr id="13" name="Shape 10"/>
          <p:cNvSpPr/>
          <p:nvPr/>
        </p:nvSpPr>
        <p:spPr>
          <a:xfrm>
            <a:off x="4754880" y="4297680"/>
            <a:ext cx="91440" cy="91440"/>
          </a:xfrm>
          <a:prstGeom prst="ellipse">
            <a:avLst/>
          </a:prstGeom>
          <a:solidFill>
            <a:srgbClr val="FFD700">
              <a:alpha val="40000"/>
            </a:srgbClr>
          </a:solidFill>
          <a:ln w="12700">
            <a:solidFill>
              <a:srgbClr val="FFD700">
                <a:alpha val="40000"/>
              </a:srgbClr>
            </a:solidFill>
            <a:prstDash val="solid"/>
          </a:ln>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164592" y="164592"/>
            <a:ext cx="365760" cy="45720"/>
          </a:xfrm>
          <a:prstGeom prst="rect">
            <a:avLst/>
          </a:prstGeom>
          <a:solidFill>
            <a:srgbClr val="00FF88"/>
          </a:solidFill>
          <a:ln w="12700">
            <a:solidFill>
              <a:srgbClr val="00FF88"/>
            </a:solidFill>
            <a:prstDash val="solid"/>
          </a:ln>
        </p:spPr>
      </p:sp>
      <p:sp>
        <p:nvSpPr>
          <p:cNvPr id="3" name="Shape 1"/>
          <p:cNvSpPr/>
          <p:nvPr/>
        </p:nvSpPr>
        <p:spPr>
          <a:xfrm>
            <a:off x="164592" y="164592"/>
            <a:ext cx="45720" cy="274320"/>
          </a:xfrm>
          <a:prstGeom prst="rect">
            <a:avLst/>
          </a:prstGeom>
          <a:solidFill>
            <a:srgbClr val="00FF88"/>
          </a:solidFill>
          <a:ln w="12700">
            <a:solidFill>
              <a:srgbClr val="00FF88"/>
            </a:solidFill>
            <a:prstDash val="solid"/>
          </a:ln>
        </p:spPr>
      </p:sp>
      <p:sp>
        <p:nvSpPr>
          <p:cNvPr id="4" name="Shape 2"/>
          <p:cNvSpPr/>
          <p:nvPr/>
        </p:nvSpPr>
        <p:spPr>
          <a:xfrm>
            <a:off x="8613648" y="4910328"/>
            <a:ext cx="365760" cy="45720"/>
          </a:xfrm>
          <a:prstGeom prst="rect">
            <a:avLst/>
          </a:prstGeom>
          <a:solidFill>
            <a:srgbClr val="00D4FF"/>
          </a:solidFill>
          <a:ln w="12700">
            <a:solidFill>
              <a:srgbClr val="00D4FF"/>
            </a:solidFill>
            <a:prstDash val="solid"/>
          </a:ln>
        </p:spPr>
      </p:sp>
      <p:sp>
        <p:nvSpPr>
          <p:cNvPr id="5" name="Shape 3"/>
          <p:cNvSpPr/>
          <p:nvPr/>
        </p:nvSpPr>
        <p:spPr>
          <a:xfrm>
            <a:off x="8933688" y="4681728"/>
            <a:ext cx="45720" cy="274320"/>
          </a:xfrm>
          <a:prstGeom prst="rect">
            <a:avLst/>
          </a:prstGeom>
          <a:solidFill>
            <a:srgbClr val="00D4FF"/>
          </a:solidFill>
          <a:ln w="12700">
            <a:solidFill>
              <a:srgbClr val="00D4FF"/>
            </a:solidFill>
            <a:prstDash val="solid"/>
          </a:ln>
        </p:spPr>
      </p:sp>
      <p:sp>
        <p:nvSpPr>
          <p:cNvPr id="6" name="Shape 4"/>
          <p:cNvSpPr/>
          <p:nvPr/>
        </p:nvSpPr>
        <p:spPr>
          <a:xfrm>
            <a:off x="411480" y="201168"/>
            <a:ext cx="2272284" cy="256032"/>
          </a:xfrm>
          <a:prstGeom prst="rect">
            <a:avLst/>
          </a:prstGeom>
          <a:solidFill>
            <a:srgbClr val="FFD700"/>
          </a:solidFill>
          <a:ln w="12700">
            <a:solidFill>
              <a:srgbClr val="FFD700"/>
            </a:solidFill>
            <a:prstDash val="solid"/>
          </a:ln>
        </p:spPr>
      </p:sp>
      <p:sp>
        <p:nvSpPr>
          <p:cNvPr id="7" name="Text 5"/>
          <p:cNvSpPr/>
          <p:nvPr/>
        </p:nvSpPr>
        <p:spPr>
          <a:xfrm>
            <a:off x="411480" y="201168"/>
            <a:ext cx="2272284" cy="256032"/>
          </a:xfrm>
          <a:prstGeom prst="rect">
            <a:avLst/>
          </a:prstGeom>
          <a:noFill/>
          <a:ln/>
        </p:spPr>
        <p:txBody>
          <a:bodyPr wrap="square" lIns="0" tIns="0" rIns="0" bIns="0" rtlCol="0" anchor="ctr"/>
          <a:lstStyle/>
          <a:p>
            <a:pPr algn="ctr" indent="0" marL="0">
              <a:buNone/>
            </a:pPr>
            <a:r>
              <a:rPr lang="en-US" sz="900" b="1" dirty="0">
                <a:solidFill>
                  <a:srgbClr val="0A0E1A"/>
                </a:solidFill>
                <a:latin typeface="Consolas" pitchFamily="34" charset="0"/>
                <a:ea typeface="Consolas" pitchFamily="34" charset="-122"/>
                <a:cs typeface="Consolas" pitchFamily="34" charset="-120"/>
              </a:rPr>
              <a:t>SECTION 9 · CRACKME</a:t>
            </a:r>
            <a:endParaRPr lang="en-US" sz="900" dirty="0"/>
          </a:p>
        </p:txBody>
      </p:sp>
      <p:sp>
        <p:nvSpPr>
          <p:cNvPr id="8" name="Text 6"/>
          <p:cNvSpPr/>
          <p:nvPr/>
        </p:nvSpPr>
        <p:spPr>
          <a:xfrm>
            <a:off x="411480" y="530352"/>
            <a:ext cx="8321040" cy="594360"/>
          </a:xfrm>
          <a:prstGeom prst="rect">
            <a:avLst/>
          </a:prstGeom>
          <a:noFill/>
          <a:ln/>
        </p:spPr>
        <p:txBody>
          <a:bodyPr wrap="square" lIns="0" tIns="0" rIns="0" bIns="0" rtlCol="0" anchor="ctr"/>
          <a:lstStyle/>
          <a:p>
            <a:pPr algn="l" indent="0" marL="0">
              <a:buNone/>
            </a:pPr>
            <a:r>
              <a:rPr lang="en-US" sz="2800" b="1" dirty="0">
                <a:solidFill>
                  <a:srgbClr val="FFD700"/>
                </a:solidFill>
                <a:latin typeface="Consolas" pitchFamily="34" charset="0"/>
                <a:ea typeface="Consolas" pitchFamily="34" charset="-122"/>
                <a:cs typeface="Consolas" pitchFamily="34" charset="-120"/>
              </a:rPr>
              <a:t>Beginner Crackme: Password Check</a:t>
            </a:r>
            <a:endParaRPr lang="en-US" sz="2800" dirty="0"/>
          </a:p>
        </p:txBody>
      </p:sp>
      <p:sp>
        <p:nvSpPr>
          <p:cNvPr id="9" name="Text 7"/>
          <p:cNvSpPr/>
          <p:nvPr/>
        </p:nvSpPr>
        <p:spPr>
          <a:xfrm>
            <a:off x="411480" y="1051560"/>
            <a:ext cx="8321040" cy="320040"/>
          </a:xfrm>
          <a:prstGeom prst="rect">
            <a:avLst/>
          </a:prstGeom>
          <a:noFill/>
          <a:ln/>
        </p:spPr>
        <p:txBody>
          <a:bodyPr wrap="square" lIns="0" tIns="0" rIns="0" bIns="0" rtlCol="0" anchor="ctr"/>
          <a:lstStyle/>
          <a:p>
            <a:pPr algn="l" indent="0" marL="0">
              <a:buNone/>
            </a:pPr>
            <a:r>
              <a:rPr lang="en-US" sz="1300" dirty="0">
                <a:solidFill>
                  <a:srgbClr val="8B9BB4"/>
                </a:solidFill>
                <a:latin typeface="Calibri" pitchFamily="34" charset="0"/>
                <a:ea typeface="Calibri" pitchFamily="34" charset="-122"/>
                <a:cs typeface="Calibri" pitchFamily="34" charset="-120"/>
              </a:rPr>
              <a:t>Finding and patching a simple login — educational demonstration only.</a:t>
            </a:r>
            <a:endParaRPr lang="en-US" sz="1300" dirty="0"/>
          </a:p>
        </p:txBody>
      </p:sp>
      <p:sp>
        <p:nvSpPr>
          <p:cNvPr id="10" name="Text 8"/>
          <p:cNvSpPr/>
          <p:nvPr/>
        </p:nvSpPr>
        <p:spPr>
          <a:xfrm>
            <a:off x="8686800" y="4754880"/>
            <a:ext cx="365760" cy="228600"/>
          </a:xfrm>
          <a:prstGeom prst="rect">
            <a:avLst/>
          </a:prstGeom>
          <a:noFill/>
          <a:ln/>
        </p:spPr>
        <p:txBody>
          <a:bodyPr wrap="square" lIns="0" tIns="0" rIns="0" bIns="0" rtlCol="0" anchor="ctr"/>
          <a:lstStyle/>
          <a:p>
            <a:pPr algn="r" indent="0" marL="0">
              <a:buNone/>
            </a:pPr>
            <a:r>
              <a:rPr lang="en-US" sz="900" dirty="0">
                <a:solidFill>
                  <a:srgbClr val="8B9BB4"/>
                </a:solidFill>
                <a:latin typeface="Consolas" pitchFamily="34" charset="0"/>
                <a:ea typeface="Consolas" pitchFamily="34" charset="-122"/>
                <a:cs typeface="Consolas" pitchFamily="34" charset="-120"/>
              </a:rPr>
              <a:t>22</a:t>
            </a:r>
            <a:endParaRPr lang="en-US" sz="900" dirty="0"/>
          </a:p>
        </p:txBody>
      </p:sp>
      <p:sp>
        <p:nvSpPr>
          <p:cNvPr id="11" name="Shape 9"/>
          <p:cNvSpPr/>
          <p:nvPr/>
        </p:nvSpPr>
        <p:spPr>
          <a:xfrm>
            <a:off x="320040" y="1417320"/>
            <a:ext cx="4114800" cy="1691640"/>
          </a:xfrm>
          <a:prstGeom prst="rect">
            <a:avLst/>
          </a:prstGeom>
          <a:solidFill>
            <a:srgbClr val="050A14"/>
          </a:solidFill>
          <a:ln w="12700">
            <a:solidFill>
              <a:srgbClr val="1E3A5F"/>
            </a:solidFill>
            <a:prstDash val="solid"/>
          </a:ln>
        </p:spPr>
      </p:sp>
      <p:sp>
        <p:nvSpPr>
          <p:cNvPr id="12" name="Text 10"/>
          <p:cNvSpPr/>
          <p:nvPr/>
        </p:nvSpPr>
        <p:spPr>
          <a:xfrm>
            <a:off x="3794760" y="1472184"/>
            <a:ext cx="548640" cy="182880"/>
          </a:xfrm>
          <a:prstGeom prst="rect">
            <a:avLst/>
          </a:prstGeom>
          <a:noFill/>
          <a:ln/>
        </p:spPr>
        <p:txBody>
          <a:bodyPr wrap="square" lIns="0" tIns="0" rIns="0" bIns="0" rtlCol="0" anchor="ctr"/>
          <a:lstStyle/>
          <a:p>
            <a:pPr algn="r" indent="0" marL="0">
              <a:buNone/>
            </a:pPr>
            <a:r>
              <a:rPr lang="en-US" sz="700" dirty="0">
                <a:solidFill>
                  <a:srgbClr val="8B9BB4"/>
                </a:solidFill>
                <a:latin typeface="Consolas" pitchFamily="34" charset="0"/>
                <a:ea typeface="Consolas" pitchFamily="34" charset="-122"/>
                <a:cs typeface="Consolas" pitchFamily="34" charset="-120"/>
              </a:rPr>
              <a:t>C</a:t>
            </a:r>
            <a:endParaRPr lang="en-US" sz="700" dirty="0"/>
          </a:p>
        </p:txBody>
      </p:sp>
      <p:sp>
        <p:nvSpPr>
          <p:cNvPr id="13" name="Text 11"/>
          <p:cNvSpPr/>
          <p:nvPr/>
        </p:nvSpPr>
        <p:spPr>
          <a:xfrm>
            <a:off x="429768" y="1527048"/>
            <a:ext cx="3895344" cy="1508760"/>
          </a:xfrm>
          <a:prstGeom prst="rect">
            <a:avLst/>
          </a:prstGeom>
          <a:noFill/>
          <a:ln/>
        </p:spPr>
        <p:txBody>
          <a:bodyPr wrap="square" lIns="0" tIns="0" rIns="0" bIns="0" rtlCol="0" anchor="t"/>
          <a:lstStyle/>
          <a:p>
            <a:pPr algn="l" indent="0" marL="0">
              <a:buNone/>
            </a:pPr>
            <a:r>
              <a:rPr lang="en-US" sz="950" dirty="0">
                <a:solidFill>
                  <a:srgbClr val="00FF88"/>
                </a:solidFill>
                <a:latin typeface="Consolas" pitchFamily="34" charset="0"/>
                <a:ea typeface="Consolas" pitchFamily="34" charset="-122"/>
                <a:cs typeface="Consolas" pitchFamily="34" charset="-120"/>
              </a:rPr>
              <a:t>// Original C code (we DON't have this!)</a:t>
            </a:r>
            <a:endParaRPr lang="en-US" sz="950" dirty="0"/>
          </a:p>
          <a:p>
            <a:pPr algn="l" indent="0" marL="0">
              <a:buNone/>
            </a:pPr>
            <a:r>
              <a:rPr lang="en-US" sz="950" dirty="0">
                <a:solidFill>
                  <a:srgbClr val="00FF88"/>
                </a:solidFill>
                <a:latin typeface="Consolas" pitchFamily="34" charset="0"/>
                <a:ea typeface="Consolas" pitchFamily="34" charset="-122"/>
                <a:cs typeface="Consolas" pitchFamily="34" charset="-120"/>
              </a:rPr>
              <a:t>int check_password(char* input) {</a:t>
            </a:r>
            <a:endParaRPr lang="en-US" sz="950" dirty="0"/>
          </a:p>
          <a:p>
            <a:pPr algn="l" indent="0" marL="0">
              <a:buNone/>
            </a:pPr>
            <a:r>
              <a:rPr lang="en-US" sz="950" dirty="0">
                <a:solidFill>
                  <a:srgbClr val="00FF88"/>
                </a:solidFill>
                <a:latin typeface="Consolas" pitchFamily="34" charset="0"/>
                <a:ea typeface="Consolas" pitchFamily="34" charset="-122"/>
                <a:cs typeface="Consolas" pitchFamily="34" charset="-120"/>
              </a:rPr>
              <a:t>  if (strcmp(input, "S3cr3t!") == 0)</a:t>
            </a:r>
            <a:endParaRPr lang="en-US" sz="950" dirty="0"/>
          </a:p>
          <a:p>
            <a:pPr algn="l" indent="0" marL="0">
              <a:buNone/>
            </a:pPr>
            <a:r>
              <a:rPr lang="en-US" sz="950" dirty="0">
                <a:solidFill>
                  <a:srgbClr val="00FF88"/>
                </a:solidFill>
                <a:latin typeface="Consolas" pitchFamily="34" charset="0"/>
                <a:ea typeface="Consolas" pitchFamily="34" charset="-122"/>
                <a:cs typeface="Consolas" pitchFamily="34" charset="-120"/>
              </a:rPr>
              <a:t>    return 1;  // ← ACCESS GRANTED</a:t>
            </a:r>
            <a:endParaRPr lang="en-US" sz="950" dirty="0"/>
          </a:p>
          <a:p>
            <a:pPr algn="l" indent="0" marL="0">
              <a:buNone/>
            </a:pPr>
            <a:r>
              <a:rPr lang="en-US" sz="950" dirty="0">
                <a:solidFill>
                  <a:srgbClr val="00FF88"/>
                </a:solidFill>
                <a:latin typeface="Consolas" pitchFamily="34" charset="0"/>
                <a:ea typeface="Consolas" pitchFamily="34" charset="-122"/>
                <a:cs typeface="Consolas" pitchFamily="34" charset="-120"/>
              </a:rPr>
              <a:t>  return 0;    // ← ACCESS DENIED</a:t>
            </a:r>
            <a:endParaRPr lang="en-US" sz="950" dirty="0"/>
          </a:p>
          <a:p>
            <a:pPr algn="l" indent="0" marL="0">
              <a:buNone/>
            </a:pPr>
            <a:r>
              <a:rPr lang="en-US" sz="950" dirty="0">
                <a:solidFill>
                  <a:srgbClr val="00FF88"/>
                </a:solidFill>
                <a:latin typeface="Consolas" pitchFamily="34" charset="0"/>
                <a:ea typeface="Consolas" pitchFamily="34" charset="-122"/>
                <a:cs typeface="Consolas" pitchFamily="34" charset="-120"/>
              </a:rPr>
              <a:t>}</a:t>
            </a:r>
            <a:endParaRPr lang="en-US" sz="950" dirty="0"/>
          </a:p>
        </p:txBody>
      </p:sp>
      <p:sp>
        <p:nvSpPr>
          <p:cNvPr id="14" name="Text 12"/>
          <p:cNvSpPr/>
          <p:nvPr/>
        </p:nvSpPr>
        <p:spPr>
          <a:xfrm>
            <a:off x="4480560" y="2103120"/>
            <a:ext cx="777240" cy="365760"/>
          </a:xfrm>
          <a:prstGeom prst="rect">
            <a:avLst/>
          </a:prstGeom>
          <a:noFill/>
          <a:ln/>
        </p:spPr>
        <p:txBody>
          <a:bodyPr wrap="square" lIns="0" tIns="0" rIns="0" bIns="0" rtlCol="0" anchor="ctr"/>
          <a:lstStyle/>
          <a:p>
            <a:pPr algn="ctr" indent="0" marL="0">
              <a:buNone/>
            </a:pPr>
            <a:r>
              <a:rPr lang="en-US" sz="900" dirty="0">
                <a:solidFill>
                  <a:srgbClr val="8B9BB4"/>
                </a:solidFill>
                <a:latin typeface="Consolas" pitchFamily="34" charset="0"/>
                <a:ea typeface="Consolas" pitchFamily="34" charset="-122"/>
                <a:cs typeface="Consolas" pitchFamily="34" charset="-120"/>
              </a:rPr>
              <a:t>COMPILED →</a:t>
            </a:r>
            <a:endParaRPr lang="en-US" sz="900" dirty="0"/>
          </a:p>
        </p:txBody>
      </p:sp>
      <p:sp>
        <p:nvSpPr>
          <p:cNvPr id="15" name="Shape 13"/>
          <p:cNvSpPr/>
          <p:nvPr/>
        </p:nvSpPr>
        <p:spPr>
          <a:xfrm>
            <a:off x="4937760" y="1417320"/>
            <a:ext cx="3886200" cy="1691640"/>
          </a:xfrm>
          <a:prstGeom prst="rect">
            <a:avLst/>
          </a:prstGeom>
          <a:solidFill>
            <a:srgbClr val="050A14"/>
          </a:solidFill>
          <a:ln w="12700">
            <a:solidFill>
              <a:srgbClr val="1E3A5F"/>
            </a:solidFill>
            <a:prstDash val="solid"/>
          </a:ln>
        </p:spPr>
      </p:sp>
      <p:sp>
        <p:nvSpPr>
          <p:cNvPr id="16" name="Text 14"/>
          <p:cNvSpPr/>
          <p:nvPr/>
        </p:nvSpPr>
        <p:spPr>
          <a:xfrm>
            <a:off x="8183880" y="1472184"/>
            <a:ext cx="548640" cy="182880"/>
          </a:xfrm>
          <a:prstGeom prst="rect">
            <a:avLst/>
          </a:prstGeom>
          <a:noFill/>
          <a:ln/>
        </p:spPr>
        <p:txBody>
          <a:bodyPr wrap="square" lIns="0" tIns="0" rIns="0" bIns="0" rtlCol="0" anchor="ctr"/>
          <a:lstStyle/>
          <a:p>
            <a:pPr algn="r" indent="0" marL="0">
              <a:buNone/>
            </a:pPr>
            <a:r>
              <a:rPr lang="en-US" sz="700" dirty="0">
                <a:solidFill>
                  <a:srgbClr val="8B9BB4"/>
                </a:solidFill>
                <a:latin typeface="Consolas" pitchFamily="34" charset="0"/>
                <a:ea typeface="Consolas" pitchFamily="34" charset="-122"/>
                <a:cs typeface="Consolas" pitchFamily="34" charset="-120"/>
              </a:rPr>
              <a:t>ASM</a:t>
            </a:r>
            <a:endParaRPr lang="en-US" sz="700" dirty="0"/>
          </a:p>
        </p:txBody>
      </p:sp>
      <p:sp>
        <p:nvSpPr>
          <p:cNvPr id="17" name="Text 15"/>
          <p:cNvSpPr/>
          <p:nvPr/>
        </p:nvSpPr>
        <p:spPr>
          <a:xfrm>
            <a:off x="5047488" y="1527048"/>
            <a:ext cx="3666744" cy="1508760"/>
          </a:xfrm>
          <a:prstGeom prst="rect">
            <a:avLst/>
          </a:prstGeom>
          <a:noFill/>
          <a:ln/>
        </p:spPr>
        <p:txBody>
          <a:bodyPr wrap="square" lIns="0" tIns="0" rIns="0" bIns="0" rtlCol="0" anchor="t"/>
          <a:lstStyle/>
          <a:p>
            <a:pPr algn="l" indent="0" marL="0">
              <a:buNone/>
            </a:pPr>
            <a:r>
              <a:rPr lang="en-US" sz="950" dirty="0">
                <a:solidFill>
                  <a:srgbClr val="00FF88"/>
                </a:solidFill>
                <a:latin typeface="Consolas" pitchFamily="34" charset="0"/>
                <a:ea typeface="Consolas" pitchFamily="34" charset="-122"/>
                <a:cs typeface="Consolas" pitchFamily="34" charset="-120"/>
              </a:rPr>
              <a:t>; What we SEE in the disassembler:</a:t>
            </a:r>
            <a:endParaRPr lang="en-US" sz="950" dirty="0"/>
          </a:p>
          <a:p>
            <a:pPr algn="l" indent="0" marL="0">
              <a:buNone/>
            </a:pPr>
            <a:r>
              <a:rPr lang="en-US" sz="950" dirty="0">
                <a:solidFill>
                  <a:srgbClr val="00FF88"/>
                </a:solidFill>
                <a:latin typeface="Consolas" pitchFamily="34" charset="0"/>
                <a:ea typeface="Consolas" pitchFamily="34" charset="-122"/>
                <a:cs typeface="Consolas" pitchFamily="34" charset="-120"/>
              </a:rPr>
              <a:t>call  strcmp          ; compare strings</a:t>
            </a:r>
            <a:endParaRPr lang="en-US" sz="950" dirty="0"/>
          </a:p>
          <a:p>
            <a:pPr algn="l" indent="0" marL="0">
              <a:buNone/>
            </a:pPr>
            <a:r>
              <a:rPr lang="en-US" sz="950" dirty="0">
                <a:solidFill>
                  <a:srgbClr val="00FF88"/>
                </a:solidFill>
                <a:latin typeface="Consolas" pitchFamily="34" charset="0"/>
                <a:ea typeface="Consolas" pitchFamily="34" charset="-122"/>
                <a:cs typeface="Consolas" pitchFamily="34" charset="-120"/>
              </a:rPr>
              <a:t>test  eax, eax        ; test result</a:t>
            </a:r>
            <a:endParaRPr lang="en-US" sz="950" dirty="0"/>
          </a:p>
          <a:p>
            <a:pPr algn="l" indent="0" marL="0">
              <a:buNone/>
            </a:pPr>
            <a:r>
              <a:rPr lang="en-US" sz="950" dirty="0">
                <a:solidFill>
                  <a:srgbClr val="00FF88"/>
                </a:solidFill>
                <a:latin typeface="Consolas" pitchFamily="34" charset="0"/>
                <a:ea typeface="Consolas" pitchFamily="34" charset="-122"/>
                <a:cs typeface="Consolas" pitchFamily="34" charset="-120"/>
              </a:rPr>
              <a:t>jne   ACCESS_DENIED   ; Jump if NOT Equal</a:t>
            </a:r>
            <a:endParaRPr lang="en-US" sz="950" dirty="0"/>
          </a:p>
          <a:p>
            <a:pPr algn="l" indent="0" marL="0">
              <a:buNone/>
            </a:pPr>
            <a:r>
              <a:rPr lang="en-US" sz="950" dirty="0">
                <a:solidFill>
                  <a:srgbClr val="00FF88"/>
                </a:solidFill>
                <a:latin typeface="Consolas" pitchFamily="34" charset="0"/>
                <a:ea typeface="Consolas" pitchFamily="34" charset="-122"/>
                <a:cs typeface="Consolas" pitchFamily="34" charset="-120"/>
              </a:rPr>
              <a:t>; ← We are here: ACCESS GRANTED</a:t>
            </a:r>
            <a:endParaRPr lang="en-US" sz="950" dirty="0"/>
          </a:p>
          <a:p>
            <a:pPr algn="l" indent="0" marL="0">
              <a:buNone/>
            </a:pPr>
            <a:endParaRPr lang="en-US" sz="950" dirty="0"/>
          </a:p>
          <a:p>
            <a:pPr algn="l" indent="0" marL="0">
              <a:buNone/>
            </a:pPr>
            <a:r>
              <a:rPr lang="en-US" sz="950" dirty="0">
                <a:solidFill>
                  <a:srgbClr val="00FF88"/>
                </a:solidFill>
                <a:latin typeface="Consolas" pitchFamily="34" charset="0"/>
                <a:ea typeface="Consolas" pitchFamily="34" charset="-122"/>
                <a:cs typeface="Consolas" pitchFamily="34" charset="-120"/>
              </a:rPr>
              <a:t>; PATCH: Change JNE → JE (flip the logic!)</a:t>
            </a:r>
            <a:endParaRPr lang="en-US" sz="950" dirty="0"/>
          </a:p>
        </p:txBody>
      </p:sp>
      <p:sp>
        <p:nvSpPr>
          <p:cNvPr id="18" name="Shape 16"/>
          <p:cNvSpPr/>
          <p:nvPr/>
        </p:nvSpPr>
        <p:spPr>
          <a:xfrm>
            <a:off x="320040" y="3063240"/>
            <a:ext cx="2651760" cy="804672"/>
          </a:xfrm>
          <a:prstGeom prst="rect">
            <a:avLst/>
          </a:prstGeom>
          <a:solidFill>
            <a:srgbClr val="111827"/>
          </a:solidFill>
          <a:ln w="12700">
            <a:solidFill>
              <a:srgbClr val="00D4FF"/>
            </a:solidFill>
            <a:prstDash val="solid"/>
          </a:ln>
        </p:spPr>
      </p:sp>
      <p:sp>
        <p:nvSpPr>
          <p:cNvPr id="19" name="Shape 17"/>
          <p:cNvSpPr/>
          <p:nvPr/>
        </p:nvSpPr>
        <p:spPr>
          <a:xfrm>
            <a:off x="411480" y="3236976"/>
            <a:ext cx="365760" cy="365760"/>
          </a:xfrm>
          <a:prstGeom prst="ellipse">
            <a:avLst/>
          </a:prstGeom>
          <a:solidFill>
            <a:srgbClr val="00D4FF"/>
          </a:solidFill>
          <a:ln w="12700">
            <a:solidFill>
              <a:srgbClr val="00D4FF"/>
            </a:solidFill>
            <a:prstDash val="solid"/>
          </a:ln>
        </p:spPr>
      </p:sp>
      <p:sp>
        <p:nvSpPr>
          <p:cNvPr id="20" name="Text 18"/>
          <p:cNvSpPr/>
          <p:nvPr/>
        </p:nvSpPr>
        <p:spPr>
          <a:xfrm>
            <a:off x="411480" y="3236976"/>
            <a:ext cx="365760" cy="365760"/>
          </a:xfrm>
          <a:prstGeom prst="rect">
            <a:avLst/>
          </a:prstGeom>
          <a:noFill/>
          <a:ln/>
        </p:spPr>
        <p:txBody>
          <a:bodyPr wrap="square" lIns="0" tIns="0" rIns="0" bIns="0" rtlCol="0" anchor="ctr"/>
          <a:lstStyle/>
          <a:p>
            <a:pPr algn="ctr" indent="0" marL="0">
              <a:buNone/>
            </a:pPr>
            <a:r>
              <a:rPr lang="en-US" sz="1100" b="1" dirty="0">
                <a:solidFill>
                  <a:srgbClr val="0A0E1A"/>
                </a:solidFill>
                <a:latin typeface="Consolas" pitchFamily="34" charset="0"/>
                <a:ea typeface="Consolas" pitchFamily="34" charset="-122"/>
                <a:cs typeface="Consolas" pitchFamily="34" charset="-120"/>
              </a:rPr>
              <a:t>1</a:t>
            </a:r>
            <a:endParaRPr lang="en-US" sz="1100" dirty="0"/>
          </a:p>
        </p:txBody>
      </p:sp>
      <p:sp>
        <p:nvSpPr>
          <p:cNvPr id="21" name="Text 19"/>
          <p:cNvSpPr/>
          <p:nvPr/>
        </p:nvSpPr>
        <p:spPr>
          <a:xfrm>
            <a:off x="886968" y="3154680"/>
            <a:ext cx="1965960" cy="274320"/>
          </a:xfrm>
          <a:prstGeom prst="rect">
            <a:avLst/>
          </a:prstGeom>
          <a:noFill/>
          <a:ln/>
        </p:spPr>
        <p:txBody>
          <a:bodyPr wrap="square" lIns="0" tIns="0" rIns="0" bIns="0" rtlCol="0" anchor="ctr"/>
          <a:lstStyle/>
          <a:p>
            <a:pPr indent="0" marL="0">
              <a:buNone/>
            </a:pPr>
            <a:r>
              <a:rPr lang="en-US" sz="1000" b="1" dirty="0">
                <a:solidFill>
                  <a:srgbClr val="00D4FF"/>
                </a:solidFill>
                <a:latin typeface="Consolas" pitchFamily="34" charset="0"/>
                <a:ea typeface="Consolas" pitchFamily="34" charset="-122"/>
                <a:cs typeface="Consolas" pitchFamily="34" charset="-120"/>
              </a:rPr>
              <a:t>Run DIE</a:t>
            </a:r>
            <a:endParaRPr lang="en-US" sz="1000" dirty="0"/>
          </a:p>
        </p:txBody>
      </p:sp>
      <p:sp>
        <p:nvSpPr>
          <p:cNvPr id="22" name="Text 20"/>
          <p:cNvSpPr/>
          <p:nvPr/>
        </p:nvSpPr>
        <p:spPr>
          <a:xfrm>
            <a:off x="886968" y="3465576"/>
            <a:ext cx="1965960" cy="320040"/>
          </a:xfrm>
          <a:prstGeom prst="rect">
            <a:avLst/>
          </a:prstGeom>
          <a:noFill/>
          <a:ln/>
        </p:spPr>
        <p:txBody>
          <a:bodyPr wrap="square" lIns="0" tIns="0" rIns="0" bIns="0" rtlCol="0" anchor="ctr"/>
          <a:lstStyle/>
          <a:p>
            <a:pPr indent="0" marL="0">
              <a:buNone/>
            </a:pPr>
            <a:r>
              <a:rPr lang="en-US" sz="850" dirty="0">
                <a:solidFill>
                  <a:srgbClr val="E2E8F0"/>
                </a:solidFill>
                <a:latin typeface="Calibri" pitchFamily="34" charset="0"/>
                <a:ea typeface="Calibri" pitchFamily="34" charset="-122"/>
                <a:cs typeface="Calibri" pitchFamily="34" charset="-120"/>
              </a:rPr>
              <a:t>Identify: not packed, 32-bit PE, MSVC compiled</a:t>
            </a:r>
            <a:endParaRPr lang="en-US" sz="850" dirty="0"/>
          </a:p>
        </p:txBody>
      </p:sp>
      <p:sp>
        <p:nvSpPr>
          <p:cNvPr id="23" name="Shape 21"/>
          <p:cNvSpPr/>
          <p:nvPr/>
        </p:nvSpPr>
        <p:spPr>
          <a:xfrm>
            <a:off x="3200400" y="3063240"/>
            <a:ext cx="2651760" cy="804672"/>
          </a:xfrm>
          <a:prstGeom prst="rect">
            <a:avLst/>
          </a:prstGeom>
          <a:solidFill>
            <a:srgbClr val="111827"/>
          </a:solidFill>
          <a:ln w="12700">
            <a:solidFill>
              <a:srgbClr val="00FF88"/>
            </a:solidFill>
            <a:prstDash val="solid"/>
          </a:ln>
        </p:spPr>
      </p:sp>
      <p:sp>
        <p:nvSpPr>
          <p:cNvPr id="24" name="Shape 22"/>
          <p:cNvSpPr/>
          <p:nvPr/>
        </p:nvSpPr>
        <p:spPr>
          <a:xfrm>
            <a:off x="3291840" y="3236976"/>
            <a:ext cx="365760" cy="365760"/>
          </a:xfrm>
          <a:prstGeom prst="ellipse">
            <a:avLst/>
          </a:prstGeom>
          <a:solidFill>
            <a:srgbClr val="00FF88"/>
          </a:solidFill>
          <a:ln w="12700">
            <a:solidFill>
              <a:srgbClr val="00FF88"/>
            </a:solidFill>
            <a:prstDash val="solid"/>
          </a:ln>
        </p:spPr>
      </p:sp>
      <p:sp>
        <p:nvSpPr>
          <p:cNvPr id="25" name="Text 23"/>
          <p:cNvSpPr/>
          <p:nvPr/>
        </p:nvSpPr>
        <p:spPr>
          <a:xfrm>
            <a:off x="3291840" y="3236976"/>
            <a:ext cx="365760" cy="365760"/>
          </a:xfrm>
          <a:prstGeom prst="rect">
            <a:avLst/>
          </a:prstGeom>
          <a:noFill/>
          <a:ln/>
        </p:spPr>
        <p:txBody>
          <a:bodyPr wrap="square" lIns="0" tIns="0" rIns="0" bIns="0" rtlCol="0" anchor="ctr"/>
          <a:lstStyle/>
          <a:p>
            <a:pPr algn="ctr" indent="0" marL="0">
              <a:buNone/>
            </a:pPr>
            <a:r>
              <a:rPr lang="en-US" sz="1100" b="1" dirty="0">
                <a:solidFill>
                  <a:srgbClr val="0A0E1A"/>
                </a:solidFill>
                <a:latin typeface="Consolas" pitchFamily="34" charset="0"/>
                <a:ea typeface="Consolas" pitchFamily="34" charset="-122"/>
                <a:cs typeface="Consolas" pitchFamily="34" charset="-120"/>
              </a:rPr>
              <a:t>2</a:t>
            </a:r>
            <a:endParaRPr lang="en-US" sz="1100" dirty="0"/>
          </a:p>
        </p:txBody>
      </p:sp>
      <p:sp>
        <p:nvSpPr>
          <p:cNvPr id="26" name="Text 24"/>
          <p:cNvSpPr/>
          <p:nvPr/>
        </p:nvSpPr>
        <p:spPr>
          <a:xfrm>
            <a:off x="3767328" y="3154680"/>
            <a:ext cx="1965960" cy="274320"/>
          </a:xfrm>
          <a:prstGeom prst="rect">
            <a:avLst/>
          </a:prstGeom>
          <a:noFill/>
          <a:ln/>
        </p:spPr>
        <p:txBody>
          <a:bodyPr wrap="square" lIns="0" tIns="0" rIns="0" bIns="0" rtlCol="0" anchor="ctr"/>
          <a:lstStyle/>
          <a:p>
            <a:pPr indent="0" marL="0">
              <a:buNone/>
            </a:pPr>
            <a:r>
              <a:rPr lang="en-US" sz="1000" b="1" dirty="0">
                <a:solidFill>
                  <a:srgbClr val="00FF88"/>
                </a:solidFill>
                <a:latin typeface="Consolas" pitchFamily="34" charset="0"/>
                <a:ea typeface="Consolas" pitchFamily="34" charset="-122"/>
                <a:cs typeface="Consolas" pitchFamily="34" charset="-120"/>
              </a:rPr>
              <a:t>Strings</a:t>
            </a:r>
            <a:endParaRPr lang="en-US" sz="1000" dirty="0"/>
          </a:p>
        </p:txBody>
      </p:sp>
      <p:sp>
        <p:nvSpPr>
          <p:cNvPr id="27" name="Text 25"/>
          <p:cNvSpPr/>
          <p:nvPr/>
        </p:nvSpPr>
        <p:spPr>
          <a:xfrm>
            <a:off x="3767328" y="3465576"/>
            <a:ext cx="1965960" cy="320040"/>
          </a:xfrm>
          <a:prstGeom prst="rect">
            <a:avLst/>
          </a:prstGeom>
          <a:noFill/>
          <a:ln/>
        </p:spPr>
        <p:txBody>
          <a:bodyPr wrap="square" lIns="0" tIns="0" rIns="0" bIns="0" rtlCol="0" anchor="ctr"/>
          <a:lstStyle/>
          <a:p>
            <a:pPr indent="0" marL="0">
              <a:buNone/>
            </a:pPr>
            <a:r>
              <a:rPr lang="en-US" sz="850" dirty="0">
                <a:solidFill>
                  <a:srgbClr val="E2E8F0"/>
                </a:solidFill>
                <a:latin typeface="Calibri" pitchFamily="34" charset="0"/>
                <a:ea typeface="Calibri" pitchFamily="34" charset="-122"/>
                <a:cs typeface="Calibri" pitchFamily="34" charset="-120"/>
              </a:rPr>
              <a:t>Search strings — find 'S3cr3t!' or error messages</a:t>
            </a:r>
            <a:endParaRPr lang="en-US" sz="850" dirty="0"/>
          </a:p>
        </p:txBody>
      </p:sp>
      <p:sp>
        <p:nvSpPr>
          <p:cNvPr id="28" name="Shape 26"/>
          <p:cNvSpPr/>
          <p:nvPr/>
        </p:nvSpPr>
        <p:spPr>
          <a:xfrm>
            <a:off x="6080760" y="3063240"/>
            <a:ext cx="2651760" cy="804672"/>
          </a:xfrm>
          <a:prstGeom prst="rect">
            <a:avLst/>
          </a:prstGeom>
          <a:solidFill>
            <a:srgbClr val="111827"/>
          </a:solidFill>
          <a:ln w="12700">
            <a:solidFill>
              <a:srgbClr val="FF6B35"/>
            </a:solidFill>
            <a:prstDash val="solid"/>
          </a:ln>
        </p:spPr>
      </p:sp>
      <p:sp>
        <p:nvSpPr>
          <p:cNvPr id="29" name="Shape 27"/>
          <p:cNvSpPr/>
          <p:nvPr/>
        </p:nvSpPr>
        <p:spPr>
          <a:xfrm>
            <a:off x="6172200" y="3236976"/>
            <a:ext cx="365760" cy="365760"/>
          </a:xfrm>
          <a:prstGeom prst="ellipse">
            <a:avLst/>
          </a:prstGeom>
          <a:solidFill>
            <a:srgbClr val="FF6B35"/>
          </a:solidFill>
          <a:ln w="12700">
            <a:solidFill>
              <a:srgbClr val="FF6B35"/>
            </a:solidFill>
            <a:prstDash val="solid"/>
          </a:ln>
        </p:spPr>
      </p:sp>
      <p:sp>
        <p:nvSpPr>
          <p:cNvPr id="30" name="Text 28"/>
          <p:cNvSpPr/>
          <p:nvPr/>
        </p:nvSpPr>
        <p:spPr>
          <a:xfrm>
            <a:off x="6172200" y="3236976"/>
            <a:ext cx="365760" cy="365760"/>
          </a:xfrm>
          <a:prstGeom prst="rect">
            <a:avLst/>
          </a:prstGeom>
          <a:noFill/>
          <a:ln/>
        </p:spPr>
        <p:txBody>
          <a:bodyPr wrap="square" lIns="0" tIns="0" rIns="0" bIns="0" rtlCol="0" anchor="ctr"/>
          <a:lstStyle/>
          <a:p>
            <a:pPr algn="ctr" indent="0" marL="0">
              <a:buNone/>
            </a:pPr>
            <a:r>
              <a:rPr lang="en-US" sz="1100" b="1" dirty="0">
                <a:solidFill>
                  <a:srgbClr val="0A0E1A"/>
                </a:solidFill>
                <a:latin typeface="Consolas" pitchFamily="34" charset="0"/>
                <a:ea typeface="Consolas" pitchFamily="34" charset="-122"/>
                <a:cs typeface="Consolas" pitchFamily="34" charset="-120"/>
              </a:rPr>
              <a:t>3</a:t>
            </a:r>
            <a:endParaRPr lang="en-US" sz="1100" dirty="0"/>
          </a:p>
        </p:txBody>
      </p:sp>
      <p:sp>
        <p:nvSpPr>
          <p:cNvPr id="31" name="Text 29"/>
          <p:cNvSpPr/>
          <p:nvPr/>
        </p:nvSpPr>
        <p:spPr>
          <a:xfrm>
            <a:off x="6647688" y="3154680"/>
            <a:ext cx="1965960" cy="274320"/>
          </a:xfrm>
          <a:prstGeom prst="rect">
            <a:avLst/>
          </a:prstGeom>
          <a:noFill/>
          <a:ln/>
        </p:spPr>
        <p:txBody>
          <a:bodyPr wrap="square" lIns="0" tIns="0" rIns="0" bIns="0" rtlCol="0" anchor="ctr"/>
          <a:lstStyle/>
          <a:p>
            <a:pPr indent="0" marL="0">
              <a:buNone/>
            </a:pPr>
            <a:r>
              <a:rPr lang="en-US" sz="1000" b="1" dirty="0">
                <a:solidFill>
                  <a:srgbClr val="FF6B35"/>
                </a:solidFill>
                <a:latin typeface="Consolas" pitchFamily="34" charset="0"/>
                <a:ea typeface="Consolas" pitchFamily="34" charset="-122"/>
                <a:cs typeface="Consolas" pitchFamily="34" charset="-120"/>
              </a:rPr>
              <a:t>X-Ref</a:t>
            </a:r>
            <a:endParaRPr lang="en-US" sz="1000" dirty="0"/>
          </a:p>
        </p:txBody>
      </p:sp>
      <p:sp>
        <p:nvSpPr>
          <p:cNvPr id="32" name="Text 30"/>
          <p:cNvSpPr/>
          <p:nvPr/>
        </p:nvSpPr>
        <p:spPr>
          <a:xfrm>
            <a:off x="6647688" y="3465576"/>
            <a:ext cx="1965960" cy="320040"/>
          </a:xfrm>
          <a:prstGeom prst="rect">
            <a:avLst/>
          </a:prstGeom>
          <a:noFill/>
          <a:ln/>
        </p:spPr>
        <p:txBody>
          <a:bodyPr wrap="square" lIns="0" tIns="0" rIns="0" bIns="0" rtlCol="0" anchor="ctr"/>
          <a:lstStyle/>
          <a:p>
            <a:pPr indent="0" marL="0">
              <a:buNone/>
            </a:pPr>
            <a:r>
              <a:rPr lang="en-US" sz="850" dirty="0">
                <a:solidFill>
                  <a:srgbClr val="E2E8F0"/>
                </a:solidFill>
                <a:latin typeface="Calibri" pitchFamily="34" charset="0"/>
                <a:ea typeface="Calibri" pitchFamily="34" charset="-122"/>
                <a:cs typeface="Calibri" pitchFamily="34" charset="-120"/>
              </a:rPr>
              <a:t>Find all references to the password string</a:t>
            </a:r>
            <a:endParaRPr lang="en-US" sz="850" dirty="0"/>
          </a:p>
        </p:txBody>
      </p:sp>
      <p:sp>
        <p:nvSpPr>
          <p:cNvPr id="33" name="Shape 31"/>
          <p:cNvSpPr/>
          <p:nvPr/>
        </p:nvSpPr>
        <p:spPr>
          <a:xfrm>
            <a:off x="320040" y="4023360"/>
            <a:ext cx="2651760" cy="804672"/>
          </a:xfrm>
          <a:prstGeom prst="rect">
            <a:avLst/>
          </a:prstGeom>
          <a:solidFill>
            <a:srgbClr val="111827"/>
          </a:solidFill>
          <a:ln w="12700">
            <a:solidFill>
              <a:srgbClr val="FFD700"/>
            </a:solidFill>
            <a:prstDash val="solid"/>
          </a:ln>
        </p:spPr>
      </p:sp>
      <p:sp>
        <p:nvSpPr>
          <p:cNvPr id="34" name="Shape 32"/>
          <p:cNvSpPr/>
          <p:nvPr/>
        </p:nvSpPr>
        <p:spPr>
          <a:xfrm>
            <a:off x="411480" y="4197096"/>
            <a:ext cx="365760" cy="365760"/>
          </a:xfrm>
          <a:prstGeom prst="ellipse">
            <a:avLst/>
          </a:prstGeom>
          <a:solidFill>
            <a:srgbClr val="FFD700"/>
          </a:solidFill>
          <a:ln w="12700">
            <a:solidFill>
              <a:srgbClr val="FFD700"/>
            </a:solidFill>
            <a:prstDash val="solid"/>
          </a:ln>
        </p:spPr>
      </p:sp>
      <p:sp>
        <p:nvSpPr>
          <p:cNvPr id="35" name="Text 33"/>
          <p:cNvSpPr/>
          <p:nvPr/>
        </p:nvSpPr>
        <p:spPr>
          <a:xfrm>
            <a:off x="411480" y="4197096"/>
            <a:ext cx="365760" cy="365760"/>
          </a:xfrm>
          <a:prstGeom prst="rect">
            <a:avLst/>
          </a:prstGeom>
          <a:noFill/>
          <a:ln/>
        </p:spPr>
        <p:txBody>
          <a:bodyPr wrap="square" lIns="0" tIns="0" rIns="0" bIns="0" rtlCol="0" anchor="ctr"/>
          <a:lstStyle/>
          <a:p>
            <a:pPr algn="ctr" indent="0" marL="0">
              <a:buNone/>
            </a:pPr>
            <a:r>
              <a:rPr lang="en-US" sz="1100" b="1" dirty="0">
                <a:solidFill>
                  <a:srgbClr val="0A0E1A"/>
                </a:solidFill>
                <a:latin typeface="Consolas" pitchFamily="34" charset="0"/>
                <a:ea typeface="Consolas" pitchFamily="34" charset="-122"/>
                <a:cs typeface="Consolas" pitchFamily="34" charset="-120"/>
              </a:rPr>
              <a:t>4</a:t>
            </a:r>
            <a:endParaRPr lang="en-US" sz="1100" dirty="0"/>
          </a:p>
        </p:txBody>
      </p:sp>
      <p:sp>
        <p:nvSpPr>
          <p:cNvPr id="36" name="Text 34"/>
          <p:cNvSpPr/>
          <p:nvPr/>
        </p:nvSpPr>
        <p:spPr>
          <a:xfrm>
            <a:off x="886968" y="4114800"/>
            <a:ext cx="1965960" cy="274320"/>
          </a:xfrm>
          <a:prstGeom prst="rect">
            <a:avLst/>
          </a:prstGeom>
          <a:noFill/>
          <a:ln/>
        </p:spPr>
        <p:txBody>
          <a:bodyPr wrap="square" lIns="0" tIns="0" rIns="0" bIns="0" rtlCol="0" anchor="ctr"/>
          <a:lstStyle/>
          <a:p>
            <a:pPr indent="0" marL="0">
              <a:buNone/>
            </a:pPr>
            <a:r>
              <a:rPr lang="en-US" sz="1000" b="1" dirty="0">
                <a:solidFill>
                  <a:srgbClr val="FFD700"/>
                </a:solidFill>
                <a:latin typeface="Consolas" pitchFamily="34" charset="0"/>
                <a:ea typeface="Consolas" pitchFamily="34" charset="-122"/>
                <a:cs typeface="Consolas" pitchFamily="34" charset="-120"/>
              </a:rPr>
              <a:t>Find CMP/JNE</a:t>
            </a:r>
            <a:endParaRPr lang="en-US" sz="1000" dirty="0"/>
          </a:p>
        </p:txBody>
      </p:sp>
      <p:sp>
        <p:nvSpPr>
          <p:cNvPr id="37" name="Text 35"/>
          <p:cNvSpPr/>
          <p:nvPr/>
        </p:nvSpPr>
        <p:spPr>
          <a:xfrm>
            <a:off x="886968" y="4425696"/>
            <a:ext cx="1965960" cy="320040"/>
          </a:xfrm>
          <a:prstGeom prst="rect">
            <a:avLst/>
          </a:prstGeom>
          <a:noFill/>
          <a:ln/>
        </p:spPr>
        <p:txBody>
          <a:bodyPr wrap="square" lIns="0" tIns="0" rIns="0" bIns="0" rtlCol="0" anchor="ctr"/>
          <a:lstStyle/>
          <a:p>
            <a:pPr indent="0" marL="0">
              <a:buNone/>
            </a:pPr>
            <a:r>
              <a:rPr lang="en-US" sz="850" dirty="0">
                <a:solidFill>
                  <a:srgbClr val="E2E8F0"/>
                </a:solidFill>
                <a:latin typeface="Calibri" pitchFamily="34" charset="0"/>
                <a:ea typeface="Calibri" pitchFamily="34" charset="-122"/>
                <a:cs typeface="Calibri" pitchFamily="34" charset="-120"/>
              </a:rPr>
              <a:t>Locate the conditional jump after strcmp</a:t>
            </a:r>
            <a:endParaRPr lang="en-US" sz="850" dirty="0"/>
          </a:p>
        </p:txBody>
      </p:sp>
      <p:sp>
        <p:nvSpPr>
          <p:cNvPr id="38" name="Shape 36"/>
          <p:cNvSpPr/>
          <p:nvPr/>
        </p:nvSpPr>
        <p:spPr>
          <a:xfrm>
            <a:off x="3200400" y="4023360"/>
            <a:ext cx="2651760" cy="804672"/>
          </a:xfrm>
          <a:prstGeom prst="rect">
            <a:avLst/>
          </a:prstGeom>
          <a:solidFill>
            <a:srgbClr val="111827"/>
          </a:solidFill>
          <a:ln w="12700">
            <a:solidFill>
              <a:srgbClr val="A855F7"/>
            </a:solidFill>
            <a:prstDash val="solid"/>
          </a:ln>
        </p:spPr>
      </p:sp>
      <p:sp>
        <p:nvSpPr>
          <p:cNvPr id="39" name="Shape 37"/>
          <p:cNvSpPr/>
          <p:nvPr/>
        </p:nvSpPr>
        <p:spPr>
          <a:xfrm>
            <a:off x="3291840" y="4197096"/>
            <a:ext cx="365760" cy="365760"/>
          </a:xfrm>
          <a:prstGeom prst="ellipse">
            <a:avLst/>
          </a:prstGeom>
          <a:solidFill>
            <a:srgbClr val="A855F7"/>
          </a:solidFill>
          <a:ln w="12700">
            <a:solidFill>
              <a:srgbClr val="A855F7"/>
            </a:solidFill>
            <a:prstDash val="solid"/>
          </a:ln>
        </p:spPr>
      </p:sp>
      <p:sp>
        <p:nvSpPr>
          <p:cNvPr id="40" name="Text 38"/>
          <p:cNvSpPr/>
          <p:nvPr/>
        </p:nvSpPr>
        <p:spPr>
          <a:xfrm>
            <a:off x="3291840" y="4197096"/>
            <a:ext cx="365760" cy="365760"/>
          </a:xfrm>
          <a:prstGeom prst="rect">
            <a:avLst/>
          </a:prstGeom>
          <a:noFill/>
          <a:ln/>
        </p:spPr>
        <p:txBody>
          <a:bodyPr wrap="square" lIns="0" tIns="0" rIns="0" bIns="0" rtlCol="0" anchor="ctr"/>
          <a:lstStyle/>
          <a:p>
            <a:pPr algn="ctr" indent="0" marL="0">
              <a:buNone/>
            </a:pPr>
            <a:r>
              <a:rPr lang="en-US" sz="1100" b="1" dirty="0">
                <a:solidFill>
                  <a:srgbClr val="0A0E1A"/>
                </a:solidFill>
                <a:latin typeface="Consolas" pitchFamily="34" charset="0"/>
                <a:ea typeface="Consolas" pitchFamily="34" charset="-122"/>
                <a:cs typeface="Consolas" pitchFamily="34" charset="-120"/>
              </a:rPr>
              <a:t>5</a:t>
            </a:r>
            <a:endParaRPr lang="en-US" sz="1100" dirty="0"/>
          </a:p>
        </p:txBody>
      </p:sp>
      <p:sp>
        <p:nvSpPr>
          <p:cNvPr id="41" name="Text 39"/>
          <p:cNvSpPr/>
          <p:nvPr/>
        </p:nvSpPr>
        <p:spPr>
          <a:xfrm>
            <a:off x="3767328" y="4114800"/>
            <a:ext cx="1965960" cy="274320"/>
          </a:xfrm>
          <a:prstGeom prst="rect">
            <a:avLst/>
          </a:prstGeom>
          <a:noFill/>
          <a:ln/>
        </p:spPr>
        <p:txBody>
          <a:bodyPr wrap="square" lIns="0" tIns="0" rIns="0" bIns="0" rtlCol="0" anchor="ctr"/>
          <a:lstStyle/>
          <a:p>
            <a:pPr indent="0" marL="0">
              <a:buNone/>
            </a:pPr>
            <a:r>
              <a:rPr lang="en-US" sz="1000" b="1" dirty="0">
                <a:solidFill>
                  <a:srgbClr val="A855F7"/>
                </a:solidFill>
                <a:latin typeface="Consolas" pitchFamily="34" charset="0"/>
                <a:ea typeface="Consolas" pitchFamily="34" charset="-122"/>
                <a:cs typeface="Consolas" pitchFamily="34" charset="-120"/>
              </a:rPr>
              <a:t>Patch</a:t>
            </a:r>
            <a:endParaRPr lang="en-US" sz="1000" dirty="0"/>
          </a:p>
        </p:txBody>
      </p:sp>
      <p:sp>
        <p:nvSpPr>
          <p:cNvPr id="42" name="Text 40"/>
          <p:cNvSpPr/>
          <p:nvPr/>
        </p:nvSpPr>
        <p:spPr>
          <a:xfrm>
            <a:off x="3767328" y="4425696"/>
            <a:ext cx="1965960" cy="320040"/>
          </a:xfrm>
          <a:prstGeom prst="rect">
            <a:avLst/>
          </a:prstGeom>
          <a:noFill/>
          <a:ln/>
        </p:spPr>
        <p:txBody>
          <a:bodyPr wrap="square" lIns="0" tIns="0" rIns="0" bIns="0" rtlCol="0" anchor="ctr"/>
          <a:lstStyle/>
          <a:p>
            <a:pPr indent="0" marL="0">
              <a:buNone/>
            </a:pPr>
            <a:r>
              <a:rPr lang="en-US" sz="850" dirty="0">
                <a:solidFill>
                  <a:srgbClr val="E2E8F0"/>
                </a:solidFill>
                <a:latin typeface="Calibri" pitchFamily="34" charset="0"/>
                <a:ea typeface="Calibri" pitchFamily="34" charset="-122"/>
                <a:cs typeface="Calibri" pitchFamily="34" charset="-120"/>
              </a:rPr>
              <a:t>Change JNE (75) to JE (74) — flip the condition</a:t>
            </a:r>
            <a:endParaRPr lang="en-US" sz="850" dirty="0"/>
          </a:p>
        </p:txBody>
      </p:sp>
      <p:sp>
        <p:nvSpPr>
          <p:cNvPr id="43" name="Shape 41"/>
          <p:cNvSpPr/>
          <p:nvPr/>
        </p:nvSpPr>
        <p:spPr>
          <a:xfrm>
            <a:off x="6080760" y="4023360"/>
            <a:ext cx="2651760" cy="804672"/>
          </a:xfrm>
          <a:prstGeom prst="rect">
            <a:avLst/>
          </a:prstGeom>
          <a:solidFill>
            <a:srgbClr val="111827"/>
          </a:solidFill>
          <a:ln w="12700">
            <a:solidFill>
              <a:srgbClr val="FF3355"/>
            </a:solidFill>
            <a:prstDash val="solid"/>
          </a:ln>
        </p:spPr>
      </p:sp>
      <p:sp>
        <p:nvSpPr>
          <p:cNvPr id="44" name="Shape 42"/>
          <p:cNvSpPr/>
          <p:nvPr/>
        </p:nvSpPr>
        <p:spPr>
          <a:xfrm>
            <a:off x="6172200" y="4197096"/>
            <a:ext cx="365760" cy="365760"/>
          </a:xfrm>
          <a:prstGeom prst="ellipse">
            <a:avLst/>
          </a:prstGeom>
          <a:solidFill>
            <a:srgbClr val="FF3355"/>
          </a:solidFill>
          <a:ln w="12700">
            <a:solidFill>
              <a:srgbClr val="FF3355"/>
            </a:solidFill>
            <a:prstDash val="solid"/>
          </a:ln>
        </p:spPr>
      </p:sp>
      <p:sp>
        <p:nvSpPr>
          <p:cNvPr id="45" name="Text 43"/>
          <p:cNvSpPr/>
          <p:nvPr/>
        </p:nvSpPr>
        <p:spPr>
          <a:xfrm>
            <a:off x="6172200" y="4197096"/>
            <a:ext cx="365760" cy="365760"/>
          </a:xfrm>
          <a:prstGeom prst="rect">
            <a:avLst/>
          </a:prstGeom>
          <a:noFill/>
          <a:ln/>
        </p:spPr>
        <p:txBody>
          <a:bodyPr wrap="square" lIns="0" tIns="0" rIns="0" bIns="0" rtlCol="0" anchor="ctr"/>
          <a:lstStyle/>
          <a:p>
            <a:pPr algn="ctr" indent="0" marL="0">
              <a:buNone/>
            </a:pPr>
            <a:r>
              <a:rPr lang="en-US" sz="1100" b="1" dirty="0">
                <a:solidFill>
                  <a:srgbClr val="0A0E1A"/>
                </a:solidFill>
                <a:latin typeface="Consolas" pitchFamily="34" charset="0"/>
                <a:ea typeface="Consolas" pitchFamily="34" charset="-122"/>
                <a:cs typeface="Consolas" pitchFamily="34" charset="-120"/>
              </a:rPr>
              <a:t>6</a:t>
            </a:r>
            <a:endParaRPr lang="en-US" sz="1100" dirty="0"/>
          </a:p>
        </p:txBody>
      </p:sp>
      <p:sp>
        <p:nvSpPr>
          <p:cNvPr id="46" name="Text 44"/>
          <p:cNvSpPr/>
          <p:nvPr/>
        </p:nvSpPr>
        <p:spPr>
          <a:xfrm>
            <a:off x="6647688" y="4114800"/>
            <a:ext cx="1965960" cy="274320"/>
          </a:xfrm>
          <a:prstGeom prst="rect">
            <a:avLst/>
          </a:prstGeom>
          <a:noFill/>
          <a:ln/>
        </p:spPr>
        <p:txBody>
          <a:bodyPr wrap="square" lIns="0" tIns="0" rIns="0" bIns="0" rtlCol="0" anchor="ctr"/>
          <a:lstStyle/>
          <a:p>
            <a:pPr indent="0" marL="0">
              <a:buNone/>
            </a:pPr>
            <a:r>
              <a:rPr lang="en-US" sz="1000" b="1" dirty="0">
                <a:solidFill>
                  <a:srgbClr val="FF3355"/>
                </a:solidFill>
                <a:latin typeface="Consolas" pitchFamily="34" charset="0"/>
                <a:ea typeface="Consolas" pitchFamily="34" charset="-122"/>
                <a:cs typeface="Consolas" pitchFamily="34" charset="-120"/>
              </a:rPr>
              <a:t>Test</a:t>
            </a:r>
            <a:endParaRPr lang="en-US" sz="1000" dirty="0"/>
          </a:p>
        </p:txBody>
      </p:sp>
      <p:sp>
        <p:nvSpPr>
          <p:cNvPr id="47" name="Text 45"/>
          <p:cNvSpPr/>
          <p:nvPr/>
        </p:nvSpPr>
        <p:spPr>
          <a:xfrm>
            <a:off x="6647688" y="4425696"/>
            <a:ext cx="1965960" cy="320040"/>
          </a:xfrm>
          <a:prstGeom prst="rect">
            <a:avLst/>
          </a:prstGeom>
          <a:noFill/>
          <a:ln/>
        </p:spPr>
        <p:txBody>
          <a:bodyPr wrap="square" lIns="0" tIns="0" rIns="0" bIns="0" rtlCol="0" anchor="ctr"/>
          <a:lstStyle/>
          <a:p>
            <a:pPr indent="0" marL="0">
              <a:buNone/>
            </a:pPr>
            <a:r>
              <a:rPr lang="en-US" sz="850" dirty="0">
                <a:solidFill>
                  <a:srgbClr val="E2E8F0"/>
                </a:solidFill>
                <a:latin typeface="Calibri" pitchFamily="34" charset="0"/>
                <a:ea typeface="Calibri" pitchFamily="34" charset="-122"/>
                <a:cs typeface="Calibri" pitchFamily="34" charset="-120"/>
              </a:rPr>
              <a:t>Run patched binary — any password grants access</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3200400" cy="5143500"/>
          </a:xfrm>
          <a:prstGeom prst="rect">
            <a:avLst/>
          </a:prstGeom>
          <a:solidFill>
            <a:srgbClr val="111827"/>
          </a:solidFill>
          <a:ln w="12700">
            <a:solidFill>
              <a:srgbClr val="111827"/>
            </a:solidFill>
            <a:prstDash val="solid"/>
          </a:ln>
        </p:spPr>
      </p:sp>
      <p:sp>
        <p:nvSpPr>
          <p:cNvPr id="3" name="Shape 1"/>
          <p:cNvSpPr/>
          <p:nvPr/>
        </p:nvSpPr>
        <p:spPr>
          <a:xfrm>
            <a:off x="3163824" y="0"/>
            <a:ext cx="36576" cy="5143500"/>
          </a:xfrm>
          <a:prstGeom prst="rect">
            <a:avLst/>
          </a:prstGeom>
          <a:solidFill>
            <a:srgbClr val="FF3355"/>
          </a:solidFill>
          <a:ln w="12700">
            <a:solidFill>
              <a:srgbClr val="FF3355"/>
            </a:solidFill>
            <a:prstDash val="solid"/>
          </a:ln>
        </p:spPr>
      </p:sp>
      <p:sp>
        <p:nvSpPr>
          <p:cNvPr id="4" name="Text 2"/>
          <p:cNvSpPr/>
          <p:nvPr/>
        </p:nvSpPr>
        <p:spPr>
          <a:xfrm>
            <a:off x="274320" y="365760"/>
            <a:ext cx="2560320" cy="365760"/>
          </a:xfrm>
          <a:prstGeom prst="rect">
            <a:avLst/>
          </a:prstGeom>
          <a:noFill/>
          <a:ln/>
        </p:spPr>
        <p:txBody>
          <a:bodyPr wrap="square" lIns="0" tIns="0" rIns="0" bIns="0" rtlCol="0" anchor="ctr"/>
          <a:lstStyle/>
          <a:p>
            <a:pPr indent="0" marL="0">
              <a:buNone/>
            </a:pPr>
            <a:r>
              <a:rPr lang="en-US" sz="1000" spc="400" kern="0" dirty="0">
                <a:solidFill>
                  <a:srgbClr val="8B9BB4"/>
                </a:solidFill>
                <a:latin typeface="Consolas" pitchFamily="34" charset="0"/>
                <a:ea typeface="Consolas" pitchFamily="34" charset="-122"/>
                <a:cs typeface="Consolas" pitchFamily="34" charset="-120"/>
              </a:rPr>
              <a:t>SECTION 10</a:t>
            </a:r>
            <a:endParaRPr lang="en-US" sz="1000" dirty="0"/>
          </a:p>
        </p:txBody>
      </p:sp>
      <p:sp>
        <p:nvSpPr>
          <p:cNvPr id="5" name="Text 3"/>
          <p:cNvSpPr/>
          <p:nvPr/>
        </p:nvSpPr>
        <p:spPr>
          <a:xfrm>
            <a:off x="274320" y="731520"/>
            <a:ext cx="2560320" cy="1645920"/>
          </a:xfrm>
          <a:prstGeom prst="rect">
            <a:avLst/>
          </a:prstGeom>
          <a:noFill/>
          <a:ln/>
        </p:spPr>
        <p:txBody>
          <a:bodyPr wrap="square" lIns="0" tIns="0" rIns="0" bIns="0" rtlCol="0" anchor="ctr"/>
          <a:lstStyle/>
          <a:p>
            <a:pPr indent="0" marL="0">
              <a:buNone/>
            </a:pPr>
            <a:r>
              <a:rPr lang="en-US" sz="10000" b="1" dirty="0">
                <a:solidFill>
                  <a:srgbClr val="FF3355">
                    <a:alpha val="90000"/>
                  </a:srgbClr>
                </a:solidFill>
                <a:latin typeface="Consolas" pitchFamily="34" charset="0"/>
                <a:ea typeface="Consolas" pitchFamily="34" charset="-122"/>
                <a:cs typeface="Consolas" pitchFamily="34" charset="-120"/>
              </a:rPr>
              <a:t>10</a:t>
            </a:r>
            <a:endParaRPr lang="en-US" sz="10000" dirty="0"/>
          </a:p>
        </p:txBody>
      </p:sp>
      <p:pic>
        <p:nvPicPr>
          <p:cNvPr id="6" name="Image 0" descr="preencoded.png">    </p:cNvPr>
          <p:cNvPicPr>
            <a:picLocks noChangeAspect="1"/>
          </p:cNvPicPr>
          <p:nvPr/>
        </p:nvPicPr>
        <p:blipFill>
          <a:blip r:embed="rId1"/>
          <a:stretch>
            <a:fillRect/>
          </a:stretch>
        </p:blipFill>
        <p:spPr>
          <a:xfrm>
            <a:off x="822960" y="2926080"/>
            <a:ext cx="1463040" cy="1463040"/>
          </a:xfrm>
          <a:prstGeom prst="rect">
            <a:avLst/>
          </a:prstGeom>
        </p:spPr>
      </p:pic>
      <p:sp>
        <p:nvSpPr>
          <p:cNvPr id="7" name="Text 4"/>
          <p:cNvSpPr/>
          <p:nvPr/>
        </p:nvSpPr>
        <p:spPr>
          <a:xfrm>
            <a:off x="3474720" y="1463040"/>
            <a:ext cx="5394960" cy="1371600"/>
          </a:xfrm>
          <a:prstGeom prst="rect">
            <a:avLst/>
          </a:prstGeom>
          <a:noFill/>
          <a:ln/>
        </p:spPr>
        <p:txBody>
          <a:bodyPr wrap="square" lIns="0" tIns="0" rIns="0" bIns="0" rtlCol="0" anchor="ctr"/>
          <a:lstStyle/>
          <a:p>
            <a:pPr indent="0" marL="0">
              <a:buNone/>
            </a:pPr>
            <a:r>
              <a:rPr lang="en-US" sz="3600" b="1" dirty="0">
                <a:solidFill>
                  <a:srgbClr val="FFFFFF"/>
                </a:solidFill>
                <a:latin typeface="Consolas" pitchFamily="34" charset="0"/>
                <a:ea typeface="Consolas" pitchFamily="34" charset="-122"/>
                <a:cs typeface="Consolas" pitchFamily="34" charset="-120"/>
              </a:rPr>
              <a:t>Malware Analysis Intro</a:t>
            </a:r>
            <a:endParaRPr lang="en-US" sz="3600" dirty="0"/>
          </a:p>
        </p:txBody>
      </p:sp>
      <p:sp>
        <p:nvSpPr>
          <p:cNvPr id="8" name="Text 5"/>
          <p:cNvSpPr/>
          <p:nvPr/>
        </p:nvSpPr>
        <p:spPr>
          <a:xfrm>
            <a:off x="3474720" y="2926080"/>
            <a:ext cx="5394960" cy="1097280"/>
          </a:xfrm>
          <a:prstGeom prst="rect">
            <a:avLst/>
          </a:prstGeom>
          <a:noFill/>
          <a:ln/>
        </p:spPr>
        <p:txBody>
          <a:bodyPr wrap="square" lIns="0" tIns="0" rIns="0" bIns="0" rtlCol="0" anchor="ctr"/>
          <a:lstStyle/>
          <a:p>
            <a:pPr indent="0" marL="0">
              <a:buNone/>
            </a:pPr>
            <a:r>
              <a:rPr lang="en-US" sz="1400" dirty="0">
                <a:solidFill>
                  <a:srgbClr val="8B9BB4"/>
                </a:solidFill>
                <a:latin typeface="Calibri" pitchFamily="34" charset="0"/>
                <a:ea typeface="Calibri" pitchFamily="34" charset="-122"/>
                <a:cs typeface="Calibri" pitchFamily="34" charset="-120"/>
              </a:rPr>
              <a:t>Safe analysis principles, sandboxes, and IOCs.</a:t>
            </a:r>
            <a:endParaRPr lang="en-US" sz="1400" dirty="0"/>
          </a:p>
        </p:txBody>
      </p:sp>
      <p:sp>
        <p:nvSpPr>
          <p:cNvPr id="9" name="Shape 6"/>
          <p:cNvSpPr/>
          <p:nvPr/>
        </p:nvSpPr>
        <p:spPr>
          <a:xfrm>
            <a:off x="3474720" y="4297680"/>
            <a:ext cx="91440" cy="91440"/>
          </a:xfrm>
          <a:prstGeom prst="ellipse">
            <a:avLst/>
          </a:prstGeom>
          <a:solidFill>
            <a:srgbClr val="FF3355"/>
          </a:solidFill>
          <a:ln w="12700">
            <a:solidFill>
              <a:srgbClr val="FF3355"/>
            </a:solidFill>
            <a:prstDash val="solid"/>
          </a:ln>
        </p:spPr>
      </p:sp>
      <p:sp>
        <p:nvSpPr>
          <p:cNvPr id="10" name="Shape 7"/>
          <p:cNvSpPr/>
          <p:nvPr/>
        </p:nvSpPr>
        <p:spPr>
          <a:xfrm>
            <a:off x="3794760" y="4297680"/>
            <a:ext cx="91440" cy="91440"/>
          </a:xfrm>
          <a:prstGeom prst="ellipse">
            <a:avLst/>
          </a:prstGeom>
          <a:solidFill>
            <a:srgbClr val="FF3355">
              <a:alpha val="85000"/>
            </a:srgbClr>
          </a:solidFill>
          <a:ln w="12700">
            <a:solidFill>
              <a:srgbClr val="FF3355">
                <a:alpha val="85000"/>
              </a:srgbClr>
            </a:solidFill>
            <a:prstDash val="solid"/>
          </a:ln>
        </p:spPr>
      </p:sp>
      <p:sp>
        <p:nvSpPr>
          <p:cNvPr id="11" name="Shape 8"/>
          <p:cNvSpPr/>
          <p:nvPr/>
        </p:nvSpPr>
        <p:spPr>
          <a:xfrm>
            <a:off x="4114800" y="4297680"/>
            <a:ext cx="91440" cy="91440"/>
          </a:xfrm>
          <a:prstGeom prst="ellipse">
            <a:avLst/>
          </a:prstGeom>
          <a:solidFill>
            <a:srgbClr val="FF3355">
              <a:alpha val="70000"/>
            </a:srgbClr>
          </a:solidFill>
          <a:ln w="12700">
            <a:solidFill>
              <a:srgbClr val="FF3355">
                <a:alpha val="70000"/>
              </a:srgbClr>
            </a:solidFill>
            <a:prstDash val="solid"/>
          </a:ln>
        </p:spPr>
      </p:sp>
      <p:sp>
        <p:nvSpPr>
          <p:cNvPr id="12" name="Shape 9"/>
          <p:cNvSpPr/>
          <p:nvPr/>
        </p:nvSpPr>
        <p:spPr>
          <a:xfrm>
            <a:off x="4434840" y="4297680"/>
            <a:ext cx="91440" cy="91440"/>
          </a:xfrm>
          <a:prstGeom prst="ellipse">
            <a:avLst/>
          </a:prstGeom>
          <a:solidFill>
            <a:srgbClr val="FF3355">
              <a:alpha val="55000"/>
            </a:srgbClr>
          </a:solidFill>
          <a:ln w="12700">
            <a:solidFill>
              <a:srgbClr val="FF3355">
                <a:alpha val="55000"/>
              </a:srgbClr>
            </a:solidFill>
            <a:prstDash val="solid"/>
          </a:ln>
        </p:spPr>
      </p:sp>
      <p:sp>
        <p:nvSpPr>
          <p:cNvPr id="13" name="Shape 10"/>
          <p:cNvSpPr/>
          <p:nvPr/>
        </p:nvSpPr>
        <p:spPr>
          <a:xfrm>
            <a:off x="4754880" y="4297680"/>
            <a:ext cx="91440" cy="91440"/>
          </a:xfrm>
          <a:prstGeom prst="ellipse">
            <a:avLst/>
          </a:prstGeom>
          <a:solidFill>
            <a:srgbClr val="FF3355">
              <a:alpha val="40000"/>
            </a:srgbClr>
          </a:solidFill>
          <a:ln w="12700">
            <a:solidFill>
              <a:srgbClr val="FF3355">
                <a:alpha val="40000"/>
              </a:srgbClr>
            </a:solidFill>
            <a:prstDash val="solid"/>
          </a:ln>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164592" y="164592"/>
            <a:ext cx="365760" cy="45720"/>
          </a:xfrm>
          <a:prstGeom prst="rect">
            <a:avLst/>
          </a:prstGeom>
          <a:solidFill>
            <a:srgbClr val="00FF88"/>
          </a:solidFill>
          <a:ln w="12700">
            <a:solidFill>
              <a:srgbClr val="00FF88"/>
            </a:solidFill>
            <a:prstDash val="solid"/>
          </a:ln>
        </p:spPr>
      </p:sp>
      <p:sp>
        <p:nvSpPr>
          <p:cNvPr id="3" name="Shape 1"/>
          <p:cNvSpPr/>
          <p:nvPr/>
        </p:nvSpPr>
        <p:spPr>
          <a:xfrm>
            <a:off x="164592" y="164592"/>
            <a:ext cx="45720" cy="274320"/>
          </a:xfrm>
          <a:prstGeom prst="rect">
            <a:avLst/>
          </a:prstGeom>
          <a:solidFill>
            <a:srgbClr val="00FF88"/>
          </a:solidFill>
          <a:ln w="12700">
            <a:solidFill>
              <a:srgbClr val="00FF88"/>
            </a:solidFill>
            <a:prstDash val="solid"/>
          </a:ln>
        </p:spPr>
      </p:sp>
      <p:sp>
        <p:nvSpPr>
          <p:cNvPr id="4" name="Shape 2"/>
          <p:cNvSpPr/>
          <p:nvPr/>
        </p:nvSpPr>
        <p:spPr>
          <a:xfrm>
            <a:off x="8613648" y="4910328"/>
            <a:ext cx="365760" cy="45720"/>
          </a:xfrm>
          <a:prstGeom prst="rect">
            <a:avLst/>
          </a:prstGeom>
          <a:solidFill>
            <a:srgbClr val="00D4FF"/>
          </a:solidFill>
          <a:ln w="12700">
            <a:solidFill>
              <a:srgbClr val="00D4FF"/>
            </a:solidFill>
            <a:prstDash val="solid"/>
          </a:ln>
        </p:spPr>
      </p:sp>
      <p:sp>
        <p:nvSpPr>
          <p:cNvPr id="5" name="Shape 3"/>
          <p:cNvSpPr/>
          <p:nvPr/>
        </p:nvSpPr>
        <p:spPr>
          <a:xfrm>
            <a:off x="8933688" y="4681728"/>
            <a:ext cx="45720" cy="274320"/>
          </a:xfrm>
          <a:prstGeom prst="rect">
            <a:avLst/>
          </a:prstGeom>
          <a:solidFill>
            <a:srgbClr val="00D4FF"/>
          </a:solidFill>
          <a:ln w="12700">
            <a:solidFill>
              <a:srgbClr val="00D4FF"/>
            </a:solidFill>
            <a:prstDash val="solid"/>
          </a:ln>
        </p:spPr>
      </p:sp>
      <p:sp>
        <p:nvSpPr>
          <p:cNvPr id="6" name="Shape 4"/>
          <p:cNvSpPr/>
          <p:nvPr/>
        </p:nvSpPr>
        <p:spPr>
          <a:xfrm>
            <a:off x="411480" y="201168"/>
            <a:ext cx="2377440" cy="256032"/>
          </a:xfrm>
          <a:prstGeom prst="rect">
            <a:avLst/>
          </a:prstGeom>
          <a:solidFill>
            <a:srgbClr val="FF3355"/>
          </a:solidFill>
          <a:ln w="12700">
            <a:solidFill>
              <a:srgbClr val="FF3355"/>
            </a:solidFill>
            <a:prstDash val="solid"/>
          </a:ln>
        </p:spPr>
      </p:sp>
      <p:sp>
        <p:nvSpPr>
          <p:cNvPr id="7" name="Text 5"/>
          <p:cNvSpPr/>
          <p:nvPr/>
        </p:nvSpPr>
        <p:spPr>
          <a:xfrm>
            <a:off x="411480" y="201168"/>
            <a:ext cx="2377440" cy="256032"/>
          </a:xfrm>
          <a:prstGeom prst="rect">
            <a:avLst/>
          </a:prstGeom>
          <a:noFill/>
          <a:ln/>
        </p:spPr>
        <p:txBody>
          <a:bodyPr wrap="square" lIns="0" tIns="0" rIns="0" bIns="0" rtlCol="0" anchor="ctr"/>
          <a:lstStyle/>
          <a:p>
            <a:pPr algn="ctr" indent="0" marL="0">
              <a:buNone/>
            </a:pPr>
            <a:r>
              <a:rPr lang="en-US" sz="900" b="1" dirty="0">
                <a:solidFill>
                  <a:srgbClr val="0A0E1A"/>
                </a:solidFill>
                <a:latin typeface="Consolas" pitchFamily="34" charset="0"/>
                <a:ea typeface="Consolas" pitchFamily="34" charset="-122"/>
                <a:cs typeface="Consolas" pitchFamily="34" charset="-120"/>
              </a:rPr>
              <a:t>SECTION 10 · MALWARE</a:t>
            </a:r>
            <a:endParaRPr lang="en-US" sz="900" dirty="0"/>
          </a:p>
        </p:txBody>
      </p:sp>
      <p:sp>
        <p:nvSpPr>
          <p:cNvPr id="8" name="Text 6"/>
          <p:cNvSpPr/>
          <p:nvPr/>
        </p:nvSpPr>
        <p:spPr>
          <a:xfrm>
            <a:off x="411480" y="530352"/>
            <a:ext cx="8321040" cy="594360"/>
          </a:xfrm>
          <a:prstGeom prst="rect">
            <a:avLst/>
          </a:prstGeom>
          <a:noFill/>
          <a:ln/>
        </p:spPr>
        <p:txBody>
          <a:bodyPr wrap="square" lIns="0" tIns="0" rIns="0" bIns="0" rtlCol="0" anchor="ctr"/>
          <a:lstStyle/>
          <a:p>
            <a:pPr algn="l" indent="0" marL="0">
              <a:buNone/>
            </a:pPr>
            <a:r>
              <a:rPr lang="en-US" sz="2800" b="1" dirty="0">
                <a:solidFill>
                  <a:srgbClr val="FF3355"/>
                </a:solidFill>
                <a:latin typeface="Consolas" pitchFamily="34" charset="0"/>
                <a:ea typeface="Consolas" pitchFamily="34" charset="-122"/>
                <a:cs typeface="Consolas" pitchFamily="34" charset="-120"/>
              </a:rPr>
              <a:t>Safe Malware Analysis</a:t>
            </a:r>
            <a:endParaRPr lang="en-US" sz="2800" dirty="0"/>
          </a:p>
        </p:txBody>
      </p:sp>
      <p:sp>
        <p:nvSpPr>
          <p:cNvPr id="9" name="Text 7"/>
          <p:cNvSpPr/>
          <p:nvPr/>
        </p:nvSpPr>
        <p:spPr>
          <a:xfrm>
            <a:off x="411480" y="1051560"/>
            <a:ext cx="8321040" cy="320040"/>
          </a:xfrm>
          <a:prstGeom prst="rect">
            <a:avLst/>
          </a:prstGeom>
          <a:noFill/>
          <a:ln/>
        </p:spPr>
        <p:txBody>
          <a:bodyPr wrap="square" lIns="0" tIns="0" rIns="0" bIns="0" rtlCol="0" anchor="ctr"/>
          <a:lstStyle/>
          <a:p>
            <a:pPr algn="l" indent="0" marL="0">
              <a:buNone/>
            </a:pPr>
            <a:r>
              <a:rPr lang="en-US" sz="1300" dirty="0">
                <a:solidFill>
                  <a:srgbClr val="8B9BB4"/>
                </a:solidFill>
                <a:latin typeface="Calibri" pitchFamily="34" charset="0"/>
                <a:ea typeface="Calibri" pitchFamily="34" charset="-122"/>
                <a:cs typeface="Calibri" pitchFamily="34" charset="-120"/>
              </a:rPr>
              <a:t>Always analyze in an isolated environment — never on your host machine.</a:t>
            </a:r>
            <a:endParaRPr lang="en-US" sz="1300" dirty="0"/>
          </a:p>
        </p:txBody>
      </p:sp>
      <p:sp>
        <p:nvSpPr>
          <p:cNvPr id="10" name="Text 8"/>
          <p:cNvSpPr/>
          <p:nvPr/>
        </p:nvSpPr>
        <p:spPr>
          <a:xfrm>
            <a:off x="8686800" y="4754880"/>
            <a:ext cx="365760" cy="228600"/>
          </a:xfrm>
          <a:prstGeom prst="rect">
            <a:avLst/>
          </a:prstGeom>
          <a:noFill/>
          <a:ln/>
        </p:spPr>
        <p:txBody>
          <a:bodyPr wrap="square" lIns="0" tIns="0" rIns="0" bIns="0" rtlCol="0" anchor="ctr"/>
          <a:lstStyle/>
          <a:p>
            <a:pPr algn="r" indent="0" marL="0">
              <a:buNone/>
            </a:pPr>
            <a:r>
              <a:rPr lang="en-US" sz="900" dirty="0">
                <a:solidFill>
                  <a:srgbClr val="8B9BB4"/>
                </a:solidFill>
                <a:latin typeface="Consolas" pitchFamily="34" charset="0"/>
                <a:ea typeface="Consolas" pitchFamily="34" charset="-122"/>
                <a:cs typeface="Consolas" pitchFamily="34" charset="-120"/>
              </a:rPr>
              <a:t>24</a:t>
            </a:r>
            <a:endParaRPr lang="en-US" sz="900" dirty="0"/>
          </a:p>
        </p:txBody>
      </p:sp>
      <p:sp>
        <p:nvSpPr>
          <p:cNvPr id="11" name="Shape 9"/>
          <p:cNvSpPr/>
          <p:nvPr/>
        </p:nvSpPr>
        <p:spPr>
          <a:xfrm>
            <a:off x="320040" y="1234440"/>
            <a:ext cx="8503920" cy="548640"/>
          </a:xfrm>
          <a:prstGeom prst="rect">
            <a:avLst/>
          </a:prstGeom>
          <a:solidFill>
            <a:srgbClr val="1A0000"/>
          </a:solidFill>
          <a:ln w="12700">
            <a:solidFill>
              <a:srgbClr val="FF3355"/>
            </a:solidFill>
            <a:prstDash val="solid"/>
          </a:ln>
        </p:spPr>
      </p:sp>
      <p:sp>
        <p:nvSpPr>
          <p:cNvPr id="12" name="Text 10"/>
          <p:cNvSpPr/>
          <p:nvPr/>
        </p:nvSpPr>
        <p:spPr>
          <a:xfrm>
            <a:off x="457200" y="1234440"/>
            <a:ext cx="8229600" cy="548640"/>
          </a:xfrm>
          <a:prstGeom prst="rect">
            <a:avLst/>
          </a:prstGeom>
          <a:noFill/>
          <a:ln/>
        </p:spPr>
        <p:txBody>
          <a:bodyPr wrap="square" lIns="0" tIns="0" rIns="0" bIns="0" rtlCol="0" anchor="ctr"/>
          <a:lstStyle/>
          <a:p>
            <a:pPr indent="0" marL="0">
              <a:buNone/>
            </a:pPr>
            <a:r>
              <a:rPr lang="en-US" sz="1100" b="1" dirty="0">
                <a:solidFill>
                  <a:srgbClr val="FF3355"/>
                </a:solidFill>
                <a:latin typeface="Calibri" pitchFamily="34" charset="0"/>
                <a:ea typeface="Calibri" pitchFamily="34" charset="-122"/>
                <a:cs typeface="Calibri" pitchFamily="34" charset="-120"/>
              </a:rPr>
              <a:t>🔴  RULE #1: ALWAYS analyze malware inside a sandboxed, isolated Virtual Machine. Take a snapshot BEFORE execution.</a:t>
            </a:r>
            <a:endParaRPr lang="en-US" sz="1100" dirty="0"/>
          </a:p>
        </p:txBody>
      </p:sp>
      <p:sp>
        <p:nvSpPr>
          <p:cNvPr id="13" name="Shape 11"/>
          <p:cNvSpPr/>
          <p:nvPr/>
        </p:nvSpPr>
        <p:spPr>
          <a:xfrm>
            <a:off x="320040" y="1920240"/>
            <a:ext cx="2651760" cy="2971800"/>
          </a:xfrm>
          <a:prstGeom prst="rect">
            <a:avLst/>
          </a:prstGeom>
          <a:solidFill>
            <a:srgbClr val="111827"/>
          </a:solidFill>
          <a:ln w="12700">
            <a:solidFill>
              <a:srgbClr val="00D4FF"/>
            </a:solidFill>
            <a:prstDash val="solid"/>
          </a:ln>
        </p:spPr>
      </p:sp>
      <p:sp>
        <p:nvSpPr>
          <p:cNvPr id="14" name="Shape 12"/>
          <p:cNvSpPr/>
          <p:nvPr/>
        </p:nvSpPr>
        <p:spPr>
          <a:xfrm>
            <a:off x="320040" y="1920240"/>
            <a:ext cx="2651760" cy="347472"/>
          </a:xfrm>
          <a:prstGeom prst="rect">
            <a:avLst/>
          </a:prstGeom>
          <a:solidFill>
            <a:srgbClr val="00D4FF">
              <a:alpha val="20000"/>
            </a:srgbClr>
          </a:solidFill>
          <a:ln w="12700">
            <a:solidFill>
              <a:srgbClr val="00D4FF">
                <a:alpha val="20000"/>
              </a:srgbClr>
            </a:solidFill>
            <a:prstDash val="solid"/>
          </a:ln>
        </p:spPr>
      </p:sp>
      <p:sp>
        <p:nvSpPr>
          <p:cNvPr id="15" name="Text 13"/>
          <p:cNvSpPr/>
          <p:nvPr/>
        </p:nvSpPr>
        <p:spPr>
          <a:xfrm>
            <a:off x="411480" y="1947672"/>
            <a:ext cx="2468880" cy="292608"/>
          </a:xfrm>
          <a:prstGeom prst="rect">
            <a:avLst/>
          </a:prstGeom>
          <a:noFill/>
          <a:ln/>
        </p:spPr>
        <p:txBody>
          <a:bodyPr wrap="square" lIns="0" tIns="0" rIns="0" bIns="0" rtlCol="0" anchor="ctr"/>
          <a:lstStyle/>
          <a:p>
            <a:pPr indent="0" marL="0">
              <a:buNone/>
            </a:pPr>
            <a:r>
              <a:rPr lang="en-US" sz="1100" b="1" dirty="0">
                <a:solidFill>
                  <a:srgbClr val="00D4FF"/>
                </a:solidFill>
                <a:latin typeface="Consolas" pitchFamily="34" charset="0"/>
                <a:ea typeface="Consolas" pitchFamily="34" charset="-122"/>
                <a:cs typeface="Consolas" pitchFamily="34" charset="-120"/>
              </a:rPr>
              <a:t>Lab Setup</a:t>
            </a:r>
            <a:endParaRPr lang="en-US" sz="1100" dirty="0"/>
          </a:p>
        </p:txBody>
      </p:sp>
      <p:sp>
        <p:nvSpPr>
          <p:cNvPr id="16" name="Text 14"/>
          <p:cNvSpPr/>
          <p:nvPr/>
        </p:nvSpPr>
        <p:spPr>
          <a:xfrm>
            <a:off x="429768" y="2331720"/>
            <a:ext cx="2432304" cy="2468880"/>
          </a:xfrm>
          <a:prstGeom prst="rect">
            <a:avLst/>
          </a:prstGeom>
          <a:noFill/>
          <a:ln/>
        </p:spPr>
        <p:txBody>
          <a:bodyPr wrap="square" lIns="0" tIns="0" rIns="0" bIns="0" rtlCol="0" anchor="t"/>
          <a:lstStyle/>
          <a:p>
            <a:pPr indent="0" marL="0">
              <a:buNone/>
            </a:pPr>
            <a:r>
              <a:rPr lang="en-US" sz="950" dirty="0">
                <a:solidFill>
                  <a:srgbClr val="E2E8F0"/>
                </a:solidFill>
                <a:latin typeface="Calibri" pitchFamily="34" charset="0"/>
                <a:ea typeface="Calibri" pitchFamily="34" charset="-122"/>
                <a:cs typeface="Calibri" pitchFamily="34" charset="-120"/>
              </a:rPr>
              <a:t>Isolated Windows VM (VMware/VirtualBox)</a:t>
            </a:r>
            <a:endParaRPr lang="en-US" sz="950" dirty="0"/>
          </a:p>
          <a:p>
            <a:pPr indent="0" marL="0">
              <a:buNone/>
            </a:pPr>
            <a:r>
              <a:rPr lang="en-US" sz="950" dirty="0">
                <a:solidFill>
                  <a:srgbClr val="E2E8F0"/>
                </a:solidFill>
                <a:latin typeface="Calibri" pitchFamily="34" charset="0"/>
                <a:ea typeface="Calibri" pitchFamily="34" charset="-122"/>
                <a:cs typeface="Calibri" pitchFamily="34" charset="-120"/>
              </a:rPr>
              <a:t>Snapshot before analysis</a:t>
            </a:r>
            <a:endParaRPr lang="en-US" sz="950" dirty="0"/>
          </a:p>
          <a:p>
            <a:pPr indent="0" marL="0">
              <a:buNone/>
            </a:pPr>
            <a:r>
              <a:rPr lang="en-US" sz="950" dirty="0">
                <a:solidFill>
                  <a:srgbClr val="E2E8F0"/>
                </a:solidFill>
                <a:latin typeface="Calibri" pitchFamily="34" charset="0"/>
                <a:ea typeface="Calibri" pitchFamily="34" charset="-122"/>
                <a:cs typeface="Calibri" pitchFamily="34" charset="-120"/>
              </a:rPr>
              <a:t>No network (host-only adapter)</a:t>
            </a:r>
            <a:endParaRPr lang="en-US" sz="950" dirty="0"/>
          </a:p>
          <a:p>
            <a:pPr indent="0" marL="0">
              <a:buNone/>
            </a:pPr>
            <a:r>
              <a:rPr lang="en-US" sz="950" dirty="0">
                <a:solidFill>
                  <a:srgbClr val="E2E8F0"/>
                </a:solidFill>
                <a:latin typeface="Calibri" pitchFamily="34" charset="0"/>
                <a:ea typeface="Calibri" pitchFamily="34" charset="-122"/>
                <a:cs typeface="Calibri" pitchFamily="34" charset="-120"/>
              </a:rPr>
              <a:t>Shared folders DISABLED</a:t>
            </a:r>
            <a:endParaRPr lang="en-US" sz="950" dirty="0"/>
          </a:p>
          <a:p>
            <a:pPr indent="0" marL="0">
              <a:buNone/>
            </a:pPr>
            <a:r>
              <a:rPr lang="en-US" sz="950" dirty="0">
                <a:solidFill>
                  <a:srgbClr val="E2E8F0"/>
                </a:solidFill>
                <a:latin typeface="Calibri" pitchFamily="34" charset="0"/>
                <a:ea typeface="Calibri" pitchFamily="34" charset="-122"/>
                <a:cs typeface="Calibri" pitchFamily="34" charset="-120"/>
              </a:rPr>
              <a:t>FakeNet-NG for network simulation</a:t>
            </a:r>
            <a:endParaRPr lang="en-US" sz="950" dirty="0"/>
          </a:p>
        </p:txBody>
      </p:sp>
      <p:sp>
        <p:nvSpPr>
          <p:cNvPr id="17" name="Shape 15"/>
          <p:cNvSpPr/>
          <p:nvPr/>
        </p:nvSpPr>
        <p:spPr>
          <a:xfrm>
            <a:off x="3200400" y="1920240"/>
            <a:ext cx="2651760" cy="2971800"/>
          </a:xfrm>
          <a:prstGeom prst="rect">
            <a:avLst/>
          </a:prstGeom>
          <a:solidFill>
            <a:srgbClr val="111827"/>
          </a:solidFill>
          <a:ln w="12700">
            <a:solidFill>
              <a:srgbClr val="FF6B35"/>
            </a:solidFill>
            <a:prstDash val="solid"/>
          </a:ln>
        </p:spPr>
      </p:sp>
      <p:sp>
        <p:nvSpPr>
          <p:cNvPr id="18" name="Shape 16"/>
          <p:cNvSpPr/>
          <p:nvPr/>
        </p:nvSpPr>
        <p:spPr>
          <a:xfrm>
            <a:off x="3200400" y="1920240"/>
            <a:ext cx="2651760" cy="347472"/>
          </a:xfrm>
          <a:prstGeom prst="rect">
            <a:avLst/>
          </a:prstGeom>
          <a:solidFill>
            <a:srgbClr val="FF6B35">
              <a:alpha val="20000"/>
            </a:srgbClr>
          </a:solidFill>
          <a:ln w="12700">
            <a:solidFill>
              <a:srgbClr val="FF6B35">
                <a:alpha val="20000"/>
              </a:srgbClr>
            </a:solidFill>
            <a:prstDash val="solid"/>
          </a:ln>
        </p:spPr>
      </p:sp>
      <p:sp>
        <p:nvSpPr>
          <p:cNvPr id="19" name="Text 17"/>
          <p:cNvSpPr/>
          <p:nvPr/>
        </p:nvSpPr>
        <p:spPr>
          <a:xfrm>
            <a:off x="3291840" y="1947672"/>
            <a:ext cx="2468880" cy="292608"/>
          </a:xfrm>
          <a:prstGeom prst="rect">
            <a:avLst/>
          </a:prstGeom>
          <a:noFill/>
          <a:ln/>
        </p:spPr>
        <p:txBody>
          <a:bodyPr wrap="square" lIns="0" tIns="0" rIns="0" bIns="0" rtlCol="0" anchor="ctr"/>
          <a:lstStyle/>
          <a:p>
            <a:pPr indent="0" marL="0">
              <a:buNone/>
            </a:pPr>
            <a:r>
              <a:rPr lang="en-US" sz="1100" b="1" dirty="0">
                <a:solidFill>
                  <a:srgbClr val="FF6B35"/>
                </a:solidFill>
                <a:latin typeface="Consolas" pitchFamily="34" charset="0"/>
                <a:ea typeface="Consolas" pitchFamily="34" charset="-122"/>
                <a:cs typeface="Consolas" pitchFamily="34" charset="-120"/>
              </a:rPr>
              <a:t>IOCs to Collect</a:t>
            </a:r>
            <a:endParaRPr lang="en-US" sz="1100" dirty="0"/>
          </a:p>
        </p:txBody>
      </p:sp>
      <p:sp>
        <p:nvSpPr>
          <p:cNvPr id="20" name="Text 18"/>
          <p:cNvSpPr/>
          <p:nvPr/>
        </p:nvSpPr>
        <p:spPr>
          <a:xfrm>
            <a:off x="3310128" y="2331720"/>
            <a:ext cx="2432304" cy="2468880"/>
          </a:xfrm>
          <a:prstGeom prst="rect">
            <a:avLst/>
          </a:prstGeom>
          <a:noFill/>
          <a:ln/>
        </p:spPr>
        <p:txBody>
          <a:bodyPr wrap="square" lIns="0" tIns="0" rIns="0" bIns="0" rtlCol="0" anchor="t"/>
          <a:lstStyle/>
          <a:p>
            <a:pPr indent="0" marL="0">
              <a:buNone/>
            </a:pPr>
            <a:r>
              <a:rPr lang="en-US" sz="950" dirty="0">
                <a:solidFill>
                  <a:srgbClr val="E2E8F0"/>
                </a:solidFill>
                <a:latin typeface="Calibri" pitchFamily="34" charset="0"/>
                <a:ea typeface="Calibri" pitchFamily="34" charset="-122"/>
                <a:cs typeface="Calibri" pitchFamily="34" charset="-120"/>
              </a:rPr>
              <a:t>File hashes (MD5, SHA256)</a:t>
            </a:r>
            <a:endParaRPr lang="en-US" sz="950" dirty="0"/>
          </a:p>
          <a:p>
            <a:pPr indent="0" marL="0">
              <a:buNone/>
            </a:pPr>
            <a:r>
              <a:rPr lang="en-US" sz="950" dirty="0">
                <a:solidFill>
                  <a:srgbClr val="E2E8F0"/>
                </a:solidFill>
                <a:latin typeface="Calibri" pitchFamily="34" charset="0"/>
                <a:ea typeface="Calibri" pitchFamily="34" charset="-122"/>
                <a:cs typeface="Calibri" pitchFamily="34" charset="-120"/>
              </a:rPr>
              <a:t>Registry keys created/modified</a:t>
            </a:r>
            <a:endParaRPr lang="en-US" sz="950" dirty="0"/>
          </a:p>
          <a:p>
            <a:pPr indent="0" marL="0">
              <a:buNone/>
            </a:pPr>
            <a:r>
              <a:rPr lang="en-US" sz="950" dirty="0">
                <a:solidFill>
                  <a:srgbClr val="E2E8F0"/>
                </a:solidFill>
                <a:latin typeface="Calibri" pitchFamily="34" charset="0"/>
                <a:ea typeface="Calibri" pitchFamily="34" charset="-122"/>
                <a:cs typeface="Calibri" pitchFamily="34" charset="-120"/>
              </a:rPr>
              <a:t>Files dropped on disk</a:t>
            </a:r>
            <a:endParaRPr lang="en-US" sz="950" dirty="0"/>
          </a:p>
          <a:p>
            <a:pPr indent="0" marL="0">
              <a:buNone/>
            </a:pPr>
            <a:r>
              <a:rPr lang="en-US" sz="950" dirty="0">
                <a:solidFill>
                  <a:srgbClr val="E2E8F0"/>
                </a:solidFill>
                <a:latin typeface="Calibri" pitchFamily="34" charset="0"/>
                <a:ea typeface="Calibri" pitchFamily="34" charset="-122"/>
                <a:cs typeface="Calibri" pitchFamily="34" charset="-120"/>
              </a:rPr>
              <a:t>Network C2 addresses / domains</a:t>
            </a:r>
            <a:endParaRPr lang="en-US" sz="950" dirty="0"/>
          </a:p>
          <a:p>
            <a:pPr indent="0" marL="0">
              <a:buNone/>
            </a:pPr>
            <a:r>
              <a:rPr lang="en-US" sz="950" dirty="0">
                <a:solidFill>
                  <a:srgbClr val="E2E8F0"/>
                </a:solidFill>
                <a:latin typeface="Calibri" pitchFamily="34" charset="0"/>
                <a:ea typeface="Calibri" pitchFamily="34" charset="-122"/>
                <a:cs typeface="Calibri" pitchFamily="34" charset="-120"/>
              </a:rPr>
              <a:t>Mutex names, process names</a:t>
            </a:r>
            <a:endParaRPr lang="en-US" sz="950" dirty="0"/>
          </a:p>
        </p:txBody>
      </p:sp>
      <p:sp>
        <p:nvSpPr>
          <p:cNvPr id="21" name="Shape 19"/>
          <p:cNvSpPr/>
          <p:nvPr/>
        </p:nvSpPr>
        <p:spPr>
          <a:xfrm>
            <a:off x="6080760" y="1920240"/>
            <a:ext cx="2651760" cy="2971800"/>
          </a:xfrm>
          <a:prstGeom prst="rect">
            <a:avLst/>
          </a:prstGeom>
          <a:solidFill>
            <a:srgbClr val="111827"/>
          </a:solidFill>
          <a:ln w="12700">
            <a:solidFill>
              <a:srgbClr val="A855F7"/>
            </a:solidFill>
            <a:prstDash val="solid"/>
          </a:ln>
        </p:spPr>
      </p:sp>
      <p:sp>
        <p:nvSpPr>
          <p:cNvPr id="22" name="Shape 20"/>
          <p:cNvSpPr/>
          <p:nvPr/>
        </p:nvSpPr>
        <p:spPr>
          <a:xfrm>
            <a:off x="6080760" y="1920240"/>
            <a:ext cx="2651760" cy="347472"/>
          </a:xfrm>
          <a:prstGeom prst="rect">
            <a:avLst/>
          </a:prstGeom>
          <a:solidFill>
            <a:srgbClr val="A855F7">
              <a:alpha val="20000"/>
            </a:srgbClr>
          </a:solidFill>
          <a:ln w="12700">
            <a:solidFill>
              <a:srgbClr val="A855F7">
                <a:alpha val="20000"/>
              </a:srgbClr>
            </a:solidFill>
            <a:prstDash val="solid"/>
          </a:ln>
        </p:spPr>
      </p:sp>
      <p:sp>
        <p:nvSpPr>
          <p:cNvPr id="23" name="Text 21"/>
          <p:cNvSpPr/>
          <p:nvPr/>
        </p:nvSpPr>
        <p:spPr>
          <a:xfrm>
            <a:off x="6172200" y="1947672"/>
            <a:ext cx="2468880" cy="292608"/>
          </a:xfrm>
          <a:prstGeom prst="rect">
            <a:avLst/>
          </a:prstGeom>
          <a:noFill/>
          <a:ln/>
        </p:spPr>
        <p:txBody>
          <a:bodyPr wrap="square" lIns="0" tIns="0" rIns="0" bIns="0" rtlCol="0" anchor="ctr"/>
          <a:lstStyle/>
          <a:p>
            <a:pPr indent="0" marL="0">
              <a:buNone/>
            </a:pPr>
            <a:r>
              <a:rPr lang="en-US" sz="1100" b="1" dirty="0">
                <a:solidFill>
                  <a:srgbClr val="A855F7"/>
                </a:solidFill>
                <a:latin typeface="Consolas" pitchFamily="34" charset="0"/>
                <a:ea typeface="Consolas" pitchFamily="34" charset="-122"/>
                <a:cs typeface="Consolas" pitchFamily="34" charset="-120"/>
              </a:rPr>
              <a:t>Common Behaviors</a:t>
            </a:r>
            <a:endParaRPr lang="en-US" sz="1100" dirty="0"/>
          </a:p>
        </p:txBody>
      </p:sp>
      <p:sp>
        <p:nvSpPr>
          <p:cNvPr id="24" name="Text 22"/>
          <p:cNvSpPr/>
          <p:nvPr/>
        </p:nvSpPr>
        <p:spPr>
          <a:xfrm>
            <a:off x="6190488" y="2331720"/>
            <a:ext cx="2432304" cy="2468880"/>
          </a:xfrm>
          <a:prstGeom prst="rect">
            <a:avLst/>
          </a:prstGeom>
          <a:noFill/>
          <a:ln/>
        </p:spPr>
        <p:txBody>
          <a:bodyPr wrap="square" lIns="0" tIns="0" rIns="0" bIns="0" rtlCol="0" anchor="t"/>
          <a:lstStyle/>
          <a:p>
            <a:pPr indent="0" marL="0">
              <a:buNone/>
            </a:pPr>
            <a:r>
              <a:rPr lang="en-US" sz="950" dirty="0">
                <a:solidFill>
                  <a:srgbClr val="E2E8F0"/>
                </a:solidFill>
                <a:latin typeface="Calibri" pitchFamily="34" charset="0"/>
                <a:ea typeface="Calibri" pitchFamily="34" charset="-122"/>
                <a:cs typeface="Calibri" pitchFamily="34" charset="-120"/>
              </a:rPr>
              <a:t>Persistence (Run keys, services)</a:t>
            </a:r>
            <a:endParaRPr lang="en-US" sz="950" dirty="0"/>
          </a:p>
          <a:p>
            <a:pPr indent="0" marL="0">
              <a:buNone/>
            </a:pPr>
            <a:r>
              <a:rPr lang="en-US" sz="950" dirty="0">
                <a:solidFill>
                  <a:srgbClr val="E2E8F0"/>
                </a:solidFill>
                <a:latin typeface="Calibri" pitchFamily="34" charset="0"/>
                <a:ea typeface="Calibri" pitchFamily="34" charset="-122"/>
                <a:cs typeface="Calibri" pitchFamily="34" charset="-120"/>
              </a:rPr>
              <a:t>Privilege escalation</a:t>
            </a:r>
            <a:endParaRPr lang="en-US" sz="950" dirty="0"/>
          </a:p>
          <a:p>
            <a:pPr indent="0" marL="0">
              <a:buNone/>
            </a:pPr>
            <a:r>
              <a:rPr lang="en-US" sz="950" dirty="0">
                <a:solidFill>
                  <a:srgbClr val="E2E8F0"/>
                </a:solidFill>
                <a:latin typeface="Calibri" pitchFamily="34" charset="0"/>
                <a:ea typeface="Calibri" pitchFamily="34" charset="-122"/>
                <a:cs typeface="Calibri" pitchFamily="34" charset="-120"/>
              </a:rPr>
              <a:t>Credential theft</a:t>
            </a:r>
            <a:endParaRPr lang="en-US" sz="950" dirty="0"/>
          </a:p>
          <a:p>
            <a:pPr indent="0" marL="0">
              <a:buNone/>
            </a:pPr>
            <a:r>
              <a:rPr lang="en-US" sz="950" dirty="0">
                <a:solidFill>
                  <a:srgbClr val="E2E8F0"/>
                </a:solidFill>
                <a:latin typeface="Calibri" pitchFamily="34" charset="0"/>
                <a:ea typeface="Calibri" pitchFamily="34" charset="-122"/>
                <a:cs typeface="Calibri" pitchFamily="34" charset="-120"/>
              </a:rPr>
              <a:t>Lateral movement</a:t>
            </a:r>
            <a:endParaRPr lang="en-US" sz="950" dirty="0"/>
          </a:p>
          <a:p>
            <a:pPr indent="0" marL="0">
              <a:buNone/>
            </a:pPr>
            <a:r>
              <a:rPr lang="en-US" sz="950" dirty="0">
                <a:solidFill>
                  <a:srgbClr val="E2E8F0"/>
                </a:solidFill>
                <a:latin typeface="Calibri" pitchFamily="34" charset="0"/>
                <a:ea typeface="Calibri" pitchFamily="34" charset="-122"/>
                <a:cs typeface="Calibri" pitchFamily="34" charset="-120"/>
              </a:rPr>
              <a:t>C2 beacon communication</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3200400" cy="5143500"/>
          </a:xfrm>
          <a:prstGeom prst="rect">
            <a:avLst/>
          </a:prstGeom>
          <a:solidFill>
            <a:srgbClr val="111827"/>
          </a:solidFill>
          <a:ln w="12700">
            <a:solidFill>
              <a:srgbClr val="111827"/>
            </a:solidFill>
            <a:prstDash val="solid"/>
          </a:ln>
        </p:spPr>
      </p:sp>
      <p:sp>
        <p:nvSpPr>
          <p:cNvPr id="3" name="Shape 1"/>
          <p:cNvSpPr/>
          <p:nvPr/>
        </p:nvSpPr>
        <p:spPr>
          <a:xfrm>
            <a:off x="3163824" y="0"/>
            <a:ext cx="36576" cy="5143500"/>
          </a:xfrm>
          <a:prstGeom prst="rect">
            <a:avLst/>
          </a:prstGeom>
          <a:solidFill>
            <a:srgbClr val="A855F7"/>
          </a:solidFill>
          <a:ln w="12700">
            <a:solidFill>
              <a:srgbClr val="A855F7"/>
            </a:solidFill>
            <a:prstDash val="solid"/>
          </a:ln>
        </p:spPr>
      </p:sp>
      <p:sp>
        <p:nvSpPr>
          <p:cNvPr id="4" name="Text 2"/>
          <p:cNvSpPr/>
          <p:nvPr/>
        </p:nvSpPr>
        <p:spPr>
          <a:xfrm>
            <a:off x="274320" y="365760"/>
            <a:ext cx="2560320" cy="365760"/>
          </a:xfrm>
          <a:prstGeom prst="rect">
            <a:avLst/>
          </a:prstGeom>
          <a:noFill/>
          <a:ln/>
        </p:spPr>
        <p:txBody>
          <a:bodyPr wrap="square" lIns="0" tIns="0" rIns="0" bIns="0" rtlCol="0" anchor="ctr"/>
          <a:lstStyle/>
          <a:p>
            <a:pPr indent="0" marL="0">
              <a:buNone/>
            </a:pPr>
            <a:r>
              <a:rPr lang="en-US" sz="1000" spc="400" kern="0" dirty="0">
                <a:solidFill>
                  <a:srgbClr val="8B9BB4"/>
                </a:solidFill>
                <a:latin typeface="Consolas" pitchFamily="34" charset="0"/>
                <a:ea typeface="Consolas" pitchFamily="34" charset="-122"/>
                <a:cs typeface="Consolas" pitchFamily="34" charset="-120"/>
              </a:rPr>
              <a:t>SECTION 11</a:t>
            </a:r>
            <a:endParaRPr lang="en-US" sz="1000" dirty="0"/>
          </a:p>
        </p:txBody>
      </p:sp>
      <p:sp>
        <p:nvSpPr>
          <p:cNvPr id="5" name="Text 3"/>
          <p:cNvSpPr/>
          <p:nvPr/>
        </p:nvSpPr>
        <p:spPr>
          <a:xfrm>
            <a:off x="274320" y="731520"/>
            <a:ext cx="2560320" cy="1645920"/>
          </a:xfrm>
          <a:prstGeom prst="rect">
            <a:avLst/>
          </a:prstGeom>
          <a:noFill/>
          <a:ln/>
        </p:spPr>
        <p:txBody>
          <a:bodyPr wrap="square" lIns="0" tIns="0" rIns="0" bIns="0" rtlCol="0" anchor="ctr"/>
          <a:lstStyle/>
          <a:p>
            <a:pPr indent="0" marL="0">
              <a:buNone/>
            </a:pPr>
            <a:r>
              <a:rPr lang="en-US" sz="10000" b="1" dirty="0">
                <a:solidFill>
                  <a:srgbClr val="A855F7">
                    <a:alpha val="90000"/>
                  </a:srgbClr>
                </a:solidFill>
                <a:latin typeface="Consolas" pitchFamily="34" charset="0"/>
                <a:ea typeface="Consolas" pitchFamily="34" charset="-122"/>
                <a:cs typeface="Consolas" pitchFamily="34" charset="-120"/>
              </a:rPr>
              <a:t>11</a:t>
            </a:r>
            <a:endParaRPr lang="en-US" sz="10000" dirty="0"/>
          </a:p>
        </p:txBody>
      </p:sp>
      <p:pic>
        <p:nvPicPr>
          <p:cNvPr id="6" name="Image 0" descr="preencoded.png">    </p:cNvPr>
          <p:cNvPicPr>
            <a:picLocks noChangeAspect="1"/>
          </p:cNvPicPr>
          <p:nvPr/>
        </p:nvPicPr>
        <p:blipFill>
          <a:blip r:embed="rId1"/>
          <a:stretch>
            <a:fillRect/>
          </a:stretch>
        </p:blipFill>
        <p:spPr>
          <a:xfrm>
            <a:off x="822960" y="2926080"/>
            <a:ext cx="1463040" cy="1463040"/>
          </a:xfrm>
          <a:prstGeom prst="rect">
            <a:avLst/>
          </a:prstGeom>
        </p:spPr>
      </p:pic>
      <p:sp>
        <p:nvSpPr>
          <p:cNvPr id="7" name="Text 4"/>
          <p:cNvSpPr/>
          <p:nvPr/>
        </p:nvSpPr>
        <p:spPr>
          <a:xfrm>
            <a:off x="3474720" y="1463040"/>
            <a:ext cx="5394960" cy="1371600"/>
          </a:xfrm>
          <a:prstGeom prst="rect">
            <a:avLst/>
          </a:prstGeom>
          <a:noFill/>
          <a:ln/>
        </p:spPr>
        <p:txBody>
          <a:bodyPr wrap="square" lIns="0" tIns="0" rIns="0" bIns="0" rtlCol="0" anchor="ctr"/>
          <a:lstStyle/>
          <a:p>
            <a:pPr indent="0" marL="0">
              <a:buNone/>
            </a:pPr>
            <a:r>
              <a:rPr lang="en-US" sz="3600" b="1" dirty="0">
                <a:solidFill>
                  <a:srgbClr val="FFFFFF"/>
                </a:solidFill>
                <a:latin typeface="Consolas" pitchFamily="34" charset="0"/>
                <a:ea typeface="Consolas" pitchFamily="34" charset="-122"/>
                <a:cs typeface="Consolas" pitchFamily="34" charset="-120"/>
              </a:rPr>
              <a:t>Anti-Reversing Techniques</a:t>
            </a:r>
            <a:endParaRPr lang="en-US" sz="3600" dirty="0"/>
          </a:p>
        </p:txBody>
      </p:sp>
      <p:sp>
        <p:nvSpPr>
          <p:cNvPr id="8" name="Text 5"/>
          <p:cNvSpPr/>
          <p:nvPr/>
        </p:nvSpPr>
        <p:spPr>
          <a:xfrm>
            <a:off x="3474720" y="2926080"/>
            <a:ext cx="5394960" cy="1097280"/>
          </a:xfrm>
          <a:prstGeom prst="rect">
            <a:avLst/>
          </a:prstGeom>
          <a:noFill/>
          <a:ln/>
        </p:spPr>
        <p:txBody>
          <a:bodyPr wrap="square" lIns="0" tIns="0" rIns="0" bIns="0" rtlCol="0" anchor="ctr"/>
          <a:lstStyle/>
          <a:p>
            <a:pPr indent="0" marL="0">
              <a:buNone/>
            </a:pPr>
            <a:r>
              <a:rPr lang="en-US" sz="1400" dirty="0">
                <a:solidFill>
                  <a:srgbClr val="8B9BB4"/>
                </a:solidFill>
                <a:latin typeface="Calibri" pitchFamily="34" charset="0"/>
                <a:ea typeface="Calibri" pitchFamily="34" charset="-122"/>
                <a:cs typeface="Calibri" pitchFamily="34" charset="-120"/>
              </a:rPr>
              <a:t>How malware fights back against analysis.</a:t>
            </a:r>
            <a:endParaRPr lang="en-US" sz="1400" dirty="0"/>
          </a:p>
        </p:txBody>
      </p:sp>
      <p:sp>
        <p:nvSpPr>
          <p:cNvPr id="9" name="Shape 6"/>
          <p:cNvSpPr/>
          <p:nvPr/>
        </p:nvSpPr>
        <p:spPr>
          <a:xfrm>
            <a:off x="3474720" y="4297680"/>
            <a:ext cx="91440" cy="91440"/>
          </a:xfrm>
          <a:prstGeom prst="ellipse">
            <a:avLst/>
          </a:prstGeom>
          <a:solidFill>
            <a:srgbClr val="A855F7"/>
          </a:solidFill>
          <a:ln w="12700">
            <a:solidFill>
              <a:srgbClr val="A855F7"/>
            </a:solidFill>
            <a:prstDash val="solid"/>
          </a:ln>
        </p:spPr>
      </p:sp>
      <p:sp>
        <p:nvSpPr>
          <p:cNvPr id="10" name="Shape 7"/>
          <p:cNvSpPr/>
          <p:nvPr/>
        </p:nvSpPr>
        <p:spPr>
          <a:xfrm>
            <a:off x="3794760" y="4297680"/>
            <a:ext cx="91440" cy="91440"/>
          </a:xfrm>
          <a:prstGeom prst="ellipse">
            <a:avLst/>
          </a:prstGeom>
          <a:solidFill>
            <a:srgbClr val="A855F7">
              <a:alpha val="85000"/>
            </a:srgbClr>
          </a:solidFill>
          <a:ln w="12700">
            <a:solidFill>
              <a:srgbClr val="A855F7">
                <a:alpha val="85000"/>
              </a:srgbClr>
            </a:solidFill>
            <a:prstDash val="solid"/>
          </a:ln>
        </p:spPr>
      </p:sp>
      <p:sp>
        <p:nvSpPr>
          <p:cNvPr id="11" name="Shape 8"/>
          <p:cNvSpPr/>
          <p:nvPr/>
        </p:nvSpPr>
        <p:spPr>
          <a:xfrm>
            <a:off x="4114800" y="4297680"/>
            <a:ext cx="91440" cy="91440"/>
          </a:xfrm>
          <a:prstGeom prst="ellipse">
            <a:avLst/>
          </a:prstGeom>
          <a:solidFill>
            <a:srgbClr val="A855F7">
              <a:alpha val="70000"/>
            </a:srgbClr>
          </a:solidFill>
          <a:ln w="12700">
            <a:solidFill>
              <a:srgbClr val="A855F7">
                <a:alpha val="70000"/>
              </a:srgbClr>
            </a:solidFill>
            <a:prstDash val="solid"/>
          </a:ln>
        </p:spPr>
      </p:sp>
      <p:sp>
        <p:nvSpPr>
          <p:cNvPr id="12" name="Shape 9"/>
          <p:cNvSpPr/>
          <p:nvPr/>
        </p:nvSpPr>
        <p:spPr>
          <a:xfrm>
            <a:off x="4434840" y="4297680"/>
            <a:ext cx="91440" cy="91440"/>
          </a:xfrm>
          <a:prstGeom prst="ellipse">
            <a:avLst/>
          </a:prstGeom>
          <a:solidFill>
            <a:srgbClr val="A855F7">
              <a:alpha val="55000"/>
            </a:srgbClr>
          </a:solidFill>
          <a:ln w="12700">
            <a:solidFill>
              <a:srgbClr val="A855F7">
                <a:alpha val="55000"/>
              </a:srgbClr>
            </a:solidFill>
            <a:prstDash val="solid"/>
          </a:ln>
        </p:spPr>
      </p:sp>
      <p:sp>
        <p:nvSpPr>
          <p:cNvPr id="13" name="Shape 10"/>
          <p:cNvSpPr/>
          <p:nvPr/>
        </p:nvSpPr>
        <p:spPr>
          <a:xfrm>
            <a:off x="4754880" y="4297680"/>
            <a:ext cx="91440" cy="91440"/>
          </a:xfrm>
          <a:prstGeom prst="ellipse">
            <a:avLst/>
          </a:prstGeom>
          <a:solidFill>
            <a:srgbClr val="A855F7">
              <a:alpha val="40000"/>
            </a:srgbClr>
          </a:solidFill>
          <a:ln w="12700">
            <a:solidFill>
              <a:srgbClr val="A855F7">
                <a:alpha val="40000"/>
              </a:srgbClr>
            </a:solidFill>
            <a:prstDash val="solid"/>
          </a:ln>
        </p:spPr>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164592" y="164592"/>
            <a:ext cx="365760" cy="45720"/>
          </a:xfrm>
          <a:prstGeom prst="rect">
            <a:avLst/>
          </a:prstGeom>
          <a:solidFill>
            <a:srgbClr val="00FF88"/>
          </a:solidFill>
          <a:ln w="12700">
            <a:solidFill>
              <a:srgbClr val="00FF88"/>
            </a:solidFill>
            <a:prstDash val="solid"/>
          </a:ln>
        </p:spPr>
      </p:sp>
      <p:sp>
        <p:nvSpPr>
          <p:cNvPr id="3" name="Shape 1"/>
          <p:cNvSpPr/>
          <p:nvPr/>
        </p:nvSpPr>
        <p:spPr>
          <a:xfrm>
            <a:off x="164592" y="164592"/>
            <a:ext cx="45720" cy="274320"/>
          </a:xfrm>
          <a:prstGeom prst="rect">
            <a:avLst/>
          </a:prstGeom>
          <a:solidFill>
            <a:srgbClr val="00FF88"/>
          </a:solidFill>
          <a:ln w="12700">
            <a:solidFill>
              <a:srgbClr val="00FF88"/>
            </a:solidFill>
            <a:prstDash val="solid"/>
          </a:ln>
        </p:spPr>
      </p:sp>
      <p:sp>
        <p:nvSpPr>
          <p:cNvPr id="4" name="Shape 2"/>
          <p:cNvSpPr/>
          <p:nvPr/>
        </p:nvSpPr>
        <p:spPr>
          <a:xfrm>
            <a:off x="8613648" y="4910328"/>
            <a:ext cx="365760" cy="45720"/>
          </a:xfrm>
          <a:prstGeom prst="rect">
            <a:avLst/>
          </a:prstGeom>
          <a:solidFill>
            <a:srgbClr val="00D4FF"/>
          </a:solidFill>
          <a:ln w="12700">
            <a:solidFill>
              <a:srgbClr val="00D4FF"/>
            </a:solidFill>
            <a:prstDash val="solid"/>
          </a:ln>
        </p:spPr>
      </p:sp>
      <p:sp>
        <p:nvSpPr>
          <p:cNvPr id="5" name="Shape 3"/>
          <p:cNvSpPr/>
          <p:nvPr/>
        </p:nvSpPr>
        <p:spPr>
          <a:xfrm>
            <a:off x="8933688" y="4681728"/>
            <a:ext cx="45720" cy="274320"/>
          </a:xfrm>
          <a:prstGeom prst="rect">
            <a:avLst/>
          </a:prstGeom>
          <a:solidFill>
            <a:srgbClr val="00D4FF"/>
          </a:solidFill>
          <a:ln w="12700">
            <a:solidFill>
              <a:srgbClr val="00D4FF"/>
            </a:solidFill>
            <a:prstDash val="solid"/>
          </a:ln>
        </p:spPr>
      </p:sp>
      <p:sp>
        <p:nvSpPr>
          <p:cNvPr id="6" name="Shape 4"/>
          <p:cNvSpPr/>
          <p:nvPr/>
        </p:nvSpPr>
        <p:spPr>
          <a:xfrm>
            <a:off x="411480" y="201168"/>
            <a:ext cx="3113532" cy="256032"/>
          </a:xfrm>
          <a:prstGeom prst="rect">
            <a:avLst/>
          </a:prstGeom>
          <a:solidFill>
            <a:srgbClr val="A855F7"/>
          </a:solidFill>
          <a:ln w="12700">
            <a:solidFill>
              <a:srgbClr val="A855F7"/>
            </a:solidFill>
            <a:prstDash val="solid"/>
          </a:ln>
        </p:spPr>
      </p:sp>
      <p:sp>
        <p:nvSpPr>
          <p:cNvPr id="7" name="Text 5"/>
          <p:cNvSpPr/>
          <p:nvPr/>
        </p:nvSpPr>
        <p:spPr>
          <a:xfrm>
            <a:off x="411480" y="201168"/>
            <a:ext cx="3113532" cy="256032"/>
          </a:xfrm>
          <a:prstGeom prst="rect">
            <a:avLst/>
          </a:prstGeom>
          <a:noFill/>
          <a:ln/>
        </p:spPr>
        <p:txBody>
          <a:bodyPr wrap="square" lIns="0" tIns="0" rIns="0" bIns="0" rtlCol="0" anchor="ctr"/>
          <a:lstStyle/>
          <a:p>
            <a:pPr algn="ctr" indent="0" marL="0">
              <a:buNone/>
            </a:pPr>
            <a:r>
              <a:rPr lang="en-US" sz="900" b="1" dirty="0">
                <a:solidFill>
                  <a:srgbClr val="0A0E1A"/>
                </a:solidFill>
                <a:latin typeface="Consolas" pitchFamily="34" charset="0"/>
                <a:ea typeface="Consolas" pitchFamily="34" charset="-122"/>
                <a:cs typeface="Consolas" pitchFamily="34" charset="-120"/>
              </a:rPr>
              <a:t>SECTION 11 · ANTI-REVERSING</a:t>
            </a:r>
            <a:endParaRPr lang="en-US" sz="900" dirty="0"/>
          </a:p>
        </p:txBody>
      </p:sp>
      <p:sp>
        <p:nvSpPr>
          <p:cNvPr id="8" name="Text 6"/>
          <p:cNvSpPr/>
          <p:nvPr/>
        </p:nvSpPr>
        <p:spPr>
          <a:xfrm>
            <a:off x="411480" y="530352"/>
            <a:ext cx="8321040" cy="594360"/>
          </a:xfrm>
          <a:prstGeom prst="rect">
            <a:avLst/>
          </a:prstGeom>
          <a:noFill/>
          <a:ln/>
        </p:spPr>
        <p:txBody>
          <a:bodyPr wrap="square" lIns="0" tIns="0" rIns="0" bIns="0" rtlCol="0" anchor="ctr"/>
          <a:lstStyle/>
          <a:p>
            <a:pPr algn="l" indent="0" marL="0">
              <a:buNone/>
            </a:pPr>
            <a:r>
              <a:rPr lang="en-US" sz="2800" b="1" dirty="0">
                <a:solidFill>
                  <a:srgbClr val="A855F7"/>
                </a:solidFill>
                <a:latin typeface="Consolas" pitchFamily="34" charset="0"/>
                <a:ea typeface="Consolas" pitchFamily="34" charset="-122"/>
                <a:cs typeface="Consolas" pitchFamily="34" charset="-120"/>
              </a:rPr>
              <a:t>Anti-Reversing Techniques</a:t>
            </a:r>
            <a:endParaRPr lang="en-US" sz="2800" dirty="0"/>
          </a:p>
        </p:txBody>
      </p:sp>
      <p:sp>
        <p:nvSpPr>
          <p:cNvPr id="9" name="Text 7"/>
          <p:cNvSpPr/>
          <p:nvPr/>
        </p:nvSpPr>
        <p:spPr>
          <a:xfrm>
            <a:off x="411480" y="1051560"/>
            <a:ext cx="8321040" cy="320040"/>
          </a:xfrm>
          <a:prstGeom prst="rect">
            <a:avLst/>
          </a:prstGeom>
          <a:noFill/>
          <a:ln/>
        </p:spPr>
        <p:txBody>
          <a:bodyPr wrap="square" lIns="0" tIns="0" rIns="0" bIns="0" rtlCol="0" anchor="ctr"/>
          <a:lstStyle/>
          <a:p>
            <a:pPr algn="l" indent="0" marL="0">
              <a:buNone/>
            </a:pPr>
            <a:r>
              <a:rPr lang="en-US" sz="1300" dirty="0">
                <a:solidFill>
                  <a:srgbClr val="8B9BB4"/>
                </a:solidFill>
                <a:latin typeface="Calibri" pitchFamily="34" charset="0"/>
                <a:ea typeface="Calibri" pitchFamily="34" charset="-122"/>
                <a:cs typeface="Calibri" pitchFamily="34" charset="-120"/>
              </a:rPr>
              <a:t>How malware authors make your job harder — and how to overcome them.</a:t>
            </a:r>
            <a:endParaRPr lang="en-US" sz="1300" dirty="0"/>
          </a:p>
        </p:txBody>
      </p:sp>
      <p:sp>
        <p:nvSpPr>
          <p:cNvPr id="10" name="Text 8"/>
          <p:cNvSpPr/>
          <p:nvPr/>
        </p:nvSpPr>
        <p:spPr>
          <a:xfrm>
            <a:off x="8686800" y="4754880"/>
            <a:ext cx="365760" cy="228600"/>
          </a:xfrm>
          <a:prstGeom prst="rect">
            <a:avLst/>
          </a:prstGeom>
          <a:noFill/>
          <a:ln/>
        </p:spPr>
        <p:txBody>
          <a:bodyPr wrap="square" lIns="0" tIns="0" rIns="0" bIns="0" rtlCol="0" anchor="ctr"/>
          <a:lstStyle/>
          <a:p>
            <a:pPr algn="r" indent="0" marL="0">
              <a:buNone/>
            </a:pPr>
            <a:r>
              <a:rPr lang="en-US" sz="900" dirty="0">
                <a:solidFill>
                  <a:srgbClr val="8B9BB4"/>
                </a:solidFill>
                <a:latin typeface="Consolas" pitchFamily="34" charset="0"/>
                <a:ea typeface="Consolas" pitchFamily="34" charset="-122"/>
                <a:cs typeface="Consolas" pitchFamily="34" charset="-120"/>
              </a:rPr>
              <a:t>26</a:t>
            </a:r>
            <a:endParaRPr lang="en-US" sz="900" dirty="0"/>
          </a:p>
        </p:txBody>
      </p:sp>
      <p:sp>
        <p:nvSpPr>
          <p:cNvPr id="11" name="Shape 9"/>
          <p:cNvSpPr/>
          <p:nvPr/>
        </p:nvSpPr>
        <p:spPr>
          <a:xfrm>
            <a:off x="320040" y="1234440"/>
            <a:ext cx="4114800" cy="1097280"/>
          </a:xfrm>
          <a:prstGeom prst="rect">
            <a:avLst/>
          </a:prstGeom>
          <a:solidFill>
            <a:srgbClr val="111827"/>
          </a:solidFill>
          <a:ln w="12700">
            <a:solidFill>
              <a:srgbClr val="FF3355"/>
            </a:solidFill>
            <a:prstDash val="solid"/>
          </a:ln>
        </p:spPr>
      </p:sp>
      <p:sp>
        <p:nvSpPr>
          <p:cNvPr id="12" name="Shape 10"/>
          <p:cNvSpPr/>
          <p:nvPr/>
        </p:nvSpPr>
        <p:spPr>
          <a:xfrm>
            <a:off x="320040" y="1234440"/>
            <a:ext cx="4114800" cy="347472"/>
          </a:xfrm>
          <a:prstGeom prst="rect">
            <a:avLst/>
          </a:prstGeom>
          <a:solidFill>
            <a:srgbClr val="FF3355">
              <a:alpha val="18000"/>
            </a:srgbClr>
          </a:solidFill>
          <a:ln w="12700">
            <a:solidFill>
              <a:srgbClr val="FF3355">
                <a:alpha val="18000"/>
              </a:srgbClr>
            </a:solidFill>
            <a:prstDash val="solid"/>
          </a:ln>
        </p:spPr>
      </p:sp>
      <p:sp>
        <p:nvSpPr>
          <p:cNvPr id="13" name="Text 11"/>
          <p:cNvSpPr/>
          <p:nvPr/>
        </p:nvSpPr>
        <p:spPr>
          <a:xfrm>
            <a:off x="429768" y="1271016"/>
            <a:ext cx="3840480" cy="274320"/>
          </a:xfrm>
          <a:prstGeom prst="rect">
            <a:avLst/>
          </a:prstGeom>
          <a:noFill/>
          <a:ln/>
        </p:spPr>
        <p:txBody>
          <a:bodyPr wrap="square" lIns="0" tIns="0" rIns="0" bIns="0" rtlCol="0" anchor="ctr"/>
          <a:lstStyle/>
          <a:p>
            <a:pPr indent="0" marL="0">
              <a:buNone/>
            </a:pPr>
            <a:r>
              <a:rPr lang="en-US" sz="1100" b="1" dirty="0">
                <a:solidFill>
                  <a:srgbClr val="FF3355"/>
                </a:solidFill>
                <a:latin typeface="Consolas" pitchFamily="34" charset="0"/>
                <a:ea typeface="Consolas" pitchFamily="34" charset="-122"/>
                <a:cs typeface="Consolas" pitchFamily="34" charset="-120"/>
              </a:rPr>
              <a:t>Packing</a:t>
            </a:r>
            <a:endParaRPr lang="en-US" sz="1100" dirty="0"/>
          </a:p>
        </p:txBody>
      </p:sp>
      <p:sp>
        <p:nvSpPr>
          <p:cNvPr id="14" name="Text 12"/>
          <p:cNvSpPr/>
          <p:nvPr/>
        </p:nvSpPr>
        <p:spPr>
          <a:xfrm>
            <a:off x="429768" y="1645920"/>
            <a:ext cx="3840480" cy="594360"/>
          </a:xfrm>
          <a:prstGeom prst="rect">
            <a:avLst/>
          </a:prstGeom>
          <a:noFill/>
          <a:ln/>
        </p:spPr>
        <p:txBody>
          <a:bodyPr wrap="square" lIns="0" tIns="0" rIns="0" bIns="0" rtlCol="0" anchor="t"/>
          <a:lstStyle/>
          <a:p>
            <a:pPr indent="0" marL="0">
              <a:buNone/>
            </a:pPr>
            <a:r>
              <a:rPr lang="en-US" sz="950" dirty="0">
                <a:solidFill>
                  <a:srgbClr val="E2E8F0"/>
                </a:solidFill>
                <a:latin typeface="Calibri" pitchFamily="34" charset="0"/>
                <a:ea typeface="Calibri" pitchFamily="34" charset="-122"/>
                <a:cs typeface="Calibri" pitchFamily="34" charset="-120"/>
              </a:rPr>
              <a:t>Compresses/encrypts the binary. UPX is common. DIE detects it. Unpack first.</a:t>
            </a:r>
            <a:endParaRPr lang="en-US" sz="950" dirty="0"/>
          </a:p>
        </p:txBody>
      </p:sp>
      <p:sp>
        <p:nvSpPr>
          <p:cNvPr id="15" name="Shape 13"/>
          <p:cNvSpPr/>
          <p:nvPr/>
        </p:nvSpPr>
        <p:spPr>
          <a:xfrm>
            <a:off x="4754880" y="1234440"/>
            <a:ext cx="4114800" cy="1097280"/>
          </a:xfrm>
          <a:prstGeom prst="rect">
            <a:avLst/>
          </a:prstGeom>
          <a:solidFill>
            <a:srgbClr val="111827"/>
          </a:solidFill>
          <a:ln w="12700">
            <a:solidFill>
              <a:srgbClr val="FF6B35"/>
            </a:solidFill>
            <a:prstDash val="solid"/>
          </a:ln>
        </p:spPr>
      </p:sp>
      <p:sp>
        <p:nvSpPr>
          <p:cNvPr id="16" name="Shape 14"/>
          <p:cNvSpPr/>
          <p:nvPr/>
        </p:nvSpPr>
        <p:spPr>
          <a:xfrm>
            <a:off x="4754880" y="1234440"/>
            <a:ext cx="4114800" cy="347472"/>
          </a:xfrm>
          <a:prstGeom prst="rect">
            <a:avLst/>
          </a:prstGeom>
          <a:solidFill>
            <a:srgbClr val="FF6B35">
              <a:alpha val="18000"/>
            </a:srgbClr>
          </a:solidFill>
          <a:ln w="12700">
            <a:solidFill>
              <a:srgbClr val="FF6B35">
                <a:alpha val="18000"/>
              </a:srgbClr>
            </a:solidFill>
            <a:prstDash val="solid"/>
          </a:ln>
        </p:spPr>
      </p:sp>
      <p:sp>
        <p:nvSpPr>
          <p:cNvPr id="17" name="Text 15"/>
          <p:cNvSpPr/>
          <p:nvPr/>
        </p:nvSpPr>
        <p:spPr>
          <a:xfrm>
            <a:off x="4864608" y="1271016"/>
            <a:ext cx="3840480" cy="274320"/>
          </a:xfrm>
          <a:prstGeom prst="rect">
            <a:avLst/>
          </a:prstGeom>
          <a:noFill/>
          <a:ln/>
        </p:spPr>
        <p:txBody>
          <a:bodyPr wrap="square" lIns="0" tIns="0" rIns="0" bIns="0" rtlCol="0" anchor="ctr"/>
          <a:lstStyle/>
          <a:p>
            <a:pPr indent="0" marL="0">
              <a:buNone/>
            </a:pPr>
            <a:r>
              <a:rPr lang="en-US" sz="1100" b="1" dirty="0">
                <a:solidFill>
                  <a:srgbClr val="FF6B35"/>
                </a:solidFill>
                <a:latin typeface="Consolas" pitchFamily="34" charset="0"/>
                <a:ea typeface="Consolas" pitchFamily="34" charset="-122"/>
                <a:cs typeface="Consolas" pitchFamily="34" charset="-120"/>
              </a:rPr>
              <a:t>Obfuscation</a:t>
            </a:r>
            <a:endParaRPr lang="en-US" sz="1100" dirty="0"/>
          </a:p>
        </p:txBody>
      </p:sp>
      <p:sp>
        <p:nvSpPr>
          <p:cNvPr id="18" name="Text 16"/>
          <p:cNvSpPr/>
          <p:nvPr/>
        </p:nvSpPr>
        <p:spPr>
          <a:xfrm>
            <a:off x="4864608" y="1645920"/>
            <a:ext cx="3840480" cy="594360"/>
          </a:xfrm>
          <a:prstGeom prst="rect">
            <a:avLst/>
          </a:prstGeom>
          <a:noFill/>
          <a:ln/>
        </p:spPr>
        <p:txBody>
          <a:bodyPr wrap="square" lIns="0" tIns="0" rIns="0" bIns="0" rtlCol="0" anchor="t"/>
          <a:lstStyle/>
          <a:p>
            <a:pPr indent="0" marL="0">
              <a:buNone/>
            </a:pPr>
            <a:r>
              <a:rPr lang="en-US" sz="950" dirty="0">
                <a:solidFill>
                  <a:srgbClr val="E2E8F0"/>
                </a:solidFill>
                <a:latin typeface="Calibri" pitchFamily="34" charset="0"/>
                <a:ea typeface="Calibri" pitchFamily="34" charset="-122"/>
                <a:cs typeface="Calibri" pitchFamily="34" charset="-120"/>
              </a:rPr>
              <a:t>Junk code, dead code, misleading variable names to slow analysis.</a:t>
            </a:r>
            <a:endParaRPr lang="en-US" sz="950" dirty="0"/>
          </a:p>
        </p:txBody>
      </p:sp>
      <p:sp>
        <p:nvSpPr>
          <p:cNvPr id="19" name="Shape 17"/>
          <p:cNvSpPr/>
          <p:nvPr/>
        </p:nvSpPr>
        <p:spPr>
          <a:xfrm>
            <a:off x="320040" y="2468880"/>
            <a:ext cx="4114800" cy="1097280"/>
          </a:xfrm>
          <a:prstGeom prst="rect">
            <a:avLst/>
          </a:prstGeom>
          <a:solidFill>
            <a:srgbClr val="111827"/>
          </a:solidFill>
          <a:ln w="12700">
            <a:solidFill>
              <a:srgbClr val="FFD700"/>
            </a:solidFill>
            <a:prstDash val="solid"/>
          </a:ln>
        </p:spPr>
      </p:sp>
      <p:sp>
        <p:nvSpPr>
          <p:cNvPr id="20" name="Shape 18"/>
          <p:cNvSpPr/>
          <p:nvPr/>
        </p:nvSpPr>
        <p:spPr>
          <a:xfrm>
            <a:off x="320040" y="2468880"/>
            <a:ext cx="4114800" cy="347472"/>
          </a:xfrm>
          <a:prstGeom prst="rect">
            <a:avLst/>
          </a:prstGeom>
          <a:solidFill>
            <a:srgbClr val="FFD700">
              <a:alpha val="18000"/>
            </a:srgbClr>
          </a:solidFill>
          <a:ln w="12700">
            <a:solidFill>
              <a:srgbClr val="FFD700">
                <a:alpha val="18000"/>
              </a:srgbClr>
            </a:solidFill>
            <a:prstDash val="solid"/>
          </a:ln>
        </p:spPr>
      </p:sp>
      <p:sp>
        <p:nvSpPr>
          <p:cNvPr id="21" name="Text 19"/>
          <p:cNvSpPr/>
          <p:nvPr/>
        </p:nvSpPr>
        <p:spPr>
          <a:xfrm>
            <a:off x="429768" y="2505456"/>
            <a:ext cx="3840480" cy="274320"/>
          </a:xfrm>
          <a:prstGeom prst="rect">
            <a:avLst/>
          </a:prstGeom>
          <a:noFill/>
          <a:ln/>
        </p:spPr>
        <p:txBody>
          <a:bodyPr wrap="square" lIns="0" tIns="0" rIns="0" bIns="0" rtlCol="0" anchor="ctr"/>
          <a:lstStyle/>
          <a:p>
            <a:pPr indent="0" marL="0">
              <a:buNone/>
            </a:pPr>
            <a:r>
              <a:rPr lang="en-US" sz="1100" b="1" dirty="0">
                <a:solidFill>
                  <a:srgbClr val="FFD700"/>
                </a:solidFill>
                <a:latin typeface="Consolas" pitchFamily="34" charset="0"/>
                <a:ea typeface="Consolas" pitchFamily="34" charset="-122"/>
                <a:cs typeface="Consolas" pitchFamily="34" charset="-120"/>
              </a:rPr>
              <a:t>Anti-Debugging</a:t>
            </a:r>
            <a:endParaRPr lang="en-US" sz="1100" dirty="0"/>
          </a:p>
        </p:txBody>
      </p:sp>
      <p:sp>
        <p:nvSpPr>
          <p:cNvPr id="22" name="Text 20"/>
          <p:cNvSpPr/>
          <p:nvPr/>
        </p:nvSpPr>
        <p:spPr>
          <a:xfrm>
            <a:off x="429768" y="2880360"/>
            <a:ext cx="3840480" cy="594360"/>
          </a:xfrm>
          <a:prstGeom prst="rect">
            <a:avLst/>
          </a:prstGeom>
          <a:noFill/>
          <a:ln/>
        </p:spPr>
        <p:txBody>
          <a:bodyPr wrap="square" lIns="0" tIns="0" rIns="0" bIns="0" rtlCol="0" anchor="t"/>
          <a:lstStyle/>
          <a:p>
            <a:pPr indent="0" marL="0">
              <a:buNone/>
            </a:pPr>
            <a:r>
              <a:rPr lang="en-US" sz="950" dirty="0">
                <a:solidFill>
                  <a:srgbClr val="E2E8F0"/>
                </a:solidFill>
                <a:latin typeface="Calibri" pitchFamily="34" charset="0"/>
                <a:ea typeface="Calibri" pitchFamily="34" charset="-122"/>
                <a:cs typeface="Calibri" pitchFamily="34" charset="-120"/>
              </a:rPr>
              <a:t>IsDebuggerPresent, timing checks, exception tricks. Patch the checks or use plugins.</a:t>
            </a:r>
            <a:endParaRPr lang="en-US" sz="950" dirty="0"/>
          </a:p>
        </p:txBody>
      </p:sp>
      <p:sp>
        <p:nvSpPr>
          <p:cNvPr id="23" name="Shape 21"/>
          <p:cNvSpPr/>
          <p:nvPr/>
        </p:nvSpPr>
        <p:spPr>
          <a:xfrm>
            <a:off x="4754880" y="2468880"/>
            <a:ext cx="4114800" cy="1097280"/>
          </a:xfrm>
          <a:prstGeom prst="rect">
            <a:avLst/>
          </a:prstGeom>
          <a:solidFill>
            <a:srgbClr val="111827"/>
          </a:solidFill>
          <a:ln w="12700">
            <a:solidFill>
              <a:srgbClr val="00D4FF"/>
            </a:solidFill>
            <a:prstDash val="solid"/>
          </a:ln>
        </p:spPr>
      </p:sp>
      <p:sp>
        <p:nvSpPr>
          <p:cNvPr id="24" name="Shape 22"/>
          <p:cNvSpPr/>
          <p:nvPr/>
        </p:nvSpPr>
        <p:spPr>
          <a:xfrm>
            <a:off x="4754880" y="2468880"/>
            <a:ext cx="4114800" cy="347472"/>
          </a:xfrm>
          <a:prstGeom prst="rect">
            <a:avLst/>
          </a:prstGeom>
          <a:solidFill>
            <a:srgbClr val="00D4FF">
              <a:alpha val="18000"/>
            </a:srgbClr>
          </a:solidFill>
          <a:ln w="12700">
            <a:solidFill>
              <a:srgbClr val="00D4FF">
                <a:alpha val="18000"/>
              </a:srgbClr>
            </a:solidFill>
            <a:prstDash val="solid"/>
          </a:ln>
        </p:spPr>
      </p:sp>
      <p:sp>
        <p:nvSpPr>
          <p:cNvPr id="25" name="Text 23"/>
          <p:cNvSpPr/>
          <p:nvPr/>
        </p:nvSpPr>
        <p:spPr>
          <a:xfrm>
            <a:off x="4864608" y="2505456"/>
            <a:ext cx="3840480" cy="274320"/>
          </a:xfrm>
          <a:prstGeom prst="rect">
            <a:avLst/>
          </a:prstGeom>
          <a:noFill/>
          <a:ln/>
        </p:spPr>
        <p:txBody>
          <a:bodyPr wrap="square" lIns="0" tIns="0" rIns="0" bIns="0" rtlCol="0" anchor="ctr"/>
          <a:lstStyle/>
          <a:p>
            <a:pPr indent="0" marL="0">
              <a:buNone/>
            </a:pPr>
            <a:r>
              <a:rPr lang="en-US" sz="1100" b="1" dirty="0">
                <a:solidFill>
                  <a:srgbClr val="00D4FF"/>
                </a:solidFill>
                <a:latin typeface="Consolas" pitchFamily="34" charset="0"/>
                <a:ea typeface="Consolas" pitchFamily="34" charset="-122"/>
                <a:cs typeface="Consolas" pitchFamily="34" charset="-120"/>
              </a:rPr>
              <a:t>VM Detection</a:t>
            </a:r>
            <a:endParaRPr lang="en-US" sz="1100" dirty="0"/>
          </a:p>
        </p:txBody>
      </p:sp>
      <p:sp>
        <p:nvSpPr>
          <p:cNvPr id="26" name="Text 24"/>
          <p:cNvSpPr/>
          <p:nvPr/>
        </p:nvSpPr>
        <p:spPr>
          <a:xfrm>
            <a:off x="4864608" y="2880360"/>
            <a:ext cx="3840480" cy="594360"/>
          </a:xfrm>
          <a:prstGeom prst="rect">
            <a:avLst/>
          </a:prstGeom>
          <a:noFill/>
          <a:ln/>
        </p:spPr>
        <p:txBody>
          <a:bodyPr wrap="square" lIns="0" tIns="0" rIns="0" bIns="0" rtlCol="0" anchor="t"/>
          <a:lstStyle/>
          <a:p>
            <a:pPr indent="0" marL="0">
              <a:buNone/>
            </a:pPr>
            <a:r>
              <a:rPr lang="en-US" sz="950" dirty="0">
                <a:solidFill>
                  <a:srgbClr val="E2E8F0"/>
                </a:solidFill>
                <a:latin typeface="Calibri" pitchFamily="34" charset="0"/>
                <a:ea typeface="Calibri" pitchFamily="34" charset="-122"/>
                <a:cs typeface="Calibri" pitchFamily="34" charset="-120"/>
              </a:rPr>
              <a:t>Checks for VMware/VBox artifacts. Use barebone or masked VMs.</a:t>
            </a:r>
            <a:endParaRPr lang="en-US" sz="950" dirty="0"/>
          </a:p>
        </p:txBody>
      </p:sp>
      <p:sp>
        <p:nvSpPr>
          <p:cNvPr id="27" name="Shape 25"/>
          <p:cNvSpPr/>
          <p:nvPr/>
        </p:nvSpPr>
        <p:spPr>
          <a:xfrm>
            <a:off x="320040" y="3703320"/>
            <a:ext cx="4114800" cy="1097280"/>
          </a:xfrm>
          <a:prstGeom prst="rect">
            <a:avLst/>
          </a:prstGeom>
          <a:solidFill>
            <a:srgbClr val="111827"/>
          </a:solidFill>
          <a:ln w="12700">
            <a:solidFill>
              <a:srgbClr val="A855F7"/>
            </a:solidFill>
            <a:prstDash val="solid"/>
          </a:ln>
        </p:spPr>
      </p:sp>
      <p:sp>
        <p:nvSpPr>
          <p:cNvPr id="28" name="Shape 26"/>
          <p:cNvSpPr/>
          <p:nvPr/>
        </p:nvSpPr>
        <p:spPr>
          <a:xfrm>
            <a:off x="320040" y="3703320"/>
            <a:ext cx="4114800" cy="347472"/>
          </a:xfrm>
          <a:prstGeom prst="rect">
            <a:avLst/>
          </a:prstGeom>
          <a:solidFill>
            <a:srgbClr val="A855F7">
              <a:alpha val="18000"/>
            </a:srgbClr>
          </a:solidFill>
          <a:ln w="12700">
            <a:solidFill>
              <a:srgbClr val="A855F7">
                <a:alpha val="18000"/>
              </a:srgbClr>
            </a:solidFill>
            <a:prstDash val="solid"/>
          </a:ln>
        </p:spPr>
      </p:sp>
      <p:sp>
        <p:nvSpPr>
          <p:cNvPr id="29" name="Text 27"/>
          <p:cNvSpPr/>
          <p:nvPr/>
        </p:nvSpPr>
        <p:spPr>
          <a:xfrm>
            <a:off x="429768" y="3739896"/>
            <a:ext cx="3840480" cy="274320"/>
          </a:xfrm>
          <a:prstGeom prst="rect">
            <a:avLst/>
          </a:prstGeom>
          <a:noFill/>
          <a:ln/>
        </p:spPr>
        <p:txBody>
          <a:bodyPr wrap="square" lIns="0" tIns="0" rIns="0" bIns="0" rtlCol="0" anchor="ctr"/>
          <a:lstStyle/>
          <a:p>
            <a:pPr indent="0" marL="0">
              <a:buNone/>
            </a:pPr>
            <a:r>
              <a:rPr lang="en-US" sz="1100" b="1" dirty="0">
                <a:solidFill>
                  <a:srgbClr val="A855F7"/>
                </a:solidFill>
                <a:latin typeface="Consolas" pitchFamily="34" charset="0"/>
                <a:ea typeface="Consolas" pitchFamily="34" charset="-122"/>
                <a:cs typeface="Consolas" pitchFamily="34" charset="-120"/>
              </a:rPr>
              <a:t>Encryption</a:t>
            </a:r>
            <a:endParaRPr lang="en-US" sz="1100" dirty="0"/>
          </a:p>
        </p:txBody>
      </p:sp>
      <p:sp>
        <p:nvSpPr>
          <p:cNvPr id="30" name="Text 28"/>
          <p:cNvSpPr/>
          <p:nvPr/>
        </p:nvSpPr>
        <p:spPr>
          <a:xfrm>
            <a:off x="429768" y="4114800"/>
            <a:ext cx="3840480" cy="594360"/>
          </a:xfrm>
          <a:prstGeom prst="rect">
            <a:avLst/>
          </a:prstGeom>
          <a:noFill/>
          <a:ln/>
        </p:spPr>
        <p:txBody>
          <a:bodyPr wrap="square" lIns="0" tIns="0" rIns="0" bIns="0" rtlCol="0" anchor="t"/>
          <a:lstStyle/>
          <a:p>
            <a:pPr indent="0" marL="0">
              <a:buNone/>
            </a:pPr>
            <a:r>
              <a:rPr lang="en-US" sz="950" dirty="0">
                <a:solidFill>
                  <a:srgbClr val="E2E8F0"/>
                </a:solidFill>
                <a:latin typeface="Calibri" pitchFamily="34" charset="0"/>
                <a:ea typeface="Calibri" pitchFamily="34" charset="-122"/>
                <a:cs typeface="Calibri" pitchFamily="34" charset="-120"/>
              </a:rPr>
              <a:t>Strings and payloads decrypted at runtime. Set breakpoints AFTER decryption.</a:t>
            </a:r>
            <a:endParaRPr lang="en-US" sz="950" dirty="0"/>
          </a:p>
        </p:txBody>
      </p:sp>
      <p:sp>
        <p:nvSpPr>
          <p:cNvPr id="31" name="Shape 29"/>
          <p:cNvSpPr/>
          <p:nvPr/>
        </p:nvSpPr>
        <p:spPr>
          <a:xfrm>
            <a:off x="4754880" y="3703320"/>
            <a:ext cx="4114800" cy="1097280"/>
          </a:xfrm>
          <a:prstGeom prst="rect">
            <a:avLst/>
          </a:prstGeom>
          <a:solidFill>
            <a:srgbClr val="111827"/>
          </a:solidFill>
          <a:ln w="12700">
            <a:solidFill>
              <a:srgbClr val="00FF88"/>
            </a:solidFill>
            <a:prstDash val="solid"/>
          </a:ln>
        </p:spPr>
      </p:sp>
      <p:sp>
        <p:nvSpPr>
          <p:cNvPr id="32" name="Shape 30"/>
          <p:cNvSpPr/>
          <p:nvPr/>
        </p:nvSpPr>
        <p:spPr>
          <a:xfrm>
            <a:off x="4754880" y="3703320"/>
            <a:ext cx="4114800" cy="347472"/>
          </a:xfrm>
          <a:prstGeom prst="rect">
            <a:avLst/>
          </a:prstGeom>
          <a:solidFill>
            <a:srgbClr val="00FF88">
              <a:alpha val="18000"/>
            </a:srgbClr>
          </a:solidFill>
          <a:ln w="12700">
            <a:solidFill>
              <a:srgbClr val="00FF88">
                <a:alpha val="18000"/>
              </a:srgbClr>
            </a:solidFill>
            <a:prstDash val="solid"/>
          </a:ln>
        </p:spPr>
      </p:sp>
      <p:sp>
        <p:nvSpPr>
          <p:cNvPr id="33" name="Text 31"/>
          <p:cNvSpPr/>
          <p:nvPr/>
        </p:nvSpPr>
        <p:spPr>
          <a:xfrm>
            <a:off x="4864608" y="3739896"/>
            <a:ext cx="3840480" cy="274320"/>
          </a:xfrm>
          <a:prstGeom prst="rect">
            <a:avLst/>
          </a:prstGeom>
          <a:noFill/>
          <a:ln/>
        </p:spPr>
        <p:txBody>
          <a:bodyPr wrap="square" lIns="0" tIns="0" rIns="0" bIns="0" rtlCol="0" anchor="ctr"/>
          <a:lstStyle/>
          <a:p>
            <a:pPr indent="0" marL="0">
              <a:buNone/>
            </a:pPr>
            <a:r>
              <a:rPr lang="en-US" sz="1100" b="1" dirty="0">
                <a:solidFill>
                  <a:srgbClr val="00FF88"/>
                </a:solidFill>
                <a:latin typeface="Consolas" pitchFamily="34" charset="0"/>
                <a:ea typeface="Consolas" pitchFamily="34" charset="-122"/>
                <a:cs typeface="Consolas" pitchFamily="34" charset="-120"/>
              </a:rPr>
              <a:t>Control Flow Flatten</a:t>
            </a:r>
            <a:endParaRPr lang="en-US" sz="1100" dirty="0"/>
          </a:p>
        </p:txBody>
      </p:sp>
      <p:sp>
        <p:nvSpPr>
          <p:cNvPr id="34" name="Text 32"/>
          <p:cNvSpPr/>
          <p:nvPr/>
        </p:nvSpPr>
        <p:spPr>
          <a:xfrm>
            <a:off x="4864608" y="4114800"/>
            <a:ext cx="3840480" cy="594360"/>
          </a:xfrm>
          <a:prstGeom prst="rect">
            <a:avLst/>
          </a:prstGeom>
          <a:noFill/>
          <a:ln/>
        </p:spPr>
        <p:txBody>
          <a:bodyPr wrap="square" lIns="0" tIns="0" rIns="0" bIns="0" rtlCol="0" anchor="t"/>
          <a:lstStyle/>
          <a:p>
            <a:pPr indent="0" marL="0">
              <a:buNone/>
            </a:pPr>
            <a:r>
              <a:rPr lang="en-US" sz="950" dirty="0">
                <a:solidFill>
                  <a:srgbClr val="E2E8F0"/>
                </a:solidFill>
                <a:latin typeface="Calibri" pitchFamily="34" charset="0"/>
                <a:ea typeface="Calibri" pitchFamily="34" charset="-122"/>
                <a:cs typeface="Calibri" pitchFamily="34" charset="-120"/>
              </a:rPr>
              <a:t>Replaces normal flow with a dispatch table. Use Miasm or Hex-Rays to deobfuscate.</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3200400" cy="5143500"/>
          </a:xfrm>
          <a:prstGeom prst="rect">
            <a:avLst/>
          </a:prstGeom>
          <a:solidFill>
            <a:srgbClr val="111827"/>
          </a:solidFill>
          <a:ln w="12700">
            <a:solidFill>
              <a:srgbClr val="111827"/>
            </a:solidFill>
            <a:prstDash val="solid"/>
          </a:ln>
        </p:spPr>
      </p:sp>
      <p:sp>
        <p:nvSpPr>
          <p:cNvPr id="3" name="Shape 1"/>
          <p:cNvSpPr/>
          <p:nvPr/>
        </p:nvSpPr>
        <p:spPr>
          <a:xfrm>
            <a:off x="3163824" y="0"/>
            <a:ext cx="36576" cy="5143500"/>
          </a:xfrm>
          <a:prstGeom prst="rect">
            <a:avLst/>
          </a:prstGeom>
          <a:solidFill>
            <a:srgbClr val="00D4FF"/>
          </a:solidFill>
          <a:ln w="12700">
            <a:solidFill>
              <a:srgbClr val="00D4FF"/>
            </a:solidFill>
            <a:prstDash val="solid"/>
          </a:ln>
        </p:spPr>
      </p:sp>
      <p:sp>
        <p:nvSpPr>
          <p:cNvPr id="4" name="Text 2"/>
          <p:cNvSpPr/>
          <p:nvPr/>
        </p:nvSpPr>
        <p:spPr>
          <a:xfrm>
            <a:off x="274320" y="365760"/>
            <a:ext cx="2560320" cy="365760"/>
          </a:xfrm>
          <a:prstGeom prst="rect">
            <a:avLst/>
          </a:prstGeom>
          <a:noFill/>
          <a:ln/>
        </p:spPr>
        <p:txBody>
          <a:bodyPr wrap="square" lIns="0" tIns="0" rIns="0" bIns="0" rtlCol="0" anchor="ctr"/>
          <a:lstStyle/>
          <a:p>
            <a:pPr indent="0" marL="0">
              <a:buNone/>
            </a:pPr>
            <a:r>
              <a:rPr lang="en-US" sz="1000" spc="400" kern="0" dirty="0">
                <a:solidFill>
                  <a:srgbClr val="8B9BB4"/>
                </a:solidFill>
                <a:latin typeface="Consolas" pitchFamily="34" charset="0"/>
                <a:ea typeface="Consolas" pitchFamily="34" charset="-122"/>
                <a:cs typeface="Consolas" pitchFamily="34" charset="-120"/>
              </a:rPr>
              <a:t>SECTION 12</a:t>
            </a:r>
            <a:endParaRPr lang="en-US" sz="1000" dirty="0"/>
          </a:p>
        </p:txBody>
      </p:sp>
      <p:sp>
        <p:nvSpPr>
          <p:cNvPr id="5" name="Text 3"/>
          <p:cNvSpPr/>
          <p:nvPr/>
        </p:nvSpPr>
        <p:spPr>
          <a:xfrm>
            <a:off x="274320" y="731520"/>
            <a:ext cx="2560320" cy="1645920"/>
          </a:xfrm>
          <a:prstGeom prst="rect">
            <a:avLst/>
          </a:prstGeom>
          <a:noFill/>
          <a:ln/>
        </p:spPr>
        <p:txBody>
          <a:bodyPr wrap="square" lIns="0" tIns="0" rIns="0" bIns="0" rtlCol="0" anchor="ctr"/>
          <a:lstStyle/>
          <a:p>
            <a:pPr indent="0" marL="0">
              <a:buNone/>
            </a:pPr>
            <a:r>
              <a:rPr lang="en-US" sz="10000" b="1" dirty="0">
                <a:solidFill>
                  <a:srgbClr val="00D4FF">
                    <a:alpha val="90000"/>
                  </a:srgbClr>
                </a:solidFill>
                <a:latin typeface="Consolas" pitchFamily="34" charset="0"/>
                <a:ea typeface="Consolas" pitchFamily="34" charset="-122"/>
                <a:cs typeface="Consolas" pitchFamily="34" charset="-120"/>
              </a:rPr>
              <a:t>12</a:t>
            </a:r>
            <a:endParaRPr lang="en-US" sz="10000" dirty="0"/>
          </a:p>
        </p:txBody>
      </p:sp>
      <p:pic>
        <p:nvPicPr>
          <p:cNvPr id="6" name="Image 0" descr="preencoded.png">    </p:cNvPr>
          <p:cNvPicPr>
            <a:picLocks noChangeAspect="1"/>
          </p:cNvPicPr>
          <p:nvPr/>
        </p:nvPicPr>
        <p:blipFill>
          <a:blip r:embed="rId1"/>
          <a:stretch>
            <a:fillRect/>
          </a:stretch>
        </p:blipFill>
        <p:spPr>
          <a:xfrm>
            <a:off x="822960" y="2926080"/>
            <a:ext cx="1463040" cy="1463040"/>
          </a:xfrm>
          <a:prstGeom prst="rect">
            <a:avLst/>
          </a:prstGeom>
        </p:spPr>
      </p:pic>
      <p:sp>
        <p:nvSpPr>
          <p:cNvPr id="7" name="Text 4"/>
          <p:cNvSpPr/>
          <p:nvPr/>
        </p:nvSpPr>
        <p:spPr>
          <a:xfrm>
            <a:off x="3474720" y="1463040"/>
            <a:ext cx="5394960" cy="1371600"/>
          </a:xfrm>
          <a:prstGeom prst="rect">
            <a:avLst/>
          </a:prstGeom>
          <a:noFill/>
          <a:ln/>
        </p:spPr>
        <p:txBody>
          <a:bodyPr wrap="square" lIns="0" tIns="0" rIns="0" bIns="0" rtlCol="0" anchor="ctr"/>
          <a:lstStyle/>
          <a:p>
            <a:pPr indent="0" marL="0">
              <a:buNone/>
            </a:pPr>
            <a:r>
              <a:rPr lang="en-US" sz="3600" b="1" dirty="0">
                <a:solidFill>
                  <a:srgbClr val="FFFFFF"/>
                </a:solidFill>
                <a:latin typeface="Consolas" pitchFamily="34" charset="0"/>
                <a:ea typeface="Consolas" pitchFamily="34" charset="-122"/>
                <a:cs typeface="Consolas" pitchFamily="34" charset="-120"/>
              </a:rPr>
              <a:t>Lab Setup</a:t>
            </a:r>
            <a:endParaRPr lang="en-US" sz="3600" dirty="0"/>
          </a:p>
        </p:txBody>
      </p:sp>
      <p:sp>
        <p:nvSpPr>
          <p:cNvPr id="8" name="Text 5"/>
          <p:cNvSpPr/>
          <p:nvPr/>
        </p:nvSpPr>
        <p:spPr>
          <a:xfrm>
            <a:off x="3474720" y="2926080"/>
            <a:ext cx="5394960" cy="1097280"/>
          </a:xfrm>
          <a:prstGeom prst="rect">
            <a:avLst/>
          </a:prstGeom>
          <a:noFill/>
          <a:ln/>
        </p:spPr>
        <p:txBody>
          <a:bodyPr wrap="square" lIns="0" tIns="0" rIns="0" bIns="0" rtlCol="0" anchor="ctr"/>
          <a:lstStyle/>
          <a:p>
            <a:pPr indent="0" marL="0">
              <a:buNone/>
            </a:pPr>
            <a:r>
              <a:rPr lang="en-US" sz="1400" dirty="0">
                <a:solidFill>
                  <a:srgbClr val="8B9BB4"/>
                </a:solidFill>
                <a:latin typeface="Calibri" pitchFamily="34" charset="0"/>
                <a:ea typeface="Calibri" pitchFamily="34" charset="-122"/>
                <a:cs typeface="Calibri" pitchFamily="34" charset="-120"/>
              </a:rPr>
              <a:t>Building your safe reverse engineering environment.</a:t>
            </a:r>
            <a:endParaRPr lang="en-US" sz="1400" dirty="0"/>
          </a:p>
        </p:txBody>
      </p:sp>
      <p:sp>
        <p:nvSpPr>
          <p:cNvPr id="9" name="Shape 6"/>
          <p:cNvSpPr/>
          <p:nvPr/>
        </p:nvSpPr>
        <p:spPr>
          <a:xfrm>
            <a:off x="3474720" y="4297680"/>
            <a:ext cx="91440" cy="91440"/>
          </a:xfrm>
          <a:prstGeom prst="ellipse">
            <a:avLst/>
          </a:prstGeom>
          <a:solidFill>
            <a:srgbClr val="00D4FF"/>
          </a:solidFill>
          <a:ln w="12700">
            <a:solidFill>
              <a:srgbClr val="00D4FF"/>
            </a:solidFill>
            <a:prstDash val="solid"/>
          </a:ln>
        </p:spPr>
      </p:sp>
      <p:sp>
        <p:nvSpPr>
          <p:cNvPr id="10" name="Shape 7"/>
          <p:cNvSpPr/>
          <p:nvPr/>
        </p:nvSpPr>
        <p:spPr>
          <a:xfrm>
            <a:off x="3794760" y="4297680"/>
            <a:ext cx="91440" cy="91440"/>
          </a:xfrm>
          <a:prstGeom prst="ellipse">
            <a:avLst/>
          </a:prstGeom>
          <a:solidFill>
            <a:srgbClr val="00D4FF">
              <a:alpha val="85000"/>
            </a:srgbClr>
          </a:solidFill>
          <a:ln w="12700">
            <a:solidFill>
              <a:srgbClr val="00D4FF">
                <a:alpha val="85000"/>
              </a:srgbClr>
            </a:solidFill>
            <a:prstDash val="solid"/>
          </a:ln>
        </p:spPr>
      </p:sp>
      <p:sp>
        <p:nvSpPr>
          <p:cNvPr id="11" name="Shape 8"/>
          <p:cNvSpPr/>
          <p:nvPr/>
        </p:nvSpPr>
        <p:spPr>
          <a:xfrm>
            <a:off x="4114800" y="4297680"/>
            <a:ext cx="91440" cy="91440"/>
          </a:xfrm>
          <a:prstGeom prst="ellipse">
            <a:avLst/>
          </a:prstGeom>
          <a:solidFill>
            <a:srgbClr val="00D4FF">
              <a:alpha val="70000"/>
            </a:srgbClr>
          </a:solidFill>
          <a:ln w="12700">
            <a:solidFill>
              <a:srgbClr val="00D4FF">
                <a:alpha val="70000"/>
              </a:srgbClr>
            </a:solidFill>
            <a:prstDash val="solid"/>
          </a:ln>
        </p:spPr>
      </p:sp>
      <p:sp>
        <p:nvSpPr>
          <p:cNvPr id="12" name="Shape 9"/>
          <p:cNvSpPr/>
          <p:nvPr/>
        </p:nvSpPr>
        <p:spPr>
          <a:xfrm>
            <a:off x="4434840" y="4297680"/>
            <a:ext cx="91440" cy="91440"/>
          </a:xfrm>
          <a:prstGeom prst="ellipse">
            <a:avLst/>
          </a:prstGeom>
          <a:solidFill>
            <a:srgbClr val="00D4FF">
              <a:alpha val="55000"/>
            </a:srgbClr>
          </a:solidFill>
          <a:ln w="12700">
            <a:solidFill>
              <a:srgbClr val="00D4FF">
                <a:alpha val="55000"/>
              </a:srgbClr>
            </a:solidFill>
            <a:prstDash val="solid"/>
          </a:ln>
        </p:spPr>
      </p:sp>
      <p:sp>
        <p:nvSpPr>
          <p:cNvPr id="13" name="Shape 10"/>
          <p:cNvSpPr/>
          <p:nvPr/>
        </p:nvSpPr>
        <p:spPr>
          <a:xfrm>
            <a:off x="4754880" y="4297680"/>
            <a:ext cx="91440" cy="91440"/>
          </a:xfrm>
          <a:prstGeom prst="ellipse">
            <a:avLst/>
          </a:prstGeom>
          <a:solidFill>
            <a:srgbClr val="00D4FF">
              <a:alpha val="40000"/>
            </a:srgbClr>
          </a:solidFill>
          <a:ln w="12700">
            <a:solidFill>
              <a:srgbClr val="00D4FF">
                <a:alpha val="40000"/>
              </a:srgbClr>
            </a:solidFill>
            <a:prstDash val="solid"/>
          </a:ln>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164592" y="164592"/>
            <a:ext cx="365760" cy="45720"/>
          </a:xfrm>
          <a:prstGeom prst="rect">
            <a:avLst/>
          </a:prstGeom>
          <a:solidFill>
            <a:srgbClr val="00FF88"/>
          </a:solidFill>
          <a:ln w="12700">
            <a:solidFill>
              <a:srgbClr val="00FF88"/>
            </a:solidFill>
            <a:prstDash val="solid"/>
          </a:ln>
        </p:spPr>
      </p:sp>
      <p:sp>
        <p:nvSpPr>
          <p:cNvPr id="3" name="Shape 1"/>
          <p:cNvSpPr/>
          <p:nvPr/>
        </p:nvSpPr>
        <p:spPr>
          <a:xfrm>
            <a:off x="164592" y="164592"/>
            <a:ext cx="45720" cy="274320"/>
          </a:xfrm>
          <a:prstGeom prst="rect">
            <a:avLst/>
          </a:prstGeom>
          <a:solidFill>
            <a:srgbClr val="00FF88"/>
          </a:solidFill>
          <a:ln w="12700">
            <a:solidFill>
              <a:srgbClr val="00FF88"/>
            </a:solidFill>
            <a:prstDash val="solid"/>
          </a:ln>
        </p:spPr>
      </p:sp>
      <p:sp>
        <p:nvSpPr>
          <p:cNvPr id="4" name="Shape 2"/>
          <p:cNvSpPr/>
          <p:nvPr/>
        </p:nvSpPr>
        <p:spPr>
          <a:xfrm>
            <a:off x="8613648" y="4910328"/>
            <a:ext cx="365760" cy="45720"/>
          </a:xfrm>
          <a:prstGeom prst="rect">
            <a:avLst/>
          </a:prstGeom>
          <a:solidFill>
            <a:srgbClr val="00D4FF"/>
          </a:solidFill>
          <a:ln w="12700">
            <a:solidFill>
              <a:srgbClr val="00D4FF"/>
            </a:solidFill>
            <a:prstDash val="solid"/>
          </a:ln>
        </p:spPr>
      </p:sp>
      <p:sp>
        <p:nvSpPr>
          <p:cNvPr id="5" name="Shape 3"/>
          <p:cNvSpPr/>
          <p:nvPr/>
        </p:nvSpPr>
        <p:spPr>
          <a:xfrm>
            <a:off x="8933688" y="4681728"/>
            <a:ext cx="45720" cy="274320"/>
          </a:xfrm>
          <a:prstGeom prst="rect">
            <a:avLst/>
          </a:prstGeom>
          <a:solidFill>
            <a:srgbClr val="00D4FF"/>
          </a:solidFill>
          <a:ln w="12700">
            <a:solidFill>
              <a:srgbClr val="00D4FF"/>
            </a:solidFill>
            <a:prstDash val="solid"/>
          </a:ln>
        </p:spPr>
      </p:sp>
      <p:sp>
        <p:nvSpPr>
          <p:cNvPr id="6" name="Shape 4"/>
          <p:cNvSpPr/>
          <p:nvPr/>
        </p:nvSpPr>
        <p:spPr>
          <a:xfrm>
            <a:off x="411480" y="201168"/>
            <a:ext cx="2587752" cy="256032"/>
          </a:xfrm>
          <a:prstGeom prst="rect">
            <a:avLst/>
          </a:prstGeom>
          <a:solidFill>
            <a:srgbClr val="00D4FF"/>
          </a:solidFill>
          <a:ln w="12700">
            <a:solidFill>
              <a:srgbClr val="00D4FF"/>
            </a:solidFill>
            <a:prstDash val="solid"/>
          </a:ln>
        </p:spPr>
      </p:sp>
      <p:sp>
        <p:nvSpPr>
          <p:cNvPr id="7" name="Text 5"/>
          <p:cNvSpPr/>
          <p:nvPr/>
        </p:nvSpPr>
        <p:spPr>
          <a:xfrm>
            <a:off x="411480" y="201168"/>
            <a:ext cx="2587752" cy="256032"/>
          </a:xfrm>
          <a:prstGeom prst="rect">
            <a:avLst/>
          </a:prstGeom>
          <a:noFill/>
          <a:ln/>
        </p:spPr>
        <p:txBody>
          <a:bodyPr wrap="square" lIns="0" tIns="0" rIns="0" bIns="0" rtlCol="0" anchor="ctr"/>
          <a:lstStyle/>
          <a:p>
            <a:pPr algn="ctr" indent="0" marL="0">
              <a:buNone/>
            </a:pPr>
            <a:r>
              <a:rPr lang="en-US" sz="900" b="1" dirty="0">
                <a:solidFill>
                  <a:srgbClr val="0A0E1A"/>
                </a:solidFill>
                <a:latin typeface="Consolas" pitchFamily="34" charset="0"/>
                <a:ea typeface="Consolas" pitchFamily="34" charset="-122"/>
                <a:cs typeface="Consolas" pitchFamily="34" charset="-120"/>
              </a:rPr>
              <a:t>SECTION 12 · LAB SETUP</a:t>
            </a:r>
            <a:endParaRPr lang="en-US" sz="900" dirty="0"/>
          </a:p>
        </p:txBody>
      </p:sp>
      <p:sp>
        <p:nvSpPr>
          <p:cNvPr id="8" name="Text 6"/>
          <p:cNvSpPr/>
          <p:nvPr/>
        </p:nvSpPr>
        <p:spPr>
          <a:xfrm>
            <a:off x="411480" y="530352"/>
            <a:ext cx="8321040" cy="594360"/>
          </a:xfrm>
          <a:prstGeom prst="rect">
            <a:avLst/>
          </a:prstGeom>
          <a:noFill/>
          <a:ln/>
        </p:spPr>
        <p:txBody>
          <a:bodyPr wrap="square" lIns="0" tIns="0" rIns="0" bIns="0" rtlCol="0" anchor="ctr"/>
          <a:lstStyle/>
          <a:p>
            <a:pPr algn="l" indent="0" marL="0">
              <a:buNone/>
            </a:pPr>
            <a:r>
              <a:rPr lang="en-US" sz="2800" b="1" dirty="0">
                <a:solidFill>
                  <a:srgbClr val="00D4FF"/>
                </a:solidFill>
                <a:latin typeface="Consolas" pitchFamily="34" charset="0"/>
                <a:ea typeface="Consolas" pitchFamily="34" charset="-122"/>
                <a:cs typeface="Consolas" pitchFamily="34" charset="-120"/>
              </a:rPr>
              <a:t>Building Your RE Lab</a:t>
            </a:r>
            <a:endParaRPr lang="en-US" sz="2800" dirty="0"/>
          </a:p>
        </p:txBody>
      </p:sp>
      <p:sp>
        <p:nvSpPr>
          <p:cNvPr id="9" name="Text 7"/>
          <p:cNvSpPr/>
          <p:nvPr/>
        </p:nvSpPr>
        <p:spPr>
          <a:xfrm>
            <a:off x="411480" y="1051560"/>
            <a:ext cx="8321040" cy="320040"/>
          </a:xfrm>
          <a:prstGeom prst="rect">
            <a:avLst/>
          </a:prstGeom>
          <a:noFill/>
          <a:ln/>
        </p:spPr>
        <p:txBody>
          <a:bodyPr wrap="square" lIns="0" tIns="0" rIns="0" bIns="0" rtlCol="0" anchor="ctr"/>
          <a:lstStyle/>
          <a:p>
            <a:pPr algn="l" indent="0" marL="0">
              <a:buNone/>
            </a:pPr>
            <a:r>
              <a:rPr lang="en-US" sz="1300" dirty="0">
                <a:solidFill>
                  <a:srgbClr val="8B9BB4"/>
                </a:solidFill>
                <a:latin typeface="Calibri" pitchFamily="34" charset="0"/>
                <a:ea typeface="Calibri" pitchFamily="34" charset="-122"/>
                <a:cs typeface="Calibri" pitchFamily="34" charset="-120"/>
              </a:rPr>
              <a:t>A safe, isolated environment for hands-on practice.</a:t>
            </a:r>
            <a:endParaRPr lang="en-US" sz="1300" dirty="0"/>
          </a:p>
        </p:txBody>
      </p:sp>
      <p:sp>
        <p:nvSpPr>
          <p:cNvPr id="10" name="Text 8"/>
          <p:cNvSpPr/>
          <p:nvPr/>
        </p:nvSpPr>
        <p:spPr>
          <a:xfrm>
            <a:off x="8686800" y="4754880"/>
            <a:ext cx="365760" cy="228600"/>
          </a:xfrm>
          <a:prstGeom prst="rect">
            <a:avLst/>
          </a:prstGeom>
          <a:noFill/>
          <a:ln/>
        </p:spPr>
        <p:txBody>
          <a:bodyPr wrap="square" lIns="0" tIns="0" rIns="0" bIns="0" rtlCol="0" anchor="ctr"/>
          <a:lstStyle/>
          <a:p>
            <a:pPr algn="r" indent="0" marL="0">
              <a:buNone/>
            </a:pPr>
            <a:r>
              <a:rPr lang="en-US" sz="900" dirty="0">
                <a:solidFill>
                  <a:srgbClr val="8B9BB4"/>
                </a:solidFill>
                <a:latin typeface="Consolas" pitchFamily="34" charset="0"/>
                <a:ea typeface="Consolas" pitchFamily="34" charset="-122"/>
                <a:cs typeface="Consolas" pitchFamily="34" charset="-120"/>
              </a:rPr>
              <a:t>28</a:t>
            </a:r>
            <a:endParaRPr lang="en-US" sz="900" dirty="0"/>
          </a:p>
        </p:txBody>
      </p:sp>
      <p:sp>
        <p:nvSpPr>
          <p:cNvPr id="11" name="Shape 9"/>
          <p:cNvSpPr/>
          <p:nvPr/>
        </p:nvSpPr>
        <p:spPr>
          <a:xfrm>
            <a:off x="320040" y="1234440"/>
            <a:ext cx="4114800" cy="3657600"/>
          </a:xfrm>
          <a:prstGeom prst="rect">
            <a:avLst/>
          </a:prstGeom>
          <a:solidFill>
            <a:srgbClr val="111827"/>
          </a:solidFill>
          <a:ln w="12700">
            <a:solidFill>
              <a:srgbClr val="00D4FF"/>
            </a:solidFill>
            <a:prstDash val="solid"/>
          </a:ln>
        </p:spPr>
      </p:sp>
      <p:sp>
        <p:nvSpPr>
          <p:cNvPr id="12" name="Text 10"/>
          <p:cNvSpPr/>
          <p:nvPr/>
        </p:nvSpPr>
        <p:spPr>
          <a:xfrm>
            <a:off x="320040" y="1234440"/>
            <a:ext cx="4114800" cy="347472"/>
          </a:xfrm>
          <a:prstGeom prst="rect">
            <a:avLst/>
          </a:prstGeom>
          <a:noFill/>
          <a:ln/>
        </p:spPr>
        <p:txBody>
          <a:bodyPr wrap="square" lIns="0" tIns="0" rIns="0" bIns="0" rtlCol="0" anchor="ctr"/>
          <a:lstStyle/>
          <a:p>
            <a:pPr algn="ctr" indent="0" marL="0">
              <a:buNone/>
            </a:pPr>
            <a:r>
              <a:rPr lang="en-US" sz="1200" b="1" dirty="0">
                <a:solidFill>
                  <a:srgbClr val="00D4FF"/>
                </a:solidFill>
                <a:latin typeface="Consolas" pitchFamily="34" charset="0"/>
                <a:ea typeface="Consolas" pitchFamily="34" charset="-122"/>
                <a:cs typeface="Consolas" pitchFamily="34" charset="-120"/>
              </a:rPr>
              <a:t>Host Machine</a:t>
            </a:r>
            <a:endParaRPr lang="en-US" sz="1200" dirty="0"/>
          </a:p>
        </p:txBody>
      </p:sp>
      <p:sp>
        <p:nvSpPr>
          <p:cNvPr id="13" name="Shape 11"/>
          <p:cNvSpPr/>
          <p:nvPr/>
        </p:nvSpPr>
        <p:spPr>
          <a:xfrm>
            <a:off x="502920" y="1664208"/>
            <a:ext cx="3749040" cy="640080"/>
          </a:xfrm>
          <a:prstGeom prst="rect">
            <a:avLst/>
          </a:prstGeom>
          <a:solidFill>
            <a:srgbClr val="0A1520"/>
          </a:solidFill>
          <a:ln w="12700">
            <a:solidFill>
              <a:srgbClr val="1E3A5F"/>
            </a:solidFill>
            <a:prstDash val="solid"/>
          </a:ln>
        </p:spPr>
      </p:sp>
      <p:sp>
        <p:nvSpPr>
          <p:cNvPr id="14" name="Text 12"/>
          <p:cNvSpPr/>
          <p:nvPr/>
        </p:nvSpPr>
        <p:spPr>
          <a:xfrm>
            <a:off x="502920" y="1664208"/>
            <a:ext cx="3749040" cy="640080"/>
          </a:xfrm>
          <a:prstGeom prst="rect">
            <a:avLst/>
          </a:prstGeom>
          <a:noFill/>
          <a:ln/>
        </p:spPr>
        <p:txBody>
          <a:bodyPr wrap="square" lIns="0" tIns="0" rIns="0" bIns="0" rtlCol="0" anchor="ctr"/>
          <a:lstStyle/>
          <a:p>
            <a:pPr algn="ctr" indent="0" marL="0">
              <a:buNone/>
            </a:pPr>
            <a:r>
              <a:rPr lang="en-US" sz="1000" dirty="0">
                <a:solidFill>
                  <a:srgbClr val="8B9BB4"/>
                </a:solidFill>
                <a:latin typeface="Consolas" pitchFamily="34" charset="0"/>
                <a:ea typeface="Consolas" pitchFamily="34" charset="-122"/>
                <a:cs typeface="Consolas" pitchFamily="34" charset="-120"/>
              </a:rPr>
              <a:t>VMware / VirtualBox Hypervisor</a:t>
            </a:r>
            <a:endParaRPr lang="en-US" sz="1000" dirty="0"/>
          </a:p>
        </p:txBody>
      </p:sp>
      <p:sp>
        <p:nvSpPr>
          <p:cNvPr id="15" name="Shape 13"/>
          <p:cNvSpPr/>
          <p:nvPr/>
        </p:nvSpPr>
        <p:spPr>
          <a:xfrm>
            <a:off x="502920" y="2423160"/>
            <a:ext cx="3749040" cy="1005840"/>
          </a:xfrm>
          <a:prstGeom prst="rect">
            <a:avLst/>
          </a:prstGeom>
          <a:solidFill>
            <a:srgbClr val="0A0E1A"/>
          </a:solidFill>
          <a:ln w="12700">
            <a:solidFill>
              <a:srgbClr val="FF6B35"/>
            </a:solidFill>
            <a:prstDash val="solid"/>
          </a:ln>
        </p:spPr>
      </p:sp>
      <p:sp>
        <p:nvSpPr>
          <p:cNvPr id="16" name="Text 14"/>
          <p:cNvSpPr/>
          <p:nvPr/>
        </p:nvSpPr>
        <p:spPr>
          <a:xfrm>
            <a:off x="594360" y="2496312"/>
            <a:ext cx="3566160" cy="274320"/>
          </a:xfrm>
          <a:prstGeom prst="rect">
            <a:avLst/>
          </a:prstGeom>
          <a:noFill/>
          <a:ln/>
        </p:spPr>
        <p:txBody>
          <a:bodyPr wrap="square" lIns="0" tIns="0" rIns="0" bIns="0" rtlCol="0" anchor="ctr"/>
          <a:lstStyle/>
          <a:p>
            <a:pPr indent="0" marL="0">
              <a:buNone/>
            </a:pPr>
            <a:r>
              <a:rPr lang="en-US" sz="1100" b="1" dirty="0">
                <a:solidFill>
                  <a:srgbClr val="FF6B35"/>
                </a:solidFill>
                <a:latin typeface="Consolas" pitchFamily="34" charset="0"/>
                <a:ea typeface="Consolas" pitchFamily="34" charset="-122"/>
                <a:cs typeface="Consolas" pitchFamily="34" charset="-120"/>
              </a:rPr>
              <a:t>Windows 10 VM</a:t>
            </a:r>
            <a:endParaRPr lang="en-US" sz="1100" dirty="0"/>
          </a:p>
        </p:txBody>
      </p:sp>
      <p:sp>
        <p:nvSpPr>
          <p:cNvPr id="17" name="Text 15"/>
          <p:cNvSpPr/>
          <p:nvPr/>
        </p:nvSpPr>
        <p:spPr>
          <a:xfrm>
            <a:off x="594360" y="2807208"/>
            <a:ext cx="3566160" cy="502920"/>
          </a:xfrm>
          <a:prstGeom prst="rect">
            <a:avLst/>
          </a:prstGeom>
          <a:noFill/>
          <a:ln/>
        </p:spPr>
        <p:txBody>
          <a:bodyPr wrap="square" lIns="0" tIns="0" rIns="0" bIns="0" rtlCol="0" anchor="ctr"/>
          <a:lstStyle/>
          <a:p>
            <a:pPr indent="0" marL="0">
              <a:buNone/>
            </a:pPr>
            <a:r>
              <a:rPr lang="en-US" sz="950" dirty="0">
                <a:solidFill>
                  <a:srgbClr val="E2E8F0"/>
                </a:solidFill>
                <a:latin typeface="Calibri" pitchFamily="34" charset="0"/>
                <a:ea typeface="Calibri" pitchFamily="34" charset="-122"/>
                <a:cs typeface="Calibri" pitchFamily="34" charset="-120"/>
              </a:rPr>
              <a:t>Ghidra, x64dbg, DIE</a:t>
            </a:r>
            <a:endParaRPr lang="en-US" sz="950" dirty="0"/>
          </a:p>
          <a:p>
            <a:pPr indent="0" marL="0">
              <a:buNone/>
            </a:pPr>
            <a:r>
              <a:rPr lang="en-US" sz="950" dirty="0">
                <a:solidFill>
                  <a:srgbClr val="E2E8F0"/>
                </a:solidFill>
                <a:latin typeface="Calibri" pitchFamily="34" charset="0"/>
                <a:ea typeface="Calibri" pitchFamily="34" charset="-122"/>
                <a:cs typeface="Calibri" pitchFamily="34" charset="-120"/>
              </a:rPr>
              <a:t>PE-bear, PEStudio</a:t>
            </a:r>
            <a:endParaRPr lang="en-US" sz="950" dirty="0"/>
          </a:p>
        </p:txBody>
      </p:sp>
      <p:sp>
        <p:nvSpPr>
          <p:cNvPr id="18" name="Shape 16"/>
          <p:cNvSpPr/>
          <p:nvPr/>
        </p:nvSpPr>
        <p:spPr>
          <a:xfrm>
            <a:off x="502920" y="3611880"/>
            <a:ext cx="3749040" cy="1005840"/>
          </a:xfrm>
          <a:prstGeom prst="rect">
            <a:avLst/>
          </a:prstGeom>
          <a:solidFill>
            <a:srgbClr val="0A0E1A"/>
          </a:solidFill>
          <a:ln w="12700">
            <a:solidFill>
              <a:srgbClr val="00FF88"/>
            </a:solidFill>
            <a:prstDash val="solid"/>
          </a:ln>
        </p:spPr>
      </p:sp>
      <p:sp>
        <p:nvSpPr>
          <p:cNvPr id="19" name="Text 17"/>
          <p:cNvSpPr/>
          <p:nvPr/>
        </p:nvSpPr>
        <p:spPr>
          <a:xfrm>
            <a:off x="594360" y="3685032"/>
            <a:ext cx="3566160" cy="274320"/>
          </a:xfrm>
          <a:prstGeom prst="rect">
            <a:avLst/>
          </a:prstGeom>
          <a:noFill/>
          <a:ln/>
        </p:spPr>
        <p:txBody>
          <a:bodyPr wrap="square" lIns="0" tIns="0" rIns="0" bIns="0" rtlCol="0" anchor="ctr"/>
          <a:lstStyle/>
          <a:p>
            <a:pPr indent="0" marL="0">
              <a:buNone/>
            </a:pPr>
            <a:r>
              <a:rPr lang="en-US" sz="1100" b="1" dirty="0">
                <a:solidFill>
                  <a:srgbClr val="00FF88"/>
                </a:solidFill>
                <a:latin typeface="Consolas" pitchFamily="34" charset="0"/>
                <a:ea typeface="Consolas" pitchFamily="34" charset="-122"/>
                <a:cs typeface="Consolas" pitchFamily="34" charset="-120"/>
              </a:rPr>
              <a:t>REMnux Linux VM</a:t>
            </a:r>
            <a:endParaRPr lang="en-US" sz="1100" dirty="0"/>
          </a:p>
        </p:txBody>
      </p:sp>
      <p:sp>
        <p:nvSpPr>
          <p:cNvPr id="20" name="Text 18"/>
          <p:cNvSpPr/>
          <p:nvPr/>
        </p:nvSpPr>
        <p:spPr>
          <a:xfrm>
            <a:off x="594360" y="3995928"/>
            <a:ext cx="3566160" cy="502920"/>
          </a:xfrm>
          <a:prstGeom prst="rect">
            <a:avLst/>
          </a:prstGeom>
          <a:noFill/>
          <a:ln/>
        </p:spPr>
        <p:txBody>
          <a:bodyPr wrap="square" lIns="0" tIns="0" rIns="0" bIns="0" rtlCol="0" anchor="ctr"/>
          <a:lstStyle/>
          <a:p>
            <a:pPr indent="0" marL="0">
              <a:buNone/>
            </a:pPr>
            <a:r>
              <a:rPr lang="en-US" sz="950" dirty="0">
                <a:solidFill>
                  <a:srgbClr val="E2E8F0"/>
                </a:solidFill>
                <a:latin typeface="Calibri" pitchFamily="34" charset="0"/>
                <a:ea typeface="Calibri" pitchFamily="34" charset="-122"/>
                <a:cs typeface="Calibri" pitchFamily="34" charset="-120"/>
              </a:rPr>
              <a:t>Radare2, strings</a:t>
            </a:r>
            <a:endParaRPr lang="en-US" sz="950" dirty="0"/>
          </a:p>
          <a:p>
            <a:pPr indent="0" marL="0">
              <a:buNone/>
            </a:pPr>
            <a:r>
              <a:rPr lang="en-US" sz="950" dirty="0">
                <a:solidFill>
                  <a:srgbClr val="E2E8F0"/>
                </a:solidFill>
                <a:latin typeface="Calibri" pitchFamily="34" charset="0"/>
                <a:ea typeface="Calibri" pitchFamily="34" charset="-122"/>
                <a:cs typeface="Calibri" pitchFamily="34" charset="-120"/>
              </a:rPr>
              <a:t>strace, binwalk</a:t>
            </a:r>
            <a:endParaRPr lang="en-US" sz="950" dirty="0"/>
          </a:p>
        </p:txBody>
      </p:sp>
      <p:sp>
        <p:nvSpPr>
          <p:cNvPr id="21" name="Shape 19"/>
          <p:cNvSpPr/>
          <p:nvPr/>
        </p:nvSpPr>
        <p:spPr>
          <a:xfrm>
            <a:off x="4572000" y="1234440"/>
            <a:ext cx="4251960" cy="621792"/>
          </a:xfrm>
          <a:prstGeom prst="rect">
            <a:avLst/>
          </a:prstGeom>
          <a:solidFill>
            <a:srgbClr val="111827"/>
          </a:solidFill>
          <a:ln w="12700">
            <a:solidFill>
              <a:srgbClr val="00FF88"/>
            </a:solidFill>
            <a:prstDash val="solid"/>
          </a:ln>
        </p:spPr>
      </p:sp>
      <p:sp>
        <p:nvSpPr>
          <p:cNvPr id="22" name="Text 20"/>
          <p:cNvSpPr/>
          <p:nvPr/>
        </p:nvSpPr>
        <p:spPr>
          <a:xfrm>
            <a:off x="4681728" y="1280160"/>
            <a:ext cx="4023360" cy="228600"/>
          </a:xfrm>
          <a:prstGeom prst="rect">
            <a:avLst/>
          </a:prstGeom>
          <a:noFill/>
          <a:ln/>
        </p:spPr>
        <p:txBody>
          <a:bodyPr wrap="square" lIns="0" tIns="0" rIns="0" bIns="0" rtlCol="0" anchor="ctr"/>
          <a:lstStyle/>
          <a:p>
            <a:pPr indent="0" marL="0">
              <a:buNone/>
            </a:pPr>
            <a:r>
              <a:rPr lang="en-US" sz="1000" b="1" dirty="0">
                <a:solidFill>
                  <a:srgbClr val="00FF88"/>
                </a:solidFill>
                <a:latin typeface="Consolas" pitchFamily="34" charset="0"/>
                <a:ea typeface="Consolas" pitchFamily="34" charset="-122"/>
                <a:cs typeface="Consolas" pitchFamily="34" charset="-120"/>
              </a:rPr>
              <a:t>📸 Always Snapshot</a:t>
            </a:r>
            <a:endParaRPr lang="en-US" sz="1000" dirty="0"/>
          </a:p>
        </p:txBody>
      </p:sp>
      <p:sp>
        <p:nvSpPr>
          <p:cNvPr id="23" name="Text 21"/>
          <p:cNvSpPr/>
          <p:nvPr/>
        </p:nvSpPr>
        <p:spPr>
          <a:xfrm>
            <a:off x="4681728" y="1545336"/>
            <a:ext cx="4023360" cy="256032"/>
          </a:xfrm>
          <a:prstGeom prst="rect">
            <a:avLst/>
          </a:prstGeom>
          <a:noFill/>
          <a:ln/>
        </p:spPr>
        <p:txBody>
          <a:bodyPr wrap="square" lIns="0" tIns="0" rIns="0" bIns="0" rtlCol="0" anchor="ctr"/>
          <a:lstStyle/>
          <a:p>
            <a:pPr indent="0" marL="0">
              <a:buNone/>
            </a:pPr>
            <a:r>
              <a:rPr lang="en-US" sz="850" dirty="0">
                <a:solidFill>
                  <a:srgbClr val="E2E8F0"/>
                </a:solidFill>
                <a:latin typeface="Calibri" pitchFamily="34" charset="0"/>
                <a:ea typeface="Calibri" pitchFamily="34" charset="-122"/>
                <a:cs typeface="Calibri" pitchFamily="34" charset="-120"/>
              </a:rPr>
              <a:t>Take VM snapshots before analyzing anything. Revert if infected.</a:t>
            </a:r>
            <a:endParaRPr lang="en-US" sz="850" dirty="0"/>
          </a:p>
        </p:txBody>
      </p:sp>
      <p:sp>
        <p:nvSpPr>
          <p:cNvPr id="24" name="Shape 22"/>
          <p:cNvSpPr/>
          <p:nvPr/>
        </p:nvSpPr>
        <p:spPr>
          <a:xfrm>
            <a:off x="4572000" y="1947672"/>
            <a:ext cx="4251960" cy="621792"/>
          </a:xfrm>
          <a:prstGeom prst="rect">
            <a:avLst/>
          </a:prstGeom>
          <a:solidFill>
            <a:srgbClr val="111827"/>
          </a:solidFill>
          <a:ln w="12700">
            <a:solidFill>
              <a:srgbClr val="00D4FF"/>
            </a:solidFill>
            <a:prstDash val="solid"/>
          </a:ln>
        </p:spPr>
      </p:sp>
      <p:sp>
        <p:nvSpPr>
          <p:cNvPr id="25" name="Text 23"/>
          <p:cNvSpPr/>
          <p:nvPr/>
        </p:nvSpPr>
        <p:spPr>
          <a:xfrm>
            <a:off x="4681728" y="1993392"/>
            <a:ext cx="4023360" cy="228600"/>
          </a:xfrm>
          <a:prstGeom prst="rect">
            <a:avLst/>
          </a:prstGeom>
          <a:noFill/>
          <a:ln/>
        </p:spPr>
        <p:txBody>
          <a:bodyPr wrap="square" lIns="0" tIns="0" rIns="0" bIns="0" rtlCol="0" anchor="ctr"/>
          <a:lstStyle/>
          <a:p>
            <a:pPr indent="0" marL="0">
              <a:buNone/>
            </a:pPr>
            <a:r>
              <a:rPr lang="en-US" sz="1000" b="1" dirty="0">
                <a:solidFill>
                  <a:srgbClr val="00D4FF"/>
                </a:solidFill>
                <a:latin typeface="Consolas" pitchFamily="34" charset="0"/>
                <a:ea typeface="Consolas" pitchFamily="34" charset="-122"/>
                <a:cs typeface="Consolas" pitchFamily="34" charset="-120"/>
              </a:rPr>
              <a:t>🌐 Host-Only Network</a:t>
            </a:r>
            <a:endParaRPr lang="en-US" sz="1000" dirty="0"/>
          </a:p>
        </p:txBody>
      </p:sp>
      <p:sp>
        <p:nvSpPr>
          <p:cNvPr id="26" name="Text 24"/>
          <p:cNvSpPr/>
          <p:nvPr/>
        </p:nvSpPr>
        <p:spPr>
          <a:xfrm>
            <a:off x="4681728" y="2258568"/>
            <a:ext cx="4023360" cy="256032"/>
          </a:xfrm>
          <a:prstGeom prst="rect">
            <a:avLst/>
          </a:prstGeom>
          <a:noFill/>
          <a:ln/>
        </p:spPr>
        <p:txBody>
          <a:bodyPr wrap="square" lIns="0" tIns="0" rIns="0" bIns="0" rtlCol="0" anchor="ctr"/>
          <a:lstStyle/>
          <a:p>
            <a:pPr indent="0" marL="0">
              <a:buNone/>
            </a:pPr>
            <a:r>
              <a:rPr lang="en-US" sz="850" dirty="0">
                <a:solidFill>
                  <a:srgbClr val="E2E8F0"/>
                </a:solidFill>
                <a:latin typeface="Calibri" pitchFamily="34" charset="0"/>
                <a:ea typeface="Calibri" pitchFamily="34" charset="-122"/>
                <a:cs typeface="Calibri" pitchFamily="34" charset="-120"/>
              </a:rPr>
              <a:t>Set VM adapter to 'host-only' or 'isolated'. No internet access.</a:t>
            </a:r>
            <a:endParaRPr lang="en-US" sz="850" dirty="0"/>
          </a:p>
        </p:txBody>
      </p:sp>
      <p:sp>
        <p:nvSpPr>
          <p:cNvPr id="27" name="Shape 25"/>
          <p:cNvSpPr/>
          <p:nvPr/>
        </p:nvSpPr>
        <p:spPr>
          <a:xfrm>
            <a:off x="4572000" y="2660904"/>
            <a:ext cx="4251960" cy="621792"/>
          </a:xfrm>
          <a:prstGeom prst="rect">
            <a:avLst/>
          </a:prstGeom>
          <a:solidFill>
            <a:srgbClr val="111827"/>
          </a:solidFill>
          <a:ln w="12700">
            <a:solidFill>
              <a:srgbClr val="FF3355"/>
            </a:solidFill>
            <a:prstDash val="solid"/>
          </a:ln>
        </p:spPr>
      </p:sp>
      <p:sp>
        <p:nvSpPr>
          <p:cNvPr id="28" name="Text 26"/>
          <p:cNvSpPr/>
          <p:nvPr/>
        </p:nvSpPr>
        <p:spPr>
          <a:xfrm>
            <a:off x="4681728" y="2706624"/>
            <a:ext cx="4023360" cy="228600"/>
          </a:xfrm>
          <a:prstGeom prst="rect">
            <a:avLst/>
          </a:prstGeom>
          <a:noFill/>
          <a:ln/>
        </p:spPr>
        <p:txBody>
          <a:bodyPr wrap="square" lIns="0" tIns="0" rIns="0" bIns="0" rtlCol="0" anchor="ctr"/>
          <a:lstStyle/>
          <a:p>
            <a:pPr indent="0" marL="0">
              <a:buNone/>
            </a:pPr>
            <a:r>
              <a:rPr lang="en-US" sz="1000" b="1" dirty="0">
                <a:solidFill>
                  <a:srgbClr val="FF3355"/>
                </a:solidFill>
                <a:latin typeface="Consolas" pitchFamily="34" charset="0"/>
                <a:ea typeface="Consolas" pitchFamily="34" charset="-122"/>
                <a:cs typeface="Consolas" pitchFamily="34" charset="-120"/>
              </a:rPr>
              <a:t>🚫 No Shared Folders</a:t>
            </a:r>
            <a:endParaRPr lang="en-US" sz="1000" dirty="0"/>
          </a:p>
        </p:txBody>
      </p:sp>
      <p:sp>
        <p:nvSpPr>
          <p:cNvPr id="29" name="Text 27"/>
          <p:cNvSpPr/>
          <p:nvPr/>
        </p:nvSpPr>
        <p:spPr>
          <a:xfrm>
            <a:off x="4681728" y="2971800"/>
            <a:ext cx="4023360" cy="256032"/>
          </a:xfrm>
          <a:prstGeom prst="rect">
            <a:avLst/>
          </a:prstGeom>
          <a:noFill/>
          <a:ln/>
        </p:spPr>
        <p:txBody>
          <a:bodyPr wrap="square" lIns="0" tIns="0" rIns="0" bIns="0" rtlCol="0" anchor="ctr"/>
          <a:lstStyle/>
          <a:p>
            <a:pPr indent="0" marL="0">
              <a:buNone/>
            </a:pPr>
            <a:r>
              <a:rPr lang="en-US" sz="850" dirty="0">
                <a:solidFill>
                  <a:srgbClr val="E2E8F0"/>
                </a:solidFill>
                <a:latin typeface="Calibri" pitchFamily="34" charset="0"/>
                <a:ea typeface="Calibri" pitchFamily="34" charset="-122"/>
                <a:cs typeface="Calibri" pitchFamily="34" charset="-120"/>
              </a:rPr>
              <a:t>Disable shared folders and clipboard — malware can escape via these.</a:t>
            </a:r>
            <a:endParaRPr lang="en-US" sz="850" dirty="0"/>
          </a:p>
        </p:txBody>
      </p:sp>
      <p:sp>
        <p:nvSpPr>
          <p:cNvPr id="30" name="Shape 28"/>
          <p:cNvSpPr/>
          <p:nvPr/>
        </p:nvSpPr>
        <p:spPr>
          <a:xfrm>
            <a:off x="4572000" y="3374136"/>
            <a:ext cx="4251960" cy="621792"/>
          </a:xfrm>
          <a:prstGeom prst="rect">
            <a:avLst/>
          </a:prstGeom>
          <a:solidFill>
            <a:srgbClr val="111827"/>
          </a:solidFill>
          <a:ln w="12700">
            <a:solidFill>
              <a:srgbClr val="FF6B35"/>
            </a:solidFill>
            <a:prstDash val="solid"/>
          </a:ln>
        </p:spPr>
      </p:sp>
      <p:sp>
        <p:nvSpPr>
          <p:cNvPr id="31" name="Text 29"/>
          <p:cNvSpPr/>
          <p:nvPr/>
        </p:nvSpPr>
        <p:spPr>
          <a:xfrm>
            <a:off x="4681728" y="3419856"/>
            <a:ext cx="4023360" cy="228600"/>
          </a:xfrm>
          <a:prstGeom prst="rect">
            <a:avLst/>
          </a:prstGeom>
          <a:noFill/>
          <a:ln/>
        </p:spPr>
        <p:txBody>
          <a:bodyPr wrap="square" lIns="0" tIns="0" rIns="0" bIns="0" rtlCol="0" anchor="ctr"/>
          <a:lstStyle/>
          <a:p>
            <a:pPr indent="0" marL="0">
              <a:buNone/>
            </a:pPr>
            <a:r>
              <a:rPr lang="en-US" sz="1000" b="1" dirty="0">
                <a:solidFill>
                  <a:srgbClr val="FF6B35"/>
                </a:solidFill>
                <a:latin typeface="Consolas" pitchFamily="34" charset="0"/>
                <a:ea typeface="Consolas" pitchFamily="34" charset="-122"/>
                <a:cs typeface="Consolas" pitchFamily="34" charset="-120"/>
              </a:rPr>
              <a:t>🛡️ FakeNet-NG</a:t>
            </a:r>
            <a:endParaRPr lang="en-US" sz="1000" dirty="0"/>
          </a:p>
        </p:txBody>
      </p:sp>
      <p:sp>
        <p:nvSpPr>
          <p:cNvPr id="32" name="Text 30"/>
          <p:cNvSpPr/>
          <p:nvPr/>
        </p:nvSpPr>
        <p:spPr>
          <a:xfrm>
            <a:off x="4681728" y="3685032"/>
            <a:ext cx="4023360" cy="256032"/>
          </a:xfrm>
          <a:prstGeom prst="rect">
            <a:avLst/>
          </a:prstGeom>
          <a:noFill/>
          <a:ln/>
        </p:spPr>
        <p:txBody>
          <a:bodyPr wrap="square" lIns="0" tIns="0" rIns="0" bIns="0" rtlCol="0" anchor="ctr"/>
          <a:lstStyle/>
          <a:p>
            <a:pPr indent="0" marL="0">
              <a:buNone/>
            </a:pPr>
            <a:r>
              <a:rPr lang="en-US" sz="850" dirty="0">
                <a:solidFill>
                  <a:srgbClr val="E2E8F0"/>
                </a:solidFill>
                <a:latin typeface="Calibri" pitchFamily="34" charset="0"/>
                <a:ea typeface="Calibri" pitchFamily="34" charset="-122"/>
                <a:cs typeface="Calibri" pitchFamily="34" charset="-120"/>
              </a:rPr>
              <a:t>Simulates network services so malware 'thinks' it has internet.</a:t>
            </a:r>
            <a:endParaRPr lang="en-US" sz="850" dirty="0"/>
          </a:p>
        </p:txBody>
      </p:sp>
      <p:sp>
        <p:nvSpPr>
          <p:cNvPr id="33" name="Shape 31"/>
          <p:cNvSpPr/>
          <p:nvPr/>
        </p:nvSpPr>
        <p:spPr>
          <a:xfrm>
            <a:off x="4572000" y="4087368"/>
            <a:ext cx="4251960" cy="621792"/>
          </a:xfrm>
          <a:prstGeom prst="rect">
            <a:avLst/>
          </a:prstGeom>
          <a:solidFill>
            <a:srgbClr val="111827"/>
          </a:solidFill>
          <a:ln w="12700">
            <a:solidFill>
              <a:srgbClr val="A855F7"/>
            </a:solidFill>
            <a:prstDash val="solid"/>
          </a:ln>
        </p:spPr>
      </p:sp>
      <p:sp>
        <p:nvSpPr>
          <p:cNvPr id="34" name="Text 32"/>
          <p:cNvSpPr/>
          <p:nvPr/>
        </p:nvSpPr>
        <p:spPr>
          <a:xfrm>
            <a:off x="4681728" y="4133088"/>
            <a:ext cx="4023360" cy="228600"/>
          </a:xfrm>
          <a:prstGeom prst="rect">
            <a:avLst/>
          </a:prstGeom>
          <a:noFill/>
          <a:ln/>
        </p:spPr>
        <p:txBody>
          <a:bodyPr wrap="square" lIns="0" tIns="0" rIns="0" bIns="0" rtlCol="0" anchor="ctr"/>
          <a:lstStyle/>
          <a:p>
            <a:pPr indent="0" marL="0">
              <a:buNone/>
            </a:pPr>
            <a:r>
              <a:rPr lang="en-US" sz="1000" b="1" dirty="0">
                <a:solidFill>
                  <a:srgbClr val="A855F7"/>
                </a:solidFill>
                <a:latin typeface="Consolas" pitchFamily="34" charset="0"/>
                <a:ea typeface="Consolas" pitchFamily="34" charset="-122"/>
                <a:cs typeface="Consolas" pitchFamily="34" charset="-120"/>
              </a:rPr>
              <a:t>📋 Recommended Tools</a:t>
            </a:r>
            <a:endParaRPr lang="en-US" sz="1000" dirty="0"/>
          </a:p>
        </p:txBody>
      </p:sp>
      <p:sp>
        <p:nvSpPr>
          <p:cNvPr id="35" name="Text 33"/>
          <p:cNvSpPr/>
          <p:nvPr/>
        </p:nvSpPr>
        <p:spPr>
          <a:xfrm>
            <a:off x="4681728" y="4398264"/>
            <a:ext cx="4023360" cy="256032"/>
          </a:xfrm>
          <a:prstGeom prst="rect">
            <a:avLst/>
          </a:prstGeom>
          <a:noFill/>
          <a:ln/>
        </p:spPr>
        <p:txBody>
          <a:bodyPr wrap="square" lIns="0" tIns="0" rIns="0" bIns="0" rtlCol="0" anchor="ctr"/>
          <a:lstStyle/>
          <a:p>
            <a:pPr indent="0" marL="0">
              <a:buNone/>
            </a:pPr>
            <a:r>
              <a:rPr lang="en-US" sz="850" dirty="0">
                <a:solidFill>
                  <a:srgbClr val="E2E8F0"/>
                </a:solidFill>
                <a:latin typeface="Calibri" pitchFamily="34" charset="0"/>
                <a:ea typeface="Calibri" pitchFamily="34" charset="-122"/>
                <a:cs typeface="Calibri" pitchFamily="34" charset="-120"/>
              </a:rPr>
              <a:t>Ghidra (free), x64dbg (free), CFF Explorer, DIE, PEStudio, Process Monitor</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3200400" cy="5143500"/>
          </a:xfrm>
          <a:prstGeom prst="rect">
            <a:avLst/>
          </a:prstGeom>
          <a:solidFill>
            <a:srgbClr val="111827"/>
          </a:solidFill>
          <a:ln w="12700">
            <a:solidFill>
              <a:srgbClr val="111827"/>
            </a:solidFill>
            <a:prstDash val="solid"/>
          </a:ln>
        </p:spPr>
      </p:sp>
      <p:sp>
        <p:nvSpPr>
          <p:cNvPr id="3" name="Shape 1"/>
          <p:cNvSpPr/>
          <p:nvPr/>
        </p:nvSpPr>
        <p:spPr>
          <a:xfrm>
            <a:off x="3163824" y="0"/>
            <a:ext cx="36576" cy="5143500"/>
          </a:xfrm>
          <a:prstGeom prst="rect">
            <a:avLst/>
          </a:prstGeom>
          <a:solidFill>
            <a:srgbClr val="00FF88"/>
          </a:solidFill>
          <a:ln w="12700">
            <a:solidFill>
              <a:srgbClr val="00FF88"/>
            </a:solidFill>
            <a:prstDash val="solid"/>
          </a:ln>
        </p:spPr>
      </p:sp>
      <p:sp>
        <p:nvSpPr>
          <p:cNvPr id="4" name="Text 2"/>
          <p:cNvSpPr/>
          <p:nvPr/>
        </p:nvSpPr>
        <p:spPr>
          <a:xfrm>
            <a:off x="274320" y="365760"/>
            <a:ext cx="2560320" cy="365760"/>
          </a:xfrm>
          <a:prstGeom prst="rect">
            <a:avLst/>
          </a:prstGeom>
          <a:noFill/>
          <a:ln/>
        </p:spPr>
        <p:txBody>
          <a:bodyPr wrap="square" lIns="0" tIns="0" rIns="0" bIns="0" rtlCol="0" anchor="ctr"/>
          <a:lstStyle/>
          <a:p>
            <a:pPr indent="0" marL="0">
              <a:buNone/>
            </a:pPr>
            <a:r>
              <a:rPr lang="en-US" sz="1000" spc="400" kern="0" dirty="0">
                <a:solidFill>
                  <a:srgbClr val="8B9BB4"/>
                </a:solidFill>
                <a:latin typeface="Consolas" pitchFamily="34" charset="0"/>
                <a:ea typeface="Consolas" pitchFamily="34" charset="-122"/>
                <a:cs typeface="Consolas" pitchFamily="34" charset="-120"/>
              </a:rPr>
              <a:t>SECTION 13</a:t>
            </a:r>
            <a:endParaRPr lang="en-US" sz="1000" dirty="0"/>
          </a:p>
        </p:txBody>
      </p:sp>
      <p:sp>
        <p:nvSpPr>
          <p:cNvPr id="5" name="Text 3"/>
          <p:cNvSpPr/>
          <p:nvPr/>
        </p:nvSpPr>
        <p:spPr>
          <a:xfrm>
            <a:off x="274320" y="731520"/>
            <a:ext cx="2560320" cy="1645920"/>
          </a:xfrm>
          <a:prstGeom prst="rect">
            <a:avLst/>
          </a:prstGeom>
          <a:noFill/>
          <a:ln/>
        </p:spPr>
        <p:txBody>
          <a:bodyPr wrap="square" lIns="0" tIns="0" rIns="0" bIns="0" rtlCol="0" anchor="ctr"/>
          <a:lstStyle/>
          <a:p>
            <a:pPr indent="0" marL="0">
              <a:buNone/>
            </a:pPr>
            <a:r>
              <a:rPr lang="en-US" sz="10000" b="1" dirty="0">
                <a:solidFill>
                  <a:srgbClr val="00FF88">
                    <a:alpha val="90000"/>
                  </a:srgbClr>
                </a:solidFill>
                <a:latin typeface="Consolas" pitchFamily="34" charset="0"/>
                <a:ea typeface="Consolas" pitchFamily="34" charset="-122"/>
                <a:cs typeface="Consolas" pitchFamily="34" charset="-120"/>
              </a:rPr>
              <a:t>13</a:t>
            </a:r>
            <a:endParaRPr lang="en-US" sz="10000" dirty="0"/>
          </a:p>
        </p:txBody>
      </p:sp>
      <p:pic>
        <p:nvPicPr>
          <p:cNvPr id="6" name="Image 0" descr="preencoded.png">    </p:cNvPr>
          <p:cNvPicPr>
            <a:picLocks noChangeAspect="1"/>
          </p:cNvPicPr>
          <p:nvPr/>
        </p:nvPicPr>
        <p:blipFill>
          <a:blip r:embed="rId1"/>
          <a:stretch>
            <a:fillRect/>
          </a:stretch>
        </p:blipFill>
        <p:spPr>
          <a:xfrm>
            <a:off x="822960" y="2926080"/>
            <a:ext cx="1463040" cy="1463040"/>
          </a:xfrm>
          <a:prstGeom prst="rect">
            <a:avLst/>
          </a:prstGeom>
        </p:spPr>
      </p:pic>
      <p:sp>
        <p:nvSpPr>
          <p:cNvPr id="7" name="Text 4"/>
          <p:cNvSpPr/>
          <p:nvPr/>
        </p:nvSpPr>
        <p:spPr>
          <a:xfrm>
            <a:off x="3474720" y="1463040"/>
            <a:ext cx="5394960" cy="1371600"/>
          </a:xfrm>
          <a:prstGeom prst="rect">
            <a:avLst/>
          </a:prstGeom>
          <a:noFill/>
          <a:ln/>
        </p:spPr>
        <p:txBody>
          <a:bodyPr wrap="square" lIns="0" tIns="0" rIns="0" bIns="0" rtlCol="0" anchor="ctr"/>
          <a:lstStyle/>
          <a:p>
            <a:pPr indent="0" marL="0">
              <a:buNone/>
            </a:pPr>
            <a:r>
              <a:rPr lang="en-US" sz="3600" b="1" dirty="0">
                <a:solidFill>
                  <a:srgbClr val="FFFFFF"/>
                </a:solidFill>
                <a:latin typeface="Consolas" pitchFamily="34" charset="0"/>
                <a:ea typeface="Consolas" pitchFamily="34" charset="-122"/>
                <a:cs typeface="Consolas" pitchFamily="34" charset="-120"/>
              </a:rPr>
              <a:t>Learning Roadmap</a:t>
            </a:r>
            <a:endParaRPr lang="en-US" sz="3600" dirty="0"/>
          </a:p>
        </p:txBody>
      </p:sp>
      <p:sp>
        <p:nvSpPr>
          <p:cNvPr id="8" name="Text 5"/>
          <p:cNvSpPr/>
          <p:nvPr/>
        </p:nvSpPr>
        <p:spPr>
          <a:xfrm>
            <a:off x="3474720" y="2926080"/>
            <a:ext cx="5394960" cy="1097280"/>
          </a:xfrm>
          <a:prstGeom prst="rect">
            <a:avLst/>
          </a:prstGeom>
          <a:noFill/>
          <a:ln/>
        </p:spPr>
        <p:txBody>
          <a:bodyPr wrap="square" lIns="0" tIns="0" rIns="0" bIns="0" rtlCol="0" anchor="ctr"/>
          <a:lstStyle/>
          <a:p>
            <a:pPr indent="0" marL="0">
              <a:buNone/>
            </a:pPr>
            <a:r>
              <a:rPr lang="en-US" sz="1400" dirty="0">
                <a:solidFill>
                  <a:srgbClr val="8B9BB4"/>
                </a:solidFill>
                <a:latin typeface="Calibri" pitchFamily="34" charset="0"/>
                <a:ea typeface="Calibri" pitchFamily="34" charset="-122"/>
                <a:cs typeface="Calibri" pitchFamily="34" charset="-120"/>
              </a:rPr>
              <a:t>Your path from beginner to professional reverse engineer.</a:t>
            </a:r>
            <a:endParaRPr lang="en-US" sz="1400" dirty="0"/>
          </a:p>
        </p:txBody>
      </p:sp>
      <p:sp>
        <p:nvSpPr>
          <p:cNvPr id="9" name="Shape 6"/>
          <p:cNvSpPr/>
          <p:nvPr/>
        </p:nvSpPr>
        <p:spPr>
          <a:xfrm>
            <a:off x="3474720" y="4297680"/>
            <a:ext cx="91440" cy="91440"/>
          </a:xfrm>
          <a:prstGeom prst="ellipse">
            <a:avLst/>
          </a:prstGeom>
          <a:solidFill>
            <a:srgbClr val="00FF88"/>
          </a:solidFill>
          <a:ln w="12700">
            <a:solidFill>
              <a:srgbClr val="00FF88"/>
            </a:solidFill>
            <a:prstDash val="solid"/>
          </a:ln>
        </p:spPr>
      </p:sp>
      <p:sp>
        <p:nvSpPr>
          <p:cNvPr id="10" name="Shape 7"/>
          <p:cNvSpPr/>
          <p:nvPr/>
        </p:nvSpPr>
        <p:spPr>
          <a:xfrm>
            <a:off x="3794760" y="4297680"/>
            <a:ext cx="91440" cy="91440"/>
          </a:xfrm>
          <a:prstGeom prst="ellipse">
            <a:avLst/>
          </a:prstGeom>
          <a:solidFill>
            <a:srgbClr val="00FF88">
              <a:alpha val="85000"/>
            </a:srgbClr>
          </a:solidFill>
          <a:ln w="12700">
            <a:solidFill>
              <a:srgbClr val="00FF88">
                <a:alpha val="85000"/>
              </a:srgbClr>
            </a:solidFill>
            <a:prstDash val="solid"/>
          </a:ln>
        </p:spPr>
      </p:sp>
      <p:sp>
        <p:nvSpPr>
          <p:cNvPr id="11" name="Shape 8"/>
          <p:cNvSpPr/>
          <p:nvPr/>
        </p:nvSpPr>
        <p:spPr>
          <a:xfrm>
            <a:off x="4114800" y="4297680"/>
            <a:ext cx="91440" cy="91440"/>
          </a:xfrm>
          <a:prstGeom prst="ellipse">
            <a:avLst/>
          </a:prstGeom>
          <a:solidFill>
            <a:srgbClr val="00FF88">
              <a:alpha val="70000"/>
            </a:srgbClr>
          </a:solidFill>
          <a:ln w="12700">
            <a:solidFill>
              <a:srgbClr val="00FF88">
                <a:alpha val="70000"/>
              </a:srgbClr>
            </a:solidFill>
            <a:prstDash val="solid"/>
          </a:ln>
        </p:spPr>
      </p:sp>
      <p:sp>
        <p:nvSpPr>
          <p:cNvPr id="12" name="Shape 9"/>
          <p:cNvSpPr/>
          <p:nvPr/>
        </p:nvSpPr>
        <p:spPr>
          <a:xfrm>
            <a:off x="4434840" y="4297680"/>
            <a:ext cx="91440" cy="91440"/>
          </a:xfrm>
          <a:prstGeom prst="ellipse">
            <a:avLst/>
          </a:prstGeom>
          <a:solidFill>
            <a:srgbClr val="00FF88">
              <a:alpha val="55000"/>
            </a:srgbClr>
          </a:solidFill>
          <a:ln w="12700">
            <a:solidFill>
              <a:srgbClr val="00FF88">
                <a:alpha val="55000"/>
              </a:srgbClr>
            </a:solidFill>
            <a:prstDash val="solid"/>
          </a:ln>
        </p:spPr>
      </p:sp>
      <p:sp>
        <p:nvSpPr>
          <p:cNvPr id="13" name="Shape 10"/>
          <p:cNvSpPr/>
          <p:nvPr/>
        </p:nvSpPr>
        <p:spPr>
          <a:xfrm>
            <a:off x="4754880" y="4297680"/>
            <a:ext cx="91440" cy="91440"/>
          </a:xfrm>
          <a:prstGeom prst="ellipse">
            <a:avLst/>
          </a:prstGeom>
          <a:solidFill>
            <a:srgbClr val="00FF88">
              <a:alpha val="40000"/>
            </a:srgbClr>
          </a:solidFill>
          <a:ln w="12700">
            <a:solidFill>
              <a:srgbClr val="00FF88">
                <a:alpha val="40000"/>
              </a:srgbClr>
            </a:solidFill>
            <a:prstDash val="solid"/>
          </a:ln>
        </p:spPr>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164592" y="164592"/>
            <a:ext cx="365760" cy="45720"/>
          </a:xfrm>
          <a:prstGeom prst="rect">
            <a:avLst/>
          </a:prstGeom>
          <a:solidFill>
            <a:srgbClr val="00FF88"/>
          </a:solidFill>
          <a:ln w="12700">
            <a:solidFill>
              <a:srgbClr val="00FF88"/>
            </a:solidFill>
            <a:prstDash val="solid"/>
          </a:ln>
        </p:spPr>
      </p:sp>
      <p:sp>
        <p:nvSpPr>
          <p:cNvPr id="3" name="Shape 1"/>
          <p:cNvSpPr/>
          <p:nvPr/>
        </p:nvSpPr>
        <p:spPr>
          <a:xfrm>
            <a:off x="164592" y="164592"/>
            <a:ext cx="45720" cy="274320"/>
          </a:xfrm>
          <a:prstGeom prst="rect">
            <a:avLst/>
          </a:prstGeom>
          <a:solidFill>
            <a:srgbClr val="00FF88"/>
          </a:solidFill>
          <a:ln w="12700">
            <a:solidFill>
              <a:srgbClr val="00FF88"/>
            </a:solidFill>
            <a:prstDash val="solid"/>
          </a:ln>
        </p:spPr>
      </p:sp>
      <p:sp>
        <p:nvSpPr>
          <p:cNvPr id="4" name="Shape 2"/>
          <p:cNvSpPr/>
          <p:nvPr/>
        </p:nvSpPr>
        <p:spPr>
          <a:xfrm>
            <a:off x="8613648" y="4910328"/>
            <a:ext cx="365760" cy="45720"/>
          </a:xfrm>
          <a:prstGeom prst="rect">
            <a:avLst/>
          </a:prstGeom>
          <a:solidFill>
            <a:srgbClr val="00D4FF"/>
          </a:solidFill>
          <a:ln w="12700">
            <a:solidFill>
              <a:srgbClr val="00D4FF"/>
            </a:solidFill>
            <a:prstDash val="solid"/>
          </a:ln>
        </p:spPr>
      </p:sp>
      <p:sp>
        <p:nvSpPr>
          <p:cNvPr id="5" name="Shape 3"/>
          <p:cNvSpPr/>
          <p:nvPr/>
        </p:nvSpPr>
        <p:spPr>
          <a:xfrm>
            <a:off x="8933688" y="4681728"/>
            <a:ext cx="45720" cy="274320"/>
          </a:xfrm>
          <a:prstGeom prst="rect">
            <a:avLst/>
          </a:prstGeom>
          <a:solidFill>
            <a:srgbClr val="00D4FF"/>
          </a:solidFill>
          <a:ln w="12700">
            <a:solidFill>
              <a:srgbClr val="00D4FF"/>
            </a:solidFill>
            <a:prstDash val="solid"/>
          </a:ln>
        </p:spPr>
      </p:sp>
      <p:sp>
        <p:nvSpPr>
          <p:cNvPr id="6" name="Shape 4"/>
          <p:cNvSpPr/>
          <p:nvPr/>
        </p:nvSpPr>
        <p:spPr>
          <a:xfrm>
            <a:off x="411480" y="201168"/>
            <a:ext cx="2377440" cy="256032"/>
          </a:xfrm>
          <a:prstGeom prst="rect">
            <a:avLst/>
          </a:prstGeom>
          <a:solidFill>
            <a:srgbClr val="00FF88"/>
          </a:solidFill>
          <a:ln w="12700">
            <a:solidFill>
              <a:srgbClr val="00FF88"/>
            </a:solidFill>
            <a:prstDash val="solid"/>
          </a:ln>
        </p:spPr>
      </p:sp>
      <p:sp>
        <p:nvSpPr>
          <p:cNvPr id="7" name="Text 5"/>
          <p:cNvSpPr/>
          <p:nvPr/>
        </p:nvSpPr>
        <p:spPr>
          <a:xfrm>
            <a:off x="411480" y="201168"/>
            <a:ext cx="2377440" cy="256032"/>
          </a:xfrm>
          <a:prstGeom prst="rect">
            <a:avLst/>
          </a:prstGeom>
          <a:noFill/>
          <a:ln/>
        </p:spPr>
        <p:txBody>
          <a:bodyPr wrap="square" lIns="0" tIns="0" rIns="0" bIns="0" rtlCol="0" anchor="ctr"/>
          <a:lstStyle/>
          <a:p>
            <a:pPr algn="ctr" indent="0" marL="0">
              <a:buNone/>
            </a:pPr>
            <a:r>
              <a:rPr lang="en-US" sz="900" b="1" dirty="0">
                <a:solidFill>
                  <a:srgbClr val="0A0E1A"/>
                </a:solidFill>
                <a:latin typeface="Consolas" pitchFamily="34" charset="0"/>
                <a:ea typeface="Consolas" pitchFamily="34" charset="-122"/>
                <a:cs typeface="Consolas" pitchFamily="34" charset="-120"/>
              </a:rPr>
              <a:t>SECTION 13 · ROADMAP</a:t>
            </a:r>
            <a:endParaRPr lang="en-US" sz="900" dirty="0"/>
          </a:p>
        </p:txBody>
      </p:sp>
      <p:sp>
        <p:nvSpPr>
          <p:cNvPr id="8" name="Text 6"/>
          <p:cNvSpPr/>
          <p:nvPr/>
        </p:nvSpPr>
        <p:spPr>
          <a:xfrm>
            <a:off x="411480" y="530352"/>
            <a:ext cx="8321040" cy="594360"/>
          </a:xfrm>
          <a:prstGeom prst="rect">
            <a:avLst/>
          </a:prstGeom>
          <a:noFill/>
          <a:ln/>
        </p:spPr>
        <p:txBody>
          <a:bodyPr wrap="square" lIns="0" tIns="0" rIns="0" bIns="0" rtlCol="0" anchor="ctr"/>
          <a:lstStyle/>
          <a:p>
            <a:pPr algn="l" indent="0" marL="0">
              <a:buNone/>
            </a:pPr>
            <a:r>
              <a:rPr lang="en-US" sz="2800" b="1" dirty="0">
                <a:solidFill>
                  <a:srgbClr val="00FF88"/>
                </a:solidFill>
                <a:latin typeface="Consolas" pitchFamily="34" charset="0"/>
                <a:ea typeface="Consolas" pitchFamily="34" charset="-122"/>
                <a:cs typeface="Consolas" pitchFamily="34" charset="-120"/>
              </a:rPr>
              <a:t>Your Learning Roadmap</a:t>
            </a:r>
            <a:endParaRPr lang="en-US" sz="2800" dirty="0"/>
          </a:p>
        </p:txBody>
      </p:sp>
      <p:sp>
        <p:nvSpPr>
          <p:cNvPr id="9" name="Text 7"/>
          <p:cNvSpPr/>
          <p:nvPr/>
        </p:nvSpPr>
        <p:spPr>
          <a:xfrm>
            <a:off x="411480" y="1051560"/>
            <a:ext cx="8321040" cy="320040"/>
          </a:xfrm>
          <a:prstGeom prst="rect">
            <a:avLst/>
          </a:prstGeom>
          <a:noFill/>
          <a:ln/>
        </p:spPr>
        <p:txBody>
          <a:bodyPr wrap="square" lIns="0" tIns="0" rIns="0" bIns="0" rtlCol="0" anchor="ctr"/>
          <a:lstStyle/>
          <a:p>
            <a:pPr algn="l" indent="0" marL="0">
              <a:buNone/>
            </a:pPr>
            <a:r>
              <a:rPr lang="en-US" sz="1300" dirty="0">
                <a:solidFill>
                  <a:srgbClr val="8B9BB4"/>
                </a:solidFill>
                <a:latin typeface="Calibri" pitchFamily="34" charset="0"/>
                <a:ea typeface="Calibri" pitchFamily="34" charset="-122"/>
                <a:cs typeface="Calibri" pitchFamily="34" charset="-120"/>
              </a:rPr>
              <a:t>Reverse engineering is a marathon — build skills systematically.</a:t>
            </a:r>
            <a:endParaRPr lang="en-US" sz="1300" dirty="0"/>
          </a:p>
        </p:txBody>
      </p:sp>
      <p:sp>
        <p:nvSpPr>
          <p:cNvPr id="10" name="Text 8"/>
          <p:cNvSpPr/>
          <p:nvPr/>
        </p:nvSpPr>
        <p:spPr>
          <a:xfrm>
            <a:off x="8686800" y="4754880"/>
            <a:ext cx="365760" cy="228600"/>
          </a:xfrm>
          <a:prstGeom prst="rect">
            <a:avLst/>
          </a:prstGeom>
          <a:noFill/>
          <a:ln/>
        </p:spPr>
        <p:txBody>
          <a:bodyPr wrap="square" lIns="0" tIns="0" rIns="0" bIns="0" rtlCol="0" anchor="ctr"/>
          <a:lstStyle/>
          <a:p>
            <a:pPr algn="r" indent="0" marL="0">
              <a:buNone/>
            </a:pPr>
            <a:r>
              <a:rPr lang="en-US" sz="900" dirty="0">
                <a:solidFill>
                  <a:srgbClr val="8B9BB4"/>
                </a:solidFill>
                <a:latin typeface="Consolas" pitchFamily="34" charset="0"/>
                <a:ea typeface="Consolas" pitchFamily="34" charset="-122"/>
                <a:cs typeface="Consolas" pitchFamily="34" charset="-120"/>
              </a:rPr>
              <a:t>30</a:t>
            </a:r>
            <a:endParaRPr lang="en-US" sz="900" dirty="0"/>
          </a:p>
        </p:txBody>
      </p:sp>
      <p:sp>
        <p:nvSpPr>
          <p:cNvPr id="11" name="Shape 9"/>
          <p:cNvSpPr/>
          <p:nvPr/>
        </p:nvSpPr>
        <p:spPr>
          <a:xfrm>
            <a:off x="320040" y="1234440"/>
            <a:ext cx="2651760" cy="3703320"/>
          </a:xfrm>
          <a:prstGeom prst="rect">
            <a:avLst/>
          </a:prstGeom>
          <a:solidFill>
            <a:srgbClr val="111827"/>
          </a:solidFill>
          <a:ln w="12700">
            <a:solidFill>
              <a:srgbClr val="00FF88"/>
            </a:solidFill>
            <a:prstDash val="solid"/>
          </a:ln>
        </p:spPr>
      </p:sp>
      <p:sp>
        <p:nvSpPr>
          <p:cNvPr id="12" name="Shape 10"/>
          <p:cNvSpPr/>
          <p:nvPr/>
        </p:nvSpPr>
        <p:spPr>
          <a:xfrm>
            <a:off x="320040" y="1234440"/>
            <a:ext cx="2651760" cy="566928"/>
          </a:xfrm>
          <a:prstGeom prst="rect">
            <a:avLst/>
          </a:prstGeom>
          <a:solidFill>
            <a:srgbClr val="00FF88">
              <a:alpha val="25000"/>
            </a:srgbClr>
          </a:solidFill>
          <a:ln w="12700">
            <a:solidFill>
              <a:srgbClr val="00FF88">
                <a:alpha val="25000"/>
              </a:srgbClr>
            </a:solidFill>
            <a:prstDash val="solid"/>
          </a:ln>
        </p:spPr>
      </p:sp>
      <p:sp>
        <p:nvSpPr>
          <p:cNvPr id="13" name="Text 11"/>
          <p:cNvSpPr/>
          <p:nvPr/>
        </p:nvSpPr>
        <p:spPr>
          <a:xfrm>
            <a:off x="411480" y="1261872"/>
            <a:ext cx="2468880" cy="274320"/>
          </a:xfrm>
          <a:prstGeom prst="rect">
            <a:avLst/>
          </a:prstGeom>
          <a:noFill/>
          <a:ln/>
        </p:spPr>
        <p:txBody>
          <a:bodyPr wrap="square" lIns="0" tIns="0" rIns="0" bIns="0" rtlCol="0" anchor="ctr"/>
          <a:lstStyle/>
          <a:p>
            <a:pPr indent="0" marL="0">
              <a:buNone/>
            </a:pPr>
            <a:r>
              <a:rPr lang="en-US" sz="1200" b="1" dirty="0">
                <a:solidFill>
                  <a:srgbClr val="00FF88"/>
                </a:solidFill>
                <a:latin typeface="Consolas" pitchFamily="34" charset="0"/>
                <a:ea typeface="Consolas" pitchFamily="34" charset="-122"/>
                <a:cs typeface="Consolas" pitchFamily="34" charset="-120"/>
              </a:rPr>
              <a:t>BEGINNER</a:t>
            </a:r>
            <a:endParaRPr lang="en-US" sz="1200" dirty="0"/>
          </a:p>
        </p:txBody>
      </p:sp>
      <p:sp>
        <p:nvSpPr>
          <p:cNvPr id="14" name="Text 12"/>
          <p:cNvSpPr/>
          <p:nvPr/>
        </p:nvSpPr>
        <p:spPr>
          <a:xfrm>
            <a:off x="411480" y="1545336"/>
            <a:ext cx="2468880" cy="201168"/>
          </a:xfrm>
          <a:prstGeom prst="rect">
            <a:avLst/>
          </a:prstGeom>
          <a:noFill/>
          <a:ln/>
        </p:spPr>
        <p:txBody>
          <a:bodyPr wrap="square" lIns="0" tIns="0" rIns="0" bIns="0" rtlCol="0" anchor="ctr"/>
          <a:lstStyle/>
          <a:p>
            <a:pPr indent="0" marL="0">
              <a:buNone/>
            </a:pPr>
            <a:r>
              <a:rPr lang="en-US" sz="850" dirty="0">
                <a:solidFill>
                  <a:srgbClr val="8B9BB4"/>
                </a:solidFill>
                <a:latin typeface="Consolas" pitchFamily="34" charset="0"/>
                <a:ea typeface="Consolas" pitchFamily="34" charset="-122"/>
                <a:cs typeface="Consolas" pitchFamily="34" charset="-120"/>
              </a:rPr>
              <a:t>Months 1–3</a:t>
            </a:r>
            <a:endParaRPr lang="en-US" sz="850" dirty="0"/>
          </a:p>
        </p:txBody>
      </p:sp>
      <p:sp>
        <p:nvSpPr>
          <p:cNvPr id="15" name="Shape 13"/>
          <p:cNvSpPr/>
          <p:nvPr/>
        </p:nvSpPr>
        <p:spPr>
          <a:xfrm>
            <a:off x="411480" y="1920240"/>
            <a:ext cx="2468880" cy="411480"/>
          </a:xfrm>
          <a:prstGeom prst="rect">
            <a:avLst/>
          </a:prstGeom>
          <a:solidFill>
            <a:srgbClr val="1A2235"/>
          </a:solidFill>
          <a:ln w="12700">
            <a:solidFill>
              <a:srgbClr val="1E3A5F"/>
            </a:solidFill>
            <a:prstDash val="solid"/>
          </a:ln>
        </p:spPr>
      </p:sp>
      <p:sp>
        <p:nvSpPr>
          <p:cNvPr id="16" name="Text 14"/>
          <p:cNvSpPr/>
          <p:nvPr/>
        </p:nvSpPr>
        <p:spPr>
          <a:xfrm>
            <a:off x="484632" y="1956816"/>
            <a:ext cx="2331720" cy="347472"/>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 x86 Assembly basics (OpenSecurityTraining)</a:t>
            </a:r>
            <a:endParaRPr lang="en-US" sz="900" dirty="0"/>
          </a:p>
        </p:txBody>
      </p:sp>
      <p:sp>
        <p:nvSpPr>
          <p:cNvPr id="17" name="Shape 15"/>
          <p:cNvSpPr/>
          <p:nvPr/>
        </p:nvSpPr>
        <p:spPr>
          <a:xfrm>
            <a:off x="411480" y="2432304"/>
            <a:ext cx="2468880" cy="411480"/>
          </a:xfrm>
          <a:prstGeom prst="rect">
            <a:avLst/>
          </a:prstGeom>
          <a:solidFill>
            <a:srgbClr val="1A2235"/>
          </a:solidFill>
          <a:ln w="12700">
            <a:solidFill>
              <a:srgbClr val="1E3A5F"/>
            </a:solidFill>
            <a:prstDash val="solid"/>
          </a:ln>
        </p:spPr>
      </p:sp>
      <p:sp>
        <p:nvSpPr>
          <p:cNvPr id="18" name="Text 16"/>
          <p:cNvSpPr/>
          <p:nvPr/>
        </p:nvSpPr>
        <p:spPr>
          <a:xfrm>
            <a:off x="484632" y="2468880"/>
            <a:ext cx="2331720" cy="347472"/>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 Crackmes.one — easy challenges</a:t>
            </a:r>
            <a:endParaRPr lang="en-US" sz="900" dirty="0"/>
          </a:p>
        </p:txBody>
      </p:sp>
      <p:sp>
        <p:nvSpPr>
          <p:cNvPr id="19" name="Shape 17"/>
          <p:cNvSpPr/>
          <p:nvPr/>
        </p:nvSpPr>
        <p:spPr>
          <a:xfrm>
            <a:off x="411480" y="2944368"/>
            <a:ext cx="2468880" cy="411480"/>
          </a:xfrm>
          <a:prstGeom prst="rect">
            <a:avLst/>
          </a:prstGeom>
          <a:solidFill>
            <a:srgbClr val="1A2235"/>
          </a:solidFill>
          <a:ln w="12700">
            <a:solidFill>
              <a:srgbClr val="1E3A5F"/>
            </a:solidFill>
            <a:prstDash val="solid"/>
          </a:ln>
        </p:spPr>
      </p:sp>
      <p:sp>
        <p:nvSpPr>
          <p:cNvPr id="20" name="Text 18"/>
          <p:cNvSpPr/>
          <p:nvPr/>
        </p:nvSpPr>
        <p:spPr>
          <a:xfrm>
            <a:off x="484632" y="2980944"/>
            <a:ext cx="2331720" cy="347472"/>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 Ghidra + x64dbg tutorials</a:t>
            </a:r>
            <a:endParaRPr lang="en-US" sz="900" dirty="0"/>
          </a:p>
        </p:txBody>
      </p:sp>
      <p:sp>
        <p:nvSpPr>
          <p:cNvPr id="21" name="Shape 19"/>
          <p:cNvSpPr/>
          <p:nvPr/>
        </p:nvSpPr>
        <p:spPr>
          <a:xfrm>
            <a:off x="411480" y="3456432"/>
            <a:ext cx="2468880" cy="411480"/>
          </a:xfrm>
          <a:prstGeom prst="rect">
            <a:avLst/>
          </a:prstGeom>
          <a:solidFill>
            <a:srgbClr val="1A2235"/>
          </a:solidFill>
          <a:ln w="12700">
            <a:solidFill>
              <a:srgbClr val="1E3A5F"/>
            </a:solidFill>
            <a:prstDash val="solid"/>
          </a:ln>
        </p:spPr>
      </p:sp>
      <p:sp>
        <p:nvSpPr>
          <p:cNvPr id="22" name="Text 20"/>
          <p:cNvSpPr/>
          <p:nvPr/>
        </p:nvSpPr>
        <p:spPr>
          <a:xfrm>
            <a:off x="484632" y="3493008"/>
            <a:ext cx="2331720" cy="347472"/>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 PE format deep dive</a:t>
            </a:r>
            <a:endParaRPr lang="en-US" sz="900" dirty="0"/>
          </a:p>
        </p:txBody>
      </p:sp>
      <p:sp>
        <p:nvSpPr>
          <p:cNvPr id="23" name="Shape 21"/>
          <p:cNvSpPr/>
          <p:nvPr/>
        </p:nvSpPr>
        <p:spPr>
          <a:xfrm>
            <a:off x="411480" y="3968496"/>
            <a:ext cx="2468880" cy="411480"/>
          </a:xfrm>
          <a:prstGeom prst="rect">
            <a:avLst/>
          </a:prstGeom>
          <a:solidFill>
            <a:srgbClr val="1A2235"/>
          </a:solidFill>
          <a:ln w="12700">
            <a:solidFill>
              <a:srgbClr val="1E3A5F"/>
            </a:solidFill>
            <a:prstDash val="solid"/>
          </a:ln>
        </p:spPr>
      </p:sp>
      <p:sp>
        <p:nvSpPr>
          <p:cNvPr id="24" name="Text 22"/>
          <p:cNvSpPr/>
          <p:nvPr/>
        </p:nvSpPr>
        <p:spPr>
          <a:xfrm>
            <a:off x="484632" y="4005072"/>
            <a:ext cx="2331720" cy="347472"/>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 HTB / TryHackMe RE rooms</a:t>
            </a:r>
            <a:endParaRPr lang="en-US" sz="900" dirty="0"/>
          </a:p>
        </p:txBody>
      </p:sp>
      <p:sp>
        <p:nvSpPr>
          <p:cNvPr id="25" name="Shape 23"/>
          <p:cNvSpPr/>
          <p:nvPr/>
        </p:nvSpPr>
        <p:spPr>
          <a:xfrm>
            <a:off x="3200400" y="1234440"/>
            <a:ext cx="2651760" cy="3703320"/>
          </a:xfrm>
          <a:prstGeom prst="rect">
            <a:avLst/>
          </a:prstGeom>
          <a:solidFill>
            <a:srgbClr val="111827"/>
          </a:solidFill>
          <a:ln w="12700">
            <a:solidFill>
              <a:srgbClr val="00D4FF"/>
            </a:solidFill>
            <a:prstDash val="solid"/>
          </a:ln>
        </p:spPr>
      </p:sp>
      <p:sp>
        <p:nvSpPr>
          <p:cNvPr id="26" name="Shape 24"/>
          <p:cNvSpPr/>
          <p:nvPr/>
        </p:nvSpPr>
        <p:spPr>
          <a:xfrm>
            <a:off x="3200400" y="1234440"/>
            <a:ext cx="2651760" cy="566928"/>
          </a:xfrm>
          <a:prstGeom prst="rect">
            <a:avLst/>
          </a:prstGeom>
          <a:solidFill>
            <a:srgbClr val="00D4FF">
              <a:alpha val="25000"/>
            </a:srgbClr>
          </a:solidFill>
          <a:ln w="12700">
            <a:solidFill>
              <a:srgbClr val="00D4FF">
                <a:alpha val="25000"/>
              </a:srgbClr>
            </a:solidFill>
            <a:prstDash val="solid"/>
          </a:ln>
        </p:spPr>
      </p:sp>
      <p:sp>
        <p:nvSpPr>
          <p:cNvPr id="27" name="Text 25"/>
          <p:cNvSpPr/>
          <p:nvPr/>
        </p:nvSpPr>
        <p:spPr>
          <a:xfrm>
            <a:off x="3291840" y="1261872"/>
            <a:ext cx="2468880" cy="274320"/>
          </a:xfrm>
          <a:prstGeom prst="rect">
            <a:avLst/>
          </a:prstGeom>
          <a:noFill/>
          <a:ln/>
        </p:spPr>
        <p:txBody>
          <a:bodyPr wrap="square" lIns="0" tIns="0" rIns="0" bIns="0" rtlCol="0" anchor="ctr"/>
          <a:lstStyle/>
          <a:p>
            <a:pPr indent="0" marL="0">
              <a:buNone/>
            </a:pPr>
            <a:r>
              <a:rPr lang="en-US" sz="1200" b="1" dirty="0">
                <a:solidFill>
                  <a:srgbClr val="00D4FF"/>
                </a:solidFill>
                <a:latin typeface="Consolas" pitchFamily="34" charset="0"/>
                <a:ea typeface="Consolas" pitchFamily="34" charset="-122"/>
                <a:cs typeface="Consolas" pitchFamily="34" charset="-120"/>
              </a:rPr>
              <a:t>INTERMEDIATE</a:t>
            </a:r>
            <a:endParaRPr lang="en-US" sz="1200" dirty="0"/>
          </a:p>
        </p:txBody>
      </p:sp>
      <p:sp>
        <p:nvSpPr>
          <p:cNvPr id="28" name="Text 26"/>
          <p:cNvSpPr/>
          <p:nvPr/>
        </p:nvSpPr>
        <p:spPr>
          <a:xfrm>
            <a:off x="3291840" y="1545336"/>
            <a:ext cx="2468880" cy="201168"/>
          </a:xfrm>
          <a:prstGeom prst="rect">
            <a:avLst/>
          </a:prstGeom>
          <a:noFill/>
          <a:ln/>
        </p:spPr>
        <p:txBody>
          <a:bodyPr wrap="square" lIns="0" tIns="0" rIns="0" bIns="0" rtlCol="0" anchor="ctr"/>
          <a:lstStyle/>
          <a:p>
            <a:pPr indent="0" marL="0">
              <a:buNone/>
            </a:pPr>
            <a:r>
              <a:rPr lang="en-US" sz="850" dirty="0">
                <a:solidFill>
                  <a:srgbClr val="8B9BB4"/>
                </a:solidFill>
                <a:latin typeface="Consolas" pitchFamily="34" charset="0"/>
                <a:ea typeface="Consolas" pitchFamily="34" charset="-122"/>
                <a:cs typeface="Consolas" pitchFamily="34" charset="-120"/>
              </a:rPr>
              <a:t>Months 4–9</a:t>
            </a:r>
            <a:endParaRPr lang="en-US" sz="850" dirty="0"/>
          </a:p>
        </p:txBody>
      </p:sp>
      <p:sp>
        <p:nvSpPr>
          <p:cNvPr id="29" name="Shape 27"/>
          <p:cNvSpPr/>
          <p:nvPr/>
        </p:nvSpPr>
        <p:spPr>
          <a:xfrm>
            <a:off x="3291840" y="1920240"/>
            <a:ext cx="2468880" cy="411480"/>
          </a:xfrm>
          <a:prstGeom prst="rect">
            <a:avLst/>
          </a:prstGeom>
          <a:solidFill>
            <a:srgbClr val="1A2235"/>
          </a:solidFill>
          <a:ln w="12700">
            <a:solidFill>
              <a:srgbClr val="1E3A5F"/>
            </a:solidFill>
            <a:prstDash val="solid"/>
          </a:ln>
        </p:spPr>
      </p:sp>
      <p:sp>
        <p:nvSpPr>
          <p:cNvPr id="30" name="Text 28"/>
          <p:cNvSpPr/>
          <p:nvPr/>
        </p:nvSpPr>
        <p:spPr>
          <a:xfrm>
            <a:off x="3364992" y="1956816"/>
            <a:ext cx="2331720" cy="347472"/>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 Anti-analysis techniques</a:t>
            </a:r>
            <a:endParaRPr lang="en-US" sz="900" dirty="0"/>
          </a:p>
        </p:txBody>
      </p:sp>
      <p:sp>
        <p:nvSpPr>
          <p:cNvPr id="31" name="Shape 29"/>
          <p:cNvSpPr/>
          <p:nvPr/>
        </p:nvSpPr>
        <p:spPr>
          <a:xfrm>
            <a:off x="3291840" y="2432304"/>
            <a:ext cx="2468880" cy="411480"/>
          </a:xfrm>
          <a:prstGeom prst="rect">
            <a:avLst/>
          </a:prstGeom>
          <a:solidFill>
            <a:srgbClr val="1A2235"/>
          </a:solidFill>
          <a:ln w="12700">
            <a:solidFill>
              <a:srgbClr val="1E3A5F"/>
            </a:solidFill>
            <a:prstDash val="solid"/>
          </a:ln>
        </p:spPr>
      </p:sp>
      <p:sp>
        <p:nvSpPr>
          <p:cNvPr id="32" name="Text 30"/>
          <p:cNvSpPr/>
          <p:nvPr/>
        </p:nvSpPr>
        <p:spPr>
          <a:xfrm>
            <a:off x="3364992" y="2468880"/>
            <a:ext cx="2331720" cy="347472"/>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 64-bit RE and calling conventions</a:t>
            </a:r>
            <a:endParaRPr lang="en-US" sz="900" dirty="0"/>
          </a:p>
        </p:txBody>
      </p:sp>
      <p:sp>
        <p:nvSpPr>
          <p:cNvPr id="33" name="Shape 31"/>
          <p:cNvSpPr/>
          <p:nvPr/>
        </p:nvSpPr>
        <p:spPr>
          <a:xfrm>
            <a:off x="3291840" y="2944368"/>
            <a:ext cx="2468880" cy="411480"/>
          </a:xfrm>
          <a:prstGeom prst="rect">
            <a:avLst/>
          </a:prstGeom>
          <a:solidFill>
            <a:srgbClr val="1A2235"/>
          </a:solidFill>
          <a:ln w="12700">
            <a:solidFill>
              <a:srgbClr val="1E3A5F"/>
            </a:solidFill>
            <a:prstDash val="solid"/>
          </a:ln>
        </p:spPr>
      </p:sp>
      <p:sp>
        <p:nvSpPr>
          <p:cNvPr id="34" name="Text 32"/>
          <p:cNvSpPr/>
          <p:nvPr/>
        </p:nvSpPr>
        <p:spPr>
          <a:xfrm>
            <a:off x="3364992" y="2980944"/>
            <a:ext cx="2331720" cy="347472"/>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 Malware traffic analysis (PCAP)</a:t>
            </a:r>
            <a:endParaRPr lang="en-US" sz="900" dirty="0"/>
          </a:p>
        </p:txBody>
      </p:sp>
      <p:sp>
        <p:nvSpPr>
          <p:cNvPr id="35" name="Shape 33"/>
          <p:cNvSpPr/>
          <p:nvPr/>
        </p:nvSpPr>
        <p:spPr>
          <a:xfrm>
            <a:off x="3291840" y="3456432"/>
            <a:ext cx="2468880" cy="411480"/>
          </a:xfrm>
          <a:prstGeom prst="rect">
            <a:avLst/>
          </a:prstGeom>
          <a:solidFill>
            <a:srgbClr val="1A2235"/>
          </a:solidFill>
          <a:ln w="12700">
            <a:solidFill>
              <a:srgbClr val="1E3A5F"/>
            </a:solidFill>
            <a:prstDash val="solid"/>
          </a:ln>
        </p:spPr>
      </p:sp>
      <p:sp>
        <p:nvSpPr>
          <p:cNvPr id="36" name="Text 34"/>
          <p:cNvSpPr/>
          <p:nvPr/>
        </p:nvSpPr>
        <p:spPr>
          <a:xfrm>
            <a:off x="3364992" y="3493008"/>
            <a:ext cx="2331720" cy="347472"/>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 CTF competitions (picoCTF, DEF CON)</a:t>
            </a:r>
            <a:endParaRPr lang="en-US" sz="900" dirty="0"/>
          </a:p>
        </p:txBody>
      </p:sp>
      <p:sp>
        <p:nvSpPr>
          <p:cNvPr id="37" name="Shape 35"/>
          <p:cNvSpPr/>
          <p:nvPr/>
        </p:nvSpPr>
        <p:spPr>
          <a:xfrm>
            <a:off x="3291840" y="3968496"/>
            <a:ext cx="2468880" cy="411480"/>
          </a:xfrm>
          <a:prstGeom prst="rect">
            <a:avLst/>
          </a:prstGeom>
          <a:solidFill>
            <a:srgbClr val="1A2235"/>
          </a:solidFill>
          <a:ln w="12700">
            <a:solidFill>
              <a:srgbClr val="1E3A5F"/>
            </a:solidFill>
            <a:prstDash val="solid"/>
          </a:ln>
        </p:spPr>
      </p:sp>
      <p:sp>
        <p:nvSpPr>
          <p:cNvPr id="38" name="Text 36"/>
          <p:cNvSpPr/>
          <p:nvPr/>
        </p:nvSpPr>
        <p:spPr>
          <a:xfrm>
            <a:off x="3364992" y="4005072"/>
            <a:ext cx="2331720" cy="347472"/>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 Scripting Ghidra/Radare2 with Python</a:t>
            </a:r>
            <a:endParaRPr lang="en-US" sz="900" dirty="0"/>
          </a:p>
        </p:txBody>
      </p:sp>
      <p:sp>
        <p:nvSpPr>
          <p:cNvPr id="39" name="Shape 37"/>
          <p:cNvSpPr/>
          <p:nvPr/>
        </p:nvSpPr>
        <p:spPr>
          <a:xfrm>
            <a:off x="6080760" y="1234440"/>
            <a:ext cx="2651760" cy="3703320"/>
          </a:xfrm>
          <a:prstGeom prst="rect">
            <a:avLst/>
          </a:prstGeom>
          <a:solidFill>
            <a:srgbClr val="111827"/>
          </a:solidFill>
          <a:ln w="12700">
            <a:solidFill>
              <a:srgbClr val="FF6B35"/>
            </a:solidFill>
            <a:prstDash val="solid"/>
          </a:ln>
        </p:spPr>
      </p:sp>
      <p:sp>
        <p:nvSpPr>
          <p:cNvPr id="40" name="Shape 38"/>
          <p:cNvSpPr/>
          <p:nvPr/>
        </p:nvSpPr>
        <p:spPr>
          <a:xfrm>
            <a:off x="6080760" y="1234440"/>
            <a:ext cx="2651760" cy="566928"/>
          </a:xfrm>
          <a:prstGeom prst="rect">
            <a:avLst/>
          </a:prstGeom>
          <a:solidFill>
            <a:srgbClr val="FF6B35">
              <a:alpha val="25000"/>
            </a:srgbClr>
          </a:solidFill>
          <a:ln w="12700">
            <a:solidFill>
              <a:srgbClr val="FF6B35">
                <a:alpha val="25000"/>
              </a:srgbClr>
            </a:solidFill>
            <a:prstDash val="solid"/>
          </a:ln>
        </p:spPr>
      </p:sp>
      <p:sp>
        <p:nvSpPr>
          <p:cNvPr id="41" name="Text 39"/>
          <p:cNvSpPr/>
          <p:nvPr/>
        </p:nvSpPr>
        <p:spPr>
          <a:xfrm>
            <a:off x="6172200" y="1261872"/>
            <a:ext cx="2468880" cy="274320"/>
          </a:xfrm>
          <a:prstGeom prst="rect">
            <a:avLst/>
          </a:prstGeom>
          <a:noFill/>
          <a:ln/>
        </p:spPr>
        <p:txBody>
          <a:bodyPr wrap="square" lIns="0" tIns="0" rIns="0" bIns="0" rtlCol="0" anchor="ctr"/>
          <a:lstStyle/>
          <a:p>
            <a:pPr indent="0" marL="0">
              <a:buNone/>
            </a:pPr>
            <a:r>
              <a:rPr lang="en-US" sz="1200" b="1" dirty="0">
                <a:solidFill>
                  <a:srgbClr val="FF6B35"/>
                </a:solidFill>
                <a:latin typeface="Consolas" pitchFamily="34" charset="0"/>
                <a:ea typeface="Consolas" pitchFamily="34" charset="-122"/>
                <a:cs typeface="Consolas" pitchFamily="34" charset="-120"/>
              </a:rPr>
              <a:t>ADVANCED</a:t>
            </a:r>
            <a:endParaRPr lang="en-US" sz="1200" dirty="0"/>
          </a:p>
        </p:txBody>
      </p:sp>
      <p:sp>
        <p:nvSpPr>
          <p:cNvPr id="42" name="Text 40"/>
          <p:cNvSpPr/>
          <p:nvPr/>
        </p:nvSpPr>
        <p:spPr>
          <a:xfrm>
            <a:off x="6172200" y="1545336"/>
            <a:ext cx="2468880" cy="201168"/>
          </a:xfrm>
          <a:prstGeom prst="rect">
            <a:avLst/>
          </a:prstGeom>
          <a:noFill/>
          <a:ln/>
        </p:spPr>
        <p:txBody>
          <a:bodyPr wrap="square" lIns="0" tIns="0" rIns="0" bIns="0" rtlCol="0" anchor="ctr"/>
          <a:lstStyle/>
          <a:p>
            <a:pPr indent="0" marL="0">
              <a:buNone/>
            </a:pPr>
            <a:r>
              <a:rPr lang="en-US" sz="850" dirty="0">
                <a:solidFill>
                  <a:srgbClr val="8B9BB4"/>
                </a:solidFill>
                <a:latin typeface="Consolas" pitchFamily="34" charset="0"/>
                <a:ea typeface="Consolas" pitchFamily="34" charset="-122"/>
                <a:cs typeface="Consolas" pitchFamily="34" charset="-120"/>
              </a:rPr>
              <a:t>Year 2+</a:t>
            </a:r>
            <a:endParaRPr lang="en-US" sz="850" dirty="0"/>
          </a:p>
        </p:txBody>
      </p:sp>
      <p:sp>
        <p:nvSpPr>
          <p:cNvPr id="43" name="Shape 41"/>
          <p:cNvSpPr/>
          <p:nvPr/>
        </p:nvSpPr>
        <p:spPr>
          <a:xfrm>
            <a:off x="6172200" y="1920240"/>
            <a:ext cx="2468880" cy="411480"/>
          </a:xfrm>
          <a:prstGeom prst="rect">
            <a:avLst/>
          </a:prstGeom>
          <a:solidFill>
            <a:srgbClr val="1A2235"/>
          </a:solidFill>
          <a:ln w="12700">
            <a:solidFill>
              <a:srgbClr val="1E3A5F"/>
            </a:solidFill>
            <a:prstDash val="solid"/>
          </a:ln>
        </p:spPr>
      </p:sp>
      <p:sp>
        <p:nvSpPr>
          <p:cNvPr id="44" name="Text 42"/>
          <p:cNvSpPr/>
          <p:nvPr/>
        </p:nvSpPr>
        <p:spPr>
          <a:xfrm>
            <a:off x="6245352" y="1956816"/>
            <a:ext cx="2331720" cy="347472"/>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 Kernel-level malware analysis</a:t>
            </a:r>
            <a:endParaRPr lang="en-US" sz="900" dirty="0"/>
          </a:p>
        </p:txBody>
      </p:sp>
      <p:sp>
        <p:nvSpPr>
          <p:cNvPr id="45" name="Shape 43"/>
          <p:cNvSpPr/>
          <p:nvPr/>
        </p:nvSpPr>
        <p:spPr>
          <a:xfrm>
            <a:off x="6172200" y="2432304"/>
            <a:ext cx="2468880" cy="411480"/>
          </a:xfrm>
          <a:prstGeom prst="rect">
            <a:avLst/>
          </a:prstGeom>
          <a:solidFill>
            <a:srgbClr val="1A2235"/>
          </a:solidFill>
          <a:ln w="12700">
            <a:solidFill>
              <a:srgbClr val="1E3A5F"/>
            </a:solidFill>
            <a:prstDash val="solid"/>
          </a:ln>
        </p:spPr>
      </p:sp>
      <p:sp>
        <p:nvSpPr>
          <p:cNvPr id="46" name="Text 44"/>
          <p:cNvSpPr/>
          <p:nvPr/>
        </p:nvSpPr>
        <p:spPr>
          <a:xfrm>
            <a:off x="6245352" y="2468880"/>
            <a:ext cx="2331720" cy="347472"/>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 Exploit development + ROP chains</a:t>
            </a:r>
            <a:endParaRPr lang="en-US" sz="900" dirty="0"/>
          </a:p>
        </p:txBody>
      </p:sp>
      <p:sp>
        <p:nvSpPr>
          <p:cNvPr id="47" name="Shape 45"/>
          <p:cNvSpPr/>
          <p:nvPr/>
        </p:nvSpPr>
        <p:spPr>
          <a:xfrm>
            <a:off x="6172200" y="2944368"/>
            <a:ext cx="2468880" cy="411480"/>
          </a:xfrm>
          <a:prstGeom prst="rect">
            <a:avLst/>
          </a:prstGeom>
          <a:solidFill>
            <a:srgbClr val="1A2235"/>
          </a:solidFill>
          <a:ln w="12700">
            <a:solidFill>
              <a:srgbClr val="1E3A5F"/>
            </a:solidFill>
            <a:prstDash val="solid"/>
          </a:ln>
        </p:spPr>
      </p:sp>
      <p:sp>
        <p:nvSpPr>
          <p:cNvPr id="48" name="Text 46"/>
          <p:cNvSpPr/>
          <p:nvPr/>
        </p:nvSpPr>
        <p:spPr>
          <a:xfrm>
            <a:off x="6245352" y="2980944"/>
            <a:ext cx="2331720" cy="347472"/>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 IDA Pro scripting (IDAPython)</a:t>
            </a:r>
            <a:endParaRPr lang="en-US" sz="900" dirty="0"/>
          </a:p>
        </p:txBody>
      </p:sp>
      <p:sp>
        <p:nvSpPr>
          <p:cNvPr id="49" name="Shape 47"/>
          <p:cNvSpPr/>
          <p:nvPr/>
        </p:nvSpPr>
        <p:spPr>
          <a:xfrm>
            <a:off x="6172200" y="3456432"/>
            <a:ext cx="2468880" cy="411480"/>
          </a:xfrm>
          <a:prstGeom prst="rect">
            <a:avLst/>
          </a:prstGeom>
          <a:solidFill>
            <a:srgbClr val="1A2235"/>
          </a:solidFill>
          <a:ln w="12700">
            <a:solidFill>
              <a:srgbClr val="1E3A5F"/>
            </a:solidFill>
            <a:prstDash val="solid"/>
          </a:ln>
        </p:spPr>
      </p:sp>
      <p:sp>
        <p:nvSpPr>
          <p:cNvPr id="50" name="Text 48"/>
          <p:cNvSpPr/>
          <p:nvPr/>
        </p:nvSpPr>
        <p:spPr>
          <a:xfrm>
            <a:off x="6245352" y="3493008"/>
            <a:ext cx="2331720" cy="347472"/>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 Firmware / embedded RE</a:t>
            </a:r>
            <a:endParaRPr lang="en-US" sz="900" dirty="0"/>
          </a:p>
        </p:txBody>
      </p:sp>
      <p:sp>
        <p:nvSpPr>
          <p:cNvPr id="51" name="Shape 49"/>
          <p:cNvSpPr/>
          <p:nvPr/>
        </p:nvSpPr>
        <p:spPr>
          <a:xfrm>
            <a:off x="6172200" y="3968496"/>
            <a:ext cx="2468880" cy="411480"/>
          </a:xfrm>
          <a:prstGeom prst="rect">
            <a:avLst/>
          </a:prstGeom>
          <a:solidFill>
            <a:srgbClr val="1A2235"/>
          </a:solidFill>
          <a:ln w="12700">
            <a:solidFill>
              <a:srgbClr val="1E3A5F"/>
            </a:solidFill>
            <a:prstDash val="solid"/>
          </a:ln>
        </p:spPr>
      </p:sp>
      <p:sp>
        <p:nvSpPr>
          <p:cNvPr id="52" name="Text 50"/>
          <p:cNvSpPr/>
          <p:nvPr/>
        </p:nvSpPr>
        <p:spPr>
          <a:xfrm>
            <a:off x="6245352" y="4005072"/>
            <a:ext cx="2331720" cy="347472"/>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 Vulnerability research &amp; CVE hunting</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164592" y="164592"/>
            <a:ext cx="365760" cy="45720"/>
          </a:xfrm>
          <a:prstGeom prst="rect">
            <a:avLst/>
          </a:prstGeom>
          <a:solidFill>
            <a:srgbClr val="00FF88"/>
          </a:solidFill>
          <a:ln w="12700">
            <a:solidFill>
              <a:srgbClr val="00FF88"/>
            </a:solidFill>
            <a:prstDash val="solid"/>
          </a:ln>
        </p:spPr>
      </p:sp>
      <p:sp>
        <p:nvSpPr>
          <p:cNvPr id="3" name="Shape 1"/>
          <p:cNvSpPr/>
          <p:nvPr/>
        </p:nvSpPr>
        <p:spPr>
          <a:xfrm>
            <a:off x="164592" y="164592"/>
            <a:ext cx="45720" cy="274320"/>
          </a:xfrm>
          <a:prstGeom prst="rect">
            <a:avLst/>
          </a:prstGeom>
          <a:solidFill>
            <a:srgbClr val="00FF88"/>
          </a:solidFill>
          <a:ln w="12700">
            <a:solidFill>
              <a:srgbClr val="00FF88"/>
            </a:solidFill>
            <a:prstDash val="solid"/>
          </a:ln>
        </p:spPr>
      </p:sp>
      <p:sp>
        <p:nvSpPr>
          <p:cNvPr id="4" name="Shape 2"/>
          <p:cNvSpPr/>
          <p:nvPr/>
        </p:nvSpPr>
        <p:spPr>
          <a:xfrm>
            <a:off x="8613648" y="4910328"/>
            <a:ext cx="365760" cy="45720"/>
          </a:xfrm>
          <a:prstGeom prst="rect">
            <a:avLst/>
          </a:prstGeom>
          <a:solidFill>
            <a:srgbClr val="00D4FF"/>
          </a:solidFill>
          <a:ln w="12700">
            <a:solidFill>
              <a:srgbClr val="00D4FF"/>
            </a:solidFill>
            <a:prstDash val="solid"/>
          </a:ln>
        </p:spPr>
      </p:sp>
      <p:sp>
        <p:nvSpPr>
          <p:cNvPr id="5" name="Shape 3"/>
          <p:cNvSpPr/>
          <p:nvPr/>
        </p:nvSpPr>
        <p:spPr>
          <a:xfrm>
            <a:off x="8933688" y="4681728"/>
            <a:ext cx="45720" cy="274320"/>
          </a:xfrm>
          <a:prstGeom prst="rect">
            <a:avLst/>
          </a:prstGeom>
          <a:solidFill>
            <a:srgbClr val="00D4FF"/>
          </a:solidFill>
          <a:ln w="12700">
            <a:solidFill>
              <a:srgbClr val="00D4FF"/>
            </a:solidFill>
            <a:prstDash val="solid"/>
          </a:ln>
        </p:spPr>
      </p:sp>
      <p:sp>
        <p:nvSpPr>
          <p:cNvPr id="6" name="Shape 4"/>
          <p:cNvSpPr/>
          <p:nvPr/>
        </p:nvSpPr>
        <p:spPr>
          <a:xfrm>
            <a:off x="411480" y="201168"/>
            <a:ext cx="1220724" cy="256032"/>
          </a:xfrm>
          <a:prstGeom prst="rect">
            <a:avLst/>
          </a:prstGeom>
          <a:solidFill>
            <a:srgbClr val="8B9BB4"/>
          </a:solidFill>
          <a:ln w="12700">
            <a:solidFill>
              <a:srgbClr val="8B9BB4"/>
            </a:solidFill>
            <a:prstDash val="solid"/>
          </a:ln>
        </p:spPr>
      </p:sp>
      <p:sp>
        <p:nvSpPr>
          <p:cNvPr id="7" name="Text 5"/>
          <p:cNvSpPr/>
          <p:nvPr/>
        </p:nvSpPr>
        <p:spPr>
          <a:xfrm>
            <a:off x="411480" y="201168"/>
            <a:ext cx="1220724" cy="256032"/>
          </a:xfrm>
          <a:prstGeom prst="rect">
            <a:avLst/>
          </a:prstGeom>
          <a:noFill/>
          <a:ln/>
        </p:spPr>
        <p:txBody>
          <a:bodyPr wrap="square" lIns="0" tIns="0" rIns="0" bIns="0" rtlCol="0" anchor="ctr"/>
          <a:lstStyle/>
          <a:p>
            <a:pPr algn="ctr" indent="0" marL="0">
              <a:buNone/>
            </a:pPr>
            <a:r>
              <a:rPr lang="en-US" sz="900" b="1" dirty="0">
                <a:solidFill>
                  <a:srgbClr val="0A0E1A"/>
                </a:solidFill>
                <a:latin typeface="Consolas" pitchFamily="34" charset="0"/>
                <a:ea typeface="Consolas" pitchFamily="34" charset="-122"/>
                <a:cs typeface="Consolas" pitchFamily="34" charset="-120"/>
              </a:rPr>
              <a:t>REFERENCE</a:t>
            </a:r>
            <a:endParaRPr lang="en-US" sz="900" dirty="0"/>
          </a:p>
        </p:txBody>
      </p:sp>
      <p:sp>
        <p:nvSpPr>
          <p:cNvPr id="8" name="Text 6"/>
          <p:cNvSpPr/>
          <p:nvPr/>
        </p:nvSpPr>
        <p:spPr>
          <a:xfrm>
            <a:off x="411480" y="530352"/>
            <a:ext cx="8321040" cy="594360"/>
          </a:xfrm>
          <a:prstGeom prst="rect">
            <a:avLst/>
          </a:prstGeom>
          <a:noFill/>
          <a:ln/>
        </p:spPr>
        <p:txBody>
          <a:bodyPr wrap="square" lIns="0" tIns="0" rIns="0" bIns="0" rtlCol="0" anchor="ctr"/>
          <a:lstStyle/>
          <a:p>
            <a:pPr algn="l" indent="0" marL="0">
              <a:buNone/>
            </a:pPr>
            <a:r>
              <a:rPr lang="en-US" sz="2800" b="1" dirty="0">
                <a:solidFill>
                  <a:srgbClr val="00D4FF"/>
                </a:solidFill>
                <a:latin typeface="Consolas" pitchFamily="34" charset="0"/>
                <a:ea typeface="Consolas" pitchFamily="34" charset="-122"/>
                <a:cs typeface="Consolas" pitchFamily="34" charset="-120"/>
              </a:rPr>
              <a:t>Glossary of Key Terms</a:t>
            </a:r>
            <a:endParaRPr lang="en-US" sz="2800" dirty="0"/>
          </a:p>
        </p:txBody>
      </p:sp>
      <p:sp>
        <p:nvSpPr>
          <p:cNvPr id="9" name="Text 7"/>
          <p:cNvSpPr/>
          <p:nvPr/>
        </p:nvSpPr>
        <p:spPr>
          <a:xfrm>
            <a:off x="8686800" y="4754880"/>
            <a:ext cx="365760" cy="228600"/>
          </a:xfrm>
          <a:prstGeom prst="rect">
            <a:avLst/>
          </a:prstGeom>
          <a:noFill/>
          <a:ln/>
        </p:spPr>
        <p:txBody>
          <a:bodyPr wrap="square" lIns="0" tIns="0" rIns="0" bIns="0" rtlCol="0" anchor="ctr"/>
          <a:lstStyle/>
          <a:p>
            <a:pPr algn="r" indent="0" marL="0">
              <a:buNone/>
            </a:pPr>
            <a:r>
              <a:rPr lang="en-US" sz="900" dirty="0">
                <a:solidFill>
                  <a:srgbClr val="8B9BB4"/>
                </a:solidFill>
                <a:latin typeface="Consolas" pitchFamily="34" charset="0"/>
                <a:ea typeface="Consolas" pitchFamily="34" charset="-122"/>
                <a:cs typeface="Consolas" pitchFamily="34" charset="-120"/>
              </a:rPr>
              <a:t>31</a:t>
            </a:r>
            <a:endParaRPr lang="en-US" sz="900" dirty="0"/>
          </a:p>
        </p:txBody>
      </p:sp>
      <p:sp>
        <p:nvSpPr>
          <p:cNvPr id="10" name="Shape 8"/>
          <p:cNvSpPr/>
          <p:nvPr/>
        </p:nvSpPr>
        <p:spPr>
          <a:xfrm>
            <a:off x="320040" y="1234440"/>
            <a:ext cx="4114800" cy="530352"/>
          </a:xfrm>
          <a:prstGeom prst="rect">
            <a:avLst/>
          </a:prstGeom>
          <a:solidFill>
            <a:srgbClr val="111827"/>
          </a:solidFill>
          <a:ln w="12700">
            <a:solidFill>
              <a:srgbClr val="1E3A5F"/>
            </a:solidFill>
            <a:prstDash val="solid"/>
          </a:ln>
        </p:spPr>
      </p:sp>
      <p:sp>
        <p:nvSpPr>
          <p:cNvPr id="11" name="Text 9"/>
          <p:cNvSpPr/>
          <p:nvPr/>
        </p:nvSpPr>
        <p:spPr>
          <a:xfrm>
            <a:off x="429768" y="1289304"/>
            <a:ext cx="1280160" cy="219456"/>
          </a:xfrm>
          <a:prstGeom prst="rect">
            <a:avLst/>
          </a:prstGeom>
          <a:noFill/>
          <a:ln/>
        </p:spPr>
        <p:txBody>
          <a:bodyPr wrap="square" lIns="0" tIns="0" rIns="0" bIns="0" rtlCol="0" anchor="ctr"/>
          <a:lstStyle/>
          <a:p>
            <a:pPr indent="0" marL="0">
              <a:buNone/>
            </a:pPr>
            <a:r>
              <a:rPr lang="en-US" sz="1000" b="1" dirty="0">
                <a:solidFill>
                  <a:srgbClr val="00D4FF"/>
                </a:solidFill>
                <a:latin typeface="Consolas" pitchFamily="34" charset="0"/>
                <a:ea typeface="Consolas" pitchFamily="34" charset="-122"/>
                <a:cs typeface="Consolas" pitchFamily="34" charset="-120"/>
              </a:rPr>
              <a:t>Disassembly</a:t>
            </a:r>
            <a:endParaRPr lang="en-US" sz="1000" dirty="0"/>
          </a:p>
        </p:txBody>
      </p:sp>
      <p:sp>
        <p:nvSpPr>
          <p:cNvPr id="12" name="Text 10"/>
          <p:cNvSpPr/>
          <p:nvPr/>
        </p:nvSpPr>
        <p:spPr>
          <a:xfrm>
            <a:off x="429768" y="1508760"/>
            <a:ext cx="3840480" cy="201168"/>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Converting machine code back to assembly language</a:t>
            </a:r>
            <a:endParaRPr lang="en-US" sz="900" dirty="0"/>
          </a:p>
        </p:txBody>
      </p:sp>
      <p:sp>
        <p:nvSpPr>
          <p:cNvPr id="13" name="Shape 11"/>
          <p:cNvSpPr/>
          <p:nvPr/>
        </p:nvSpPr>
        <p:spPr>
          <a:xfrm>
            <a:off x="320040" y="1856232"/>
            <a:ext cx="4114800" cy="530352"/>
          </a:xfrm>
          <a:prstGeom prst="rect">
            <a:avLst/>
          </a:prstGeom>
          <a:solidFill>
            <a:srgbClr val="111827"/>
          </a:solidFill>
          <a:ln w="12700">
            <a:solidFill>
              <a:srgbClr val="1E3A5F"/>
            </a:solidFill>
            <a:prstDash val="solid"/>
          </a:ln>
        </p:spPr>
      </p:sp>
      <p:sp>
        <p:nvSpPr>
          <p:cNvPr id="14" name="Text 12"/>
          <p:cNvSpPr/>
          <p:nvPr/>
        </p:nvSpPr>
        <p:spPr>
          <a:xfrm>
            <a:off x="429768" y="1911096"/>
            <a:ext cx="1280160" cy="219456"/>
          </a:xfrm>
          <a:prstGeom prst="rect">
            <a:avLst/>
          </a:prstGeom>
          <a:noFill/>
          <a:ln/>
        </p:spPr>
        <p:txBody>
          <a:bodyPr wrap="square" lIns="0" tIns="0" rIns="0" bIns="0" rtlCol="0" anchor="ctr"/>
          <a:lstStyle/>
          <a:p>
            <a:pPr indent="0" marL="0">
              <a:buNone/>
            </a:pPr>
            <a:r>
              <a:rPr lang="en-US" sz="1000" b="1" dirty="0">
                <a:solidFill>
                  <a:srgbClr val="00D4FF"/>
                </a:solidFill>
                <a:latin typeface="Consolas" pitchFamily="34" charset="0"/>
                <a:ea typeface="Consolas" pitchFamily="34" charset="-122"/>
                <a:cs typeface="Consolas" pitchFamily="34" charset="-120"/>
              </a:rPr>
              <a:t>Decompilation</a:t>
            </a:r>
            <a:endParaRPr lang="en-US" sz="1000" dirty="0"/>
          </a:p>
        </p:txBody>
      </p:sp>
      <p:sp>
        <p:nvSpPr>
          <p:cNvPr id="15" name="Text 13"/>
          <p:cNvSpPr/>
          <p:nvPr/>
        </p:nvSpPr>
        <p:spPr>
          <a:xfrm>
            <a:off x="429768" y="2130552"/>
            <a:ext cx="3840480" cy="201168"/>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Converting binary to higher-level pseudo-code (C-like)</a:t>
            </a:r>
            <a:endParaRPr lang="en-US" sz="900" dirty="0"/>
          </a:p>
        </p:txBody>
      </p:sp>
      <p:sp>
        <p:nvSpPr>
          <p:cNvPr id="16" name="Shape 14"/>
          <p:cNvSpPr/>
          <p:nvPr/>
        </p:nvSpPr>
        <p:spPr>
          <a:xfrm>
            <a:off x="320040" y="2478024"/>
            <a:ext cx="4114800" cy="530352"/>
          </a:xfrm>
          <a:prstGeom prst="rect">
            <a:avLst/>
          </a:prstGeom>
          <a:solidFill>
            <a:srgbClr val="111827"/>
          </a:solidFill>
          <a:ln w="12700">
            <a:solidFill>
              <a:srgbClr val="1E3A5F"/>
            </a:solidFill>
            <a:prstDash val="solid"/>
          </a:ln>
        </p:spPr>
      </p:sp>
      <p:sp>
        <p:nvSpPr>
          <p:cNvPr id="17" name="Text 15"/>
          <p:cNvSpPr/>
          <p:nvPr/>
        </p:nvSpPr>
        <p:spPr>
          <a:xfrm>
            <a:off x="429768" y="2532888"/>
            <a:ext cx="1280160" cy="219456"/>
          </a:xfrm>
          <a:prstGeom prst="rect">
            <a:avLst/>
          </a:prstGeom>
          <a:noFill/>
          <a:ln/>
        </p:spPr>
        <p:txBody>
          <a:bodyPr wrap="square" lIns="0" tIns="0" rIns="0" bIns="0" rtlCol="0" anchor="ctr"/>
          <a:lstStyle/>
          <a:p>
            <a:pPr indent="0" marL="0">
              <a:buNone/>
            </a:pPr>
            <a:r>
              <a:rPr lang="en-US" sz="1000" b="1" dirty="0">
                <a:solidFill>
                  <a:srgbClr val="00D4FF"/>
                </a:solidFill>
                <a:latin typeface="Consolas" pitchFamily="34" charset="0"/>
                <a:ea typeface="Consolas" pitchFamily="34" charset="-122"/>
                <a:cs typeface="Consolas" pitchFamily="34" charset="-120"/>
              </a:rPr>
              <a:t>Opcode</a:t>
            </a:r>
            <a:endParaRPr lang="en-US" sz="1000" dirty="0"/>
          </a:p>
        </p:txBody>
      </p:sp>
      <p:sp>
        <p:nvSpPr>
          <p:cNvPr id="18" name="Text 16"/>
          <p:cNvSpPr/>
          <p:nvPr/>
        </p:nvSpPr>
        <p:spPr>
          <a:xfrm>
            <a:off x="429768" y="2752344"/>
            <a:ext cx="3840480" cy="201168"/>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The numeric code representing a CPU instruction (e.g., 0x55 = PUSH EBP)</a:t>
            </a:r>
            <a:endParaRPr lang="en-US" sz="900" dirty="0"/>
          </a:p>
        </p:txBody>
      </p:sp>
      <p:sp>
        <p:nvSpPr>
          <p:cNvPr id="19" name="Shape 17"/>
          <p:cNvSpPr/>
          <p:nvPr/>
        </p:nvSpPr>
        <p:spPr>
          <a:xfrm>
            <a:off x="320040" y="3099816"/>
            <a:ext cx="4114800" cy="530352"/>
          </a:xfrm>
          <a:prstGeom prst="rect">
            <a:avLst/>
          </a:prstGeom>
          <a:solidFill>
            <a:srgbClr val="111827"/>
          </a:solidFill>
          <a:ln w="12700">
            <a:solidFill>
              <a:srgbClr val="1E3A5F"/>
            </a:solidFill>
            <a:prstDash val="solid"/>
          </a:ln>
        </p:spPr>
      </p:sp>
      <p:sp>
        <p:nvSpPr>
          <p:cNvPr id="20" name="Text 18"/>
          <p:cNvSpPr/>
          <p:nvPr/>
        </p:nvSpPr>
        <p:spPr>
          <a:xfrm>
            <a:off x="429768" y="3154680"/>
            <a:ext cx="1280160" cy="219456"/>
          </a:xfrm>
          <a:prstGeom prst="rect">
            <a:avLst/>
          </a:prstGeom>
          <a:noFill/>
          <a:ln/>
        </p:spPr>
        <p:txBody>
          <a:bodyPr wrap="square" lIns="0" tIns="0" rIns="0" bIns="0" rtlCol="0" anchor="ctr"/>
          <a:lstStyle/>
          <a:p>
            <a:pPr indent="0" marL="0">
              <a:buNone/>
            </a:pPr>
            <a:r>
              <a:rPr lang="en-US" sz="1000" b="1" dirty="0">
                <a:solidFill>
                  <a:srgbClr val="00D4FF"/>
                </a:solidFill>
                <a:latin typeface="Consolas" pitchFamily="34" charset="0"/>
                <a:ea typeface="Consolas" pitchFamily="34" charset="-122"/>
                <a:cs typeface="Consolas" pitchFamily="34" charset="-120"/>
              </a:rPr>
              <a:t>Entropy</a:t>
            </a:r>
            <a:endParaRPr lang="en-US" sz="1000" dirty="0"/>
          </a:p>
        </p:txBody>
      </p:sp>
      <p:sp>
        <p:nvSpPr>
          <p:cNvPr id="21" name="Text 19"/>
          <p:cNvSpPr/>
          <p:nvPr/>
        </p:nvSpPr>
        <p:spPr>
          <a:xfrm>
            <a:off x="429768" y="3374136"/>
            <a:ext cx="3840480" cy="201168"/>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Measure of randomness — high entropy often indicates packing/encryption</a:t>
            </a:r>
            <a:endParaRPr lang="en-US" sz="900" dirty="0"/>
          </a:p>
        </p:txBody>
      </p:sp>
      <p:sp>
        <p:nvSpPr>
          <p:cNvPr id="22" name="Shape 20"/>
          <p:cNvSpPr/>
          <p:nvPr/>
        </p:nvSpPr>
        <p:spPr>
          <a:xfrm>
            <a:off x="320040" y="3721608"/>
            <a:ext cx="4114800" cy="530352"/>
          </a:xfrm>
          <a:prstGeom prst="rect">
            <a:avLst/>
          </a:prstGeom>
          <a:solidFill>
            <a:srgbClr val="111827"/>
          </a:solidFill>
          <a:ln w="12700">
            <a:solidFill>
              <a:srgbClr val="1E3A5F"/>
            </a:solidFill>
            <a:prstDash val="solid"/>
          </a:ln>
        </p:spPr>
      </p:sp>
      <p:sp>
        <p:nvSpPr>
          <p:cNvPr id="23" name="Text 21"/>
          <p:cNvSpPr/>
          <p:nvPr/>
        </p:nvSpPr>
        <p:spPr>
          <a:xfrm>
            <a:off x="429768" y="3776472"/>
            <a:ext cx="1280160" cy="219456"/>
          </a:xfrm>
          <a:prstGeom prst="rect">
            <a:avLst/>
          </a:prstGeom>
          <a:noFill/>
          <a:ln/>
        </p:spPr>
        <p:txBody>
          <a:bodyPr wrap="square" lIns="0" tIns="0" rIns="0" bIns="0" rtlCol="0" anchor="ctr"/>
          <a:lstStyle/>
          <a:p>
            <a:pPr indent="0" marL="0">
              <a:buNone/>
            </a:pPr>
            <a:r>
              <a:rPr lang="en-US" sz="1000" b="1" dirty="0">
                <a:solidFill>
                  <a:srgbClr val="00D4FF"/>
                </a:solidFill>
                <a:latin typeface="Consolas" pitchFamily="34" charset="0"/>
                <a:ea typeface="Consolas" pitchFamily="34" charset="-122"/>
                <a:cs typeface="Consolas" pitchFamily="34" charset="-120"/>
              </a:rPr>
              <a:t>IOC</a:t>
            </a:r>
            <a:endParaRPr lang="en-US" sz="1000" dirty="0"/>
          </a:p>
        </p:txBody>
      </p:sp>
      <p:sp>
        <p:nvSpPr>
          <p:cNvPr id="24" name="Text 22"/>
          <p:cNvSpPr/>
          <p:nvPr/>
        </p:nvSpPr>
        <p:spPr>
          <a:xfrm>
            <a:off x="429768" y="3995928"/>
            <a:ext cx="3840480" cy="201168"/>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Indicator of Compromise — observable evidence of malicious activity</a:t>
            </a:r>
            <a:endParaRPr lang="en-US" sz="900" dirty="0"/>
          </a:p>
        </p:txBody>
      </p:sp>
      <p:sp>
        <p:nvSpPr>
          <p:cNvPr id="25" name="Shape 23"/>
          <p:cNvSpPr/>
          <p:nvPr/>
        </p:nvSpPr>
        <p:spPr>
          <a:xfrm>
            <a:off x="320040" y="4343400"/>
            <a:ext cx="4114800" cy="530352"/>
          </a:xfrm>
          <a:prstGeom prst="rect">
            <a:avLst/>
          </a:prstGeom>
          <a:solidFill>
            <a:srgbClr val="111827"/>
          </a:solidFill>
          <a:ln w="12700">
            <a:solidFill>
              <a:srgbClr val="1E3A5F"/>
            </a:solidFill>
            <a:prstDash val="solid"/>
          </a:ln>
        </p:spPr>
      </p:sp>
      <p:sp>
        <p:nvSpPr>
          <p:cNvPr id="26" name="Text 24"/>
          <p:cNvSpPr/>
          <p:nvPr/>
        </p:nvSpPr>
        <p:spPr>
          <a:xfrm>
            <a:off x="429768" y="4398264"/>
            <a:ext cx="1280160" cy="219456"/>
          </a:xfrm>
          <a:prstGeom prst="rect">
            <a:avLst/>
          </a:prstGeom>
          <a:noFill/>
          <a:ln/>
        </p:spPr>
        <p:txBody>
          <a:bodyPr wrap="square" lIns="0" tIns="0" rIns="0" bIns="0" rtlCol="0" anchor="ctr"/>
          <a:lstStyle/>
          <a:p>
            <a:pPr indent="0" marL="0">
              <a:buNone/>
            </a:pPr>
            <a:r>
              <a:rPr lang="en-US" sz="1000" b="1" dirty="0">
                <a:solidFill>
                  <a:srgbClr val="00D4FF"/>
                </a:solidFill>
                <a:latin typeface="Consolas" pitchFamily="34" charset="0"/>
                <a:ea typeface="Consolas" pitchFamily="34" charset="-122"/>
                <a:cs typeface="Consolas" pitchFamily="34" charset="-120"/>
              </a:rPr>
              <a:t>Sandbox</a:t>
            </a:r>
            <a:endParaRPr lang="en-US" sz="1000" dirty="0"/>
          </a:p>
        </p:txBody>
      </p:sp>
      <p:sp>
        <p:nvSpPr>
          <p:cNvPr id="27" name="Text 25"/>
          <p:cNvSpPr/>
          <p:nvPr/>
        </p:nvSpPr>
        <p:spPr>
          <a:xfrm>
            <a:off x="429768" y="4617720"/>
            <a:ext cx="3840480" cy="201168"/>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Isolated execution environment for safe dynamic analysis</a:t>
            </a:r>
            <a:endParaRPr lang="en-US" sz="900" dirty="0"/>
          </a:p>
        </p:txBody>
      </p:sp>
      <p:sp>
        <p:nvSpPr>
          <p:cNvPr id="28" name="Shape 26"/>
          <p:cNvSpPr/>
          <p:nvPr/>
        </p:nvSpPr>
        <p:spPr>
          <a:xfrm>
            <a:off x="4754880" y="1234440"/>
            <a:ext cx="4114800" cy="530352"/>
          </a:xfrm>
          <a:prstGeom prst="rect">
            <a:avLst/>
          </a:prstGeom>
          <a:solidFill>
            <a:srgbClr val="111827"/>
          </a:solidFill>
          <a:ln w="12700">
            <a:solidFill>
              <a:srgbClr val="1E3A5F"/>
            </a:solidFill>
            <a:prstDash val="solid"/>
          </a:ln>
        </p:spPr>
      </p:sp>
      <p:sp>
        <p:nvSpPr>
          <p:cNvPr id="29" name="Text 27"/>
          <p:cNvSpPr/>
          <p:nvPr/>
        </p:nvSpPr>
        <p:spPr>
          <a:xfrm>
            <a:off x="4864608" y="1289304"/>
            <a:ext cx="1280160" cy="219456"/>
          </a:xfrm>
          <a:prstGeom prst="rect">
            <a:avLst/>
          </a:prstGeom>
          <a:noFill/>
          <a:ln/>
        </p:spPr>
        <p:txBody>
          <a:bodyPr wrap="square" lIns="0" tIns="0" rIns="0" bIns="0" rtlCol="0" anchor="ctr"/>
          <a:lstStyle/>
          <a:p>
            <a:pPr indent="0" marL="0">
              <a:buNone/>
            </a:pPr>
            <a:r>
              <a:rPr lang="en-US" sz="1000" b="1" dirty="0">
                <a:solidFill>
                  <a:srgbClr val="00D4FF"/>
                </a:solidFill>
                <a:latin typeface="Consolas" pitchFamily="34" charset="0"/>
                <a:ea typeface="Consolas" pitchFamily="34" charset="-122"/>
                <a:cs typeface="Consolas" pitchFamily="34" charset="-120"/>
              </a:rPr>
              <a:t>Unpacking</a:t>
            </a:r>
            <a:endParaRPr lang="en-US" sz="1000" dirty="0"/>
          </a:p>
        </p:txBody>
      </p:sp>
      <p:sp>
        <p:nvSpPr>
          <p:cNvPr id="30" name="Text 28"/>
          <p:cNvSpPr/>
          <p:nvPr/>
        </p:nvSpPr>
        <p:spPr>
          <a:xfrm>
            <a:off x="4864608" y="1508760"/>
            <a:ext cx="3840480" cy="201168"/>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Extracting the original binary from a packed/compressed shell</a:t>
            </a:r>
            <a:endParaRPr lang="en-US" sz="900" dirty="0"/>
          </a:p>
        </p:txBody>
      </p:sp>
      <p:sp>
        <p:nvSpPr>
          <p:cNvPr id="31" name="Shape 29"/>
          <p:cNvSpPr/>
          <p:nvPr/>
        </p:nvSpPr>
        <p:spPr>
          <a:xfrm>
            <a:off x="4754880" y="1856232"/>
            <a:ext cx="4114800" cy="530352"/>
          </a:xfrm>
          <a:prstGeom prst="rect">
            <a:avLst/>
          </a:prstGeom>
          <a:solidFill>
            <a:srgbClr val="111827"/>
          </a:solidFill>
          <a:ln w="12700">
            <a:solidFill>
              <a:srgbClr val="1E3A5F"/>
            </a:solidFill>
            <a:prstDash val="solid"/>
          </a:ln>
        </p:spPr>
      </p:sp>
      <p:sp>
        <p:nvSpPr>
          <p:cNvPr id="32" name="Text 30"/>
          <p:cNvSpPr/>
          <p:nvPr/>
        </p:nvSpPr>
        <p:spPr>
          <a:xfrm>
            <a:off x="4864608" y="1911096"/>
            <a:ext cx="1280160" cy="219456"/>
          </a:xfrm>
          <a:prstGeom prst="rect">
            <a:avLst/>
          </a:prstGeom>
          <a:noFill/>
          <a:ln/>
        </p:spPr>
        <p:txBody>
          <a:bodyPr wrap="square" lIns="0" tIns="0" rIns="0" bIns="0" rtlCol="0" anchor="ctr"/>
          <a:lstStyle/>
          <a:p>
            <a:pPr indent="0" marL="0">
              <a:buNone/>
            </a:pPr>
            <a:r>
              <a:rPr lang="en-US" sz="1000" b="1" dirty="0">
                <a:solidFill>
                  <a:srgbClr val="00D4FF"/>
                </a:solidFill>
                <a:latin typeface="Consolas" pitchFamily="34" charset="0"/>
                <a:ea typeface="Consolas" pitchFamily="34" charset="-122"/>
                <a:cs typeface="Consolas" pitchFamily="34" charset="-120"/>
              </a:rPr>
              <a:t>CFG</a:t>
            </a:r>
            <a:endParaRPr lang="en-US" sz="1000" dirty="0"/>
          </a:p>
        </p:txBody>
      </p:sp>
      <p:sp>
        <p:nvSpPr>
          <p:cNvPr id="33" name="Text 31"/>
          <p:cNvSpPr/>
          <p:nvPr/>
        </p:nvSpPr>
        <p:spPr>
          <a:xfrm>
            <a:off x="4864608" y="2130552"/>
            <a:ext cx="3840480" cy="201168"/>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Control Flow Graph — visual map of all execution paths in a function</a:t>
            </a:r>
            <a:endParaRPr lang="en-US" sz="900" dirty="0"/>
          </a:p>
        </p:txBody>
      </p:sp>
      <p:sp>
        <p:nvSpPr>
          <p:cNvPr id="34" name="Shape 32"/>
          <p:cNvSpPr/>
          <p:nvPr/>
        </p:nvSpPr>
        <p:spPr>
          <a:xfrm>
            <a:off x="4754880" y="2478024"/>
            <a:ext cx="4114800" cy="530352"/>
          </a:xfrm>
          <a:prstGeom prst="rect">
            <a:avLst/>
          </a:prstGeom>
          <a:solidFill>
            <a:srgbClr val="111827"/>
          </a:solidFill>
          <a:ln w="12700">
            <a:solidFill>
              <a:srgbClr val="1E3A5F"/>
            </a:solidFill>
            <a:prstDash val="solid"/>
          </a:ln>
        </p:spPr>
      </p:sp>
      <p:sp>
        <p:nvSpPr>
          <p:cNvPr id="35" name="Text 33"/>
          <p:cNvSpPr/>
          <p:nvPr/>
        </p:nvSpPr>
        <p:spPr>
          <a:xfrm>
            <a:off x="4864608" y="2532888"/>
            <a:ext cx="1280160" cy="219456"/>
          </a:xfrm>
          <a:prstGeom prst="rect">
            <a:avLst/>
          </a:prstGeom>
          <a:noFill/>
          <a:ln/>
        </p:spPr>
        <p:txBody>
          <a:bodyPr wrap="square" lIns="0" tIns="0" rIns="0" bIns="0" rtlCol="0" anchor="ctr"/>
          <a:lstStyle/>
          <a:p>
            <a:pPr indent="0" marL="0">
              <a:buNone/>
            </a:pPr>
            <a:r>
              <a:rPr lang="en-US" sz="1000" b="1" dirty="0">
                <a:solidFill>
                  <a:srgbClr val="00D4FF"/>
                </a:solidFill>
                <a:latin typeface="Consolas" pitchFamily="34" charset="0"/>
                <a:ea typeface="Consolas" pitchFamily="34" charset="-122"/>
                <a:cs typeface="Consolas" pitchFamily="34" charset="-120"/>
              </a:rPr>
              <a:t>XREF</a:t>
            </a:r>
            <a:endParaRPr lang="en-US" sz="1000" dirty="0"/>
          </a:p>
        </p:txBody>
      </p:sp>
      <p:sp>
        <p:nvSpPr>
          <p:cNvPr id="36" name="Text 34"/>
          <p:cNvSpPr/>
          <p:nvPr/>
        </p:nvSpPr>
        <p:spPr>
          <a:xfrm>
            <a:off x="4864608" y="2752344"/>
            <a:ext cx="3840480" cy="201168"/>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Cross-reference — shows all locations that reference a function/data</a:t>
            </a:r>
            <a:endParaRPr lang="en-US" sz="900" dirty="0"/>
          </a:p>
        </p:txBody>
      </p:sp>
      <p:sp>
        <p:nvSpPr>
          <p:cNvPr id="37" name="Shape 35"/>
          <p:cNvSpPr/>
          <p:nvPr/>
        </p:nvSpPr>
        <p:spPr>
          <a:xfrm>
            <a:off x="4754880" y="3099816"/>
            <a:ext cx="4114800" cy="530352"/>
          </a:xfrm>
          <a:prstGeom prst="rect">
            <a:avLst/>
          </a:prstGeom>
          <a:solidFill>
            <a:srgbClr val="111827"/>
          </a:solidFill>
          <a:ln w="12700">
            <a:solidFill>
              <a:srgbClr val="1E3A5F"/>
            </a:solidFill>
            <a:prstDash val="solid"/>
          </a:ln>
        </p:spPr>
      </p:sp>
      <p:sp>
        <p:nvSpPr>
          <p:cNvPr id="38" name="Text 36"/>
          <p:cNvSpPr/>
          <p:nvPr/>
        </p:nvSpPr>
        <p:spPr>
          <a:xfrm>
            <a:off x="4864608" y="3154680"/>
            <a:ext cx="1280160" cy="219456"/>
          </a:xfrm>
          <a:prstGeom prst="rect">
            <a:avLst/>
          </a:prstGeom>
          <a:noFill/>
          <a:ln/>
        </p:spPr>
        <p:txBody>
          <a:bodyPr wrap="square" lIns="0" tIns="0" rIns="0" bIns="0" rtlCol="0" anchor="ctr"/>
          <a:lstStyle/>
          <a:p>
            <a:pPr indent="0" marL="0">
              <a:buNone/>
            </a:pPr>
            <a:r>
              <a:rPr lang="en-US" sz="1000" b="1" dirty="0">
                <a:solidFill>
                  <a:srgbClr val="00D4FF"/>
                </a:solidFill>
                <a:latin typeface="Consolas" pitchFamily="34" charset="0"/>
                <a:ea typeface="Consolas" pitchFamily="34" charset="-122"/>
                <a:cs typeface="Consolas" pitchFamily="34" charset="-120"/>
              </a:rPr>
              <a:t>Shellcode</a:t>
            </a:r>
            <a:endParaRPr lang="en-US" sz="1000" dirty="0"/>
          </a:p>
        </p:txBody>
      </p:sp>
      <p:sp>
        <p:nvSpPr>
          <p:cNvPr id="39" name="Text 37"/>
          <p:cNvSpPr/>
          <p:nvPr/>
        </p:nvSpPr>
        <p:spPr>
          <a:xfrm>
            <a:off x="4864608" y="3374136"/>
            <a:ext cx="3840480" cy="201168"/>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Raw machine code designed to be injected and executed in memory</a:t>
            </a:r>
            <a:endParaRPr lang="en-US" sz="900" dirty="0"/>
          </a:p>
        </p:txBody>
      </p:sp>
      <p:sp>
        <p:nvSpPr>
          <p:cNvPr id="40" name="Shape 38"/>
          <p:cNvSpPr/>
          <p:nvPr/>
        </p:nvSpPr>
        <p:spPr>
          <a:xfrm>
            <a:off x="4754880" y="3721608"/>
            <a:ext cx="4114800" cy="530352"/>
          </a:xfrm>
          <a:prstGeom prst="rect">
            <a:avLst/>
          </a:prstGeom>
          <a:solidFill>
            <a:srgbClr val="111827"/>
          </a:solidFill>
          <a:ln w="12700">
            <a:solidFill>
              <a:srgbClr val="1E3A5F"/>
            </a:solidFill>
            <a:prstDash val="solid"/>
          </a:ln>
        </p:spPr>
      </p:sp>
      <p:sp>
        <p:nvSpPr>
          <p:cNvPr id="41" name="Text 39"/>
          <p:cNvSpPr/>
          <p:nvPr/>
        </p:nvSpPr>
        <p:spPr>
          <a:xfrm>
            <a:off x="4864608" y="3776472"/>
            <a:ext cx="1280160" cy="219456"/>
          </a:xfrm>
          <a:prstGeom prst="rect">
            <a:avLst/>
          </a:prstGeom>
          <a:noFill/>
          <a:ln/>
        </p:spPr>
        <p:txBody>
          <a:bodyPr wrap="square" lIns="0" tIns="0" rIns="0" bIns="0" rtlCol="0" anchor="ctr"/>
          <a:lstStyle/>
          <a:p>
            <a:pPr indent="0" marL="0">
              <a:buNone/>
            </a:pPr>
            <a:r>
              <a:rPr lang="en-US" sz="1000" b="1" dirty="0">
                <a:solidFill>
                  <a:srgbClr val="00D4FF"/>
                </a:solidFill>
                <a:latin typeface="Consolas" pitchFamily="34" charset="0"/>
                <a:ea typeface="Consolas" pitchFamily="34" charset="-122"/>
                <a:cs typeface="Consolas" pitchFamily="34" charset="-120"/>
              </a:rPr>
              <a:t>ROP</a:t>
            </a:r>
            <a:endParaRPr lang="en-US" sz="1000" dirty="0"/>
          </a:p>
        </p:txBody>
      </p:sp>
      <p:sp>
        <p:nvSpPr>
          <p:cNvPr id="42" name="Text 40"/>
          <p:cNvSpPr/>
          <p:nvPr/>
        </p:nvSpPr>
        <p:spPr>
          <a:xfrm>
            <a:off x="4864608" y="3995928"/>
            <a:ext cx="3840480" cy="201168"/>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Return-Oriented Programming — exploitation technique using existing code</a:t>
            </a:r>
            <a:endParaRPr lang="en-US" sz="900" dirty="0"/>
          </a:p>
        </p:txBody>
      </p:sp>
      <p:sp>
        <p:nvSpPr>
          <p:cNvPr id="43" name="Shape 41"/>
          <p:cNvSpPr/>
          <p:nvPr/>
        </p:nvSpPr>
        <p:spPr>
          <a:xfrm>
            <a:off x="4754880" y="4343400"/>
            <a:ext cx="4114800" cy="530352"/>
          </a:xfrm>
          <a:prstGeom prst="rect">
            <a:avLst/>
          </a:prstGeom>
          <a:solidFill>
            <a:srgbClr val="111827"/>
          </a:solidFill>
          <a:ln w="12700">
            <a:solidFill>
              <a:srgbClr val="1E3A5F"/>
            </a:solidFill>
            <a:prstDash val="solid"/>
          </a:ln>
        </p:spPr>
      </p:sp>
      <p:sp>
        <p:nvSpPr>
          <p:cNvPr id="44" name="Text 42"/>
          <p:cNvSpPr/>
          <p:nvPr/>
        </p:nvSpPr>
        <p:spPr>
          <a:xfrm>
            <a:off x="4864608" y="4398264"/>
            <a:ext cx="1280160" cy="219456"/>
          </a:xfrm>
          <a:prstGeom prst="rect">
            <a:avLst/>
          </a:prstGeom>
          <a:noFill/>
          <a:ln/>
        </p:spPr>
        <p:txBody>
          <a:bodyPr wrap="square" lIns="0" tIns="0" rIns="0" bIns="0" rtlCol="0" anchor="ctr"/>
          <a:lstStyle/>
          <a:p>
            <a:pPr indent="0" marL="0">
              <a:buNone/>
            </a:pPr>
            <a:r>
              <a:rPr lang="en-US" sz="1000" b="1" dirty="0">
                <a:solidFill>
                  <a:srgbClr val="00D4FF"/>
                </a:solidFill>
                <a:latin typeface="Consolas" pitchFamily="34" charset="0"/>
                <a:ea typeface="Consolas" pitchFamily="34" charset="-122"/>
                <a:cs typeface="Consolas" pitchFamily="34" charset="-120"/>
              </a:rPr>
              <a:t>NOP</a:t>
            </a:r>
            <a:endParaRPr lang="en-US" sz="1000" dirty="0"/>
          </a:p>
        </p:txBody>
      </p:sp>
      <p:sp>
        <p:nvSpPr>
          <p:cNvPr id="45" name="Text 43"/>
          <p:cNvSpPr/>
          <p:nvPr/>
        </p:nvSpPr>
        <p:spPr>
          <a:xfrm>
            <a:off x="4864608" y="4617720"/>
            <a:ext cx="3840480" cy="201168"/>
          </a:xfrm>
          <a:prstGeom prst="rect">
            <a:avLst/>
          </a:prstGeom>
          <a:noFill/>
          <a:ln/>
        </p:spPr>
        <p:txBody>
          <a:bodyPr wrap="square" lIns="0" tIns="0" rIns="0" bIns="0" rtlCol="0" anchor="ctr"/>
          <a:lstStyle/>
          <a:p>
            <a:pPr indent="0" marL="0">
              <a:buNone/>
            </a:pPr>
            <a:r>
              <a:rPr lang="en-US" sz="900" dirty="0">
                <a:solidFill>
                  <a:srgbClr val="E2E8F0"/>
                </a:solidFill>
                <a:latin typeface="Calibri" pitchFamily="34" charset="0"/>
                <a:ea typeface="Calibri" pitchFamily="34" charset="-122"/>
                <a:cs typeface="Calibri" pitchFamily="34" charset="-120"/>
              </a:rPr>
              <a:t>No Operation (0x90) — does nothing; used to neutralize instructions</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164592" y="164592"/>
            <a:ext cx="365760" cy="45720"/>
          </a:xfrm>
          <a:prstGeom prst="rect">
            <a:avLst/>
          </a:prstGeom>
          <a:solidFill>
            <a:srgbClr val="00FF88"/>
          </a:solidFill>
          <a:ln w="12700">
            <a:solidFill>
              <a:srgbClr val="00FF88"/>
            </a:solidFill>
            <a:prstDash val="solid"/>
          </a:ln>
        </p:spPr>
      </p:sp>
      <p:sp>
        <p:nvSpPr>
          <p:cNvPr id="3" name="Shape 1"/>
          <p:cNvSpPr/>
          <p:nvPr/>
        </p:nvSpPr>
        <p:spPr>
          <a:xfrm>
            <a:off x="164592" y="164592"/>
            <a:ext cx="45720" cy="274320"/>
          </a:xfrm>
          <a:prstGeom prst="rect">
            <a:avLst/>
          </a:prstGeom>
          <a:solidFill>
            <a:srgbClr val="00FF88"/>
          </a:solidFill>
          <a:ln w="12700">
            <a:solidFill>
              <a:srgbClr val="00FF88"/>
            </a:solidFill>
            <a:prstDash val="solid"/>
          </a:ln>
        </p:spPr>
      </p:sp>
      <p:sp>
        <p:nvSpPr>
          <p:cNvPr id="4" name="Shape 2"/>
          <p:cNvSpPr/>
          <p:nvPr/>
        </p:nvSpPr>
        <p:spPr>
          <a:xfrm>
            <a:off x="8613648" y="4910328"/>
            <a:ext cx="365760" cy="45720"/>
          </a:xfrm>
          <a:prstGeom prst="rect">
            <a:avLst/>
          </a:prstGeom>
          <a:solidFill>
            <a:srgbClr val="00D4FF"/>
          </a:solidFill>
          <a:ln w="12700">
            <a:solidFill>
              <a:srgbClr val="00D4FF"/>
            </a:solidFill>
            <a:prstDash val="solid"/>
          </a:ln>
        </p:spPr>
      </p:sp>
      <p:sp>
        <p:nvSpPr>
          <p:cNvPr id="5" name="Shape 3"/>
          <p:cNvSpPr/>
          <p:nvPr/>
        </p:nvSpPr>
        <p:spPr>
          <a:xfrm>
            <a:off x="8933688" y="4681728"/>
            <a:ext cx="45720" cy="274320"/>
          </a:xfrm>
          <a:prstGeom prst="rect">
            <a:avLst/>
          </a:prstGeom>
          <a:solidFill>
            <a:srgbClr val="00D4FF"/>
          </a:solidFill>
          <a:ln w="12700">
            <a:solidFill>
              <a:srgbClr val="00D4FF"/>
            </a:solidFill>
            <a:prstDash val="solid"/>
          </a:ln>
        </p:spPr>
      </p:sp>
      <p:sp>
        <p:nvSpPr>
          <p:cNvPr id="6" name="Shape 4"/>
          <p:cNvSpPr/>
          <p:nvPr/>
        </p:nvSpPr>
        <p:spPr>
          <a:xfrm>
            <a:off x="411480" y="201168"/>
            <a:ext cx="1220724" cy="256032"/>
          </a:xfrm>
          <a:prstGeom prst="rect">
            <a:avLst/>
          </a:prstGeom>
          <a:solidFill>
            <a:srgbClr val="8B9BB4"/>
          </a:solidFill>
          <a:ln w="12700">
            <a:solidFill>
              <a:srgbClr val="8B9BB4"/>
            </a:solidFill>
            <a:prstDash val="solid"/>
          </a:ln>
        </p:spPr>
      </p:sp>
      <p:sp>
        <p:nvSpPr>
          <p:cNvPr id="7" name="Text 5"/>
          <p:cNvSpPr/>
          <p:nvPr/>
        </p:nvSpPr>
        <p:spPr>
          <a:xfrm>
            <a:off x="411480" y="201168"/>
            <a:ext cx="1220724" cy="256032"/>
          </a:xfrm>
          <a:prstGeom prst="rect">
            <a:avLst/>
          </a:prstGeom>
          <a:noFill/>
          <a:ln/>
        </p:spPr>
        <p:txBody>
          <a:bodyPr wrap="square" lIns="0" tIns="0" rIns="0" bIns="0" rtlCol="0" anchor="ctr"/>
          <a:lstStyle/>
          <a:p>
            <a:pPr algn="ctr" indent="0" marL="0">
              <a:buNone/>
            </a:pPr>
            <a:r>
              <a:rPr lang="en-US" sz="900" b="1" dirty="0">
                <a:solidFill>
                  <a:srgbClr val="0A0E1A"/>
                </a:solidFill>
                <a:latin typeface="Consolas" pitchFamily="34" charset="0"/>
                <a:ea typeface="Consolas" pitchFamily="34" charset="-122"/>
                <a:cs typeface="Consolas" pitchFamily="34" charset="-120"/>
              </a:rPr>
              <a:t>REFERENCE</a:t>
            </a:r>
            <a:endParaRPr lang="en-US" sz="900" dirty="0"/>
          </a:p>
        </p:txBody>
      </p:sp>
      <p:sp>
        <p:nvSpPr>
          <p:cNvPr id="8" name="Text 6"/>
          <p:cNvSpPr/>
          <p:nvPr/>
        </p:nvSpPr>
        <p:spPr>
          <a:xfrm>
            <a:off x="411480" y="530352"/>
            <a:ext cx="8321040" cy="594360"/>
          </a:xfrm>
          <a:prstGeom prst="rect">
            <a:avLst/>
          </a:prstGeom>
          <a:noFill/>
          <a:ln/>
        </p:spPr>
        <p:txBody>
          <a:bodyPr wrap="square" lIns="0" tIns="0" rIns="0" bIns="0" rtlCol="0" anchor="ctr"/>
          <a:lstStyle/>
          <a:p>
            <a:pPr algn="l" indent="0" marL="0">
              <a:buNone/>
            </a:pPr>
            <a:r>
              <a:rPr lang="en-US" sz="2800" b="1" dirty="0">
                <a:solidFill>
                  <a:srgbClr val="00FF88"/>
                </a:solidFill>
                <a:latin typeface="Consolas" pitchFamily="34" charset="0"/>
                <a:ea typeface="Consolas" pitchFamily="34" charset="-122"/>
                <a:cs typeface="Consolas" pitchFamily="34" charset="-120"/>
              </a:rPr>
              <a:t>Resources &amp; Further Learning</a:t>
            </a:r>
            <a:endParaRPr lang="en-US" sz="2800" dirty="0"/>
          </a:p>
        </p:txBody>
      </p:sp>
      <p:sp>
        <p:nvSpPr>
          <p:cNvPr id="9" name="Text 7"/>
          <p:cNvSpPr/>
          <p:nvPr/>
        </p:nvSpPr>
        <p:spPr>
          <a:xfrm>
            <a:off x="411480" y="1051560"/>
            <a:ext cx="8321040" cy="320040"/>
          </a:xfrm>
          <a:prstGeom prst="rect">
            <a:avLst/>
          </a:prstGeom>
          <a:noFill/>
          <a:ln/>
        </p:spPr>
        <p:txBody>
          <a:bodyPr wrap="square" lIns="0" tIns="0" rIns="0" bIns="0" rtlCol="0" anchor="ctr"/>
          <a:lstStyle/>
          <a:p>
            <a:pPr algn="l" indent="0" marL="0">
              <a:buNone/>
            </a:pPr>
            <a:r>
              <a:rPr lang="en-US" sz="1300" dirty="0">
                <a:solidFill>
                  <a:srgbClr val="8B9BB4"/>
                </a:solidFill>
                <a:latin typeface="Calibri" pitchFamily="34" charset="0"/>
                <a:ea typeface="Calibri" pitchFamily="34" charset="-122"/>
                <a:cs typeface="Calibri" pitchFamily="34" charset="-120"/>
              </a:rPr>
              <a:t>Curated list of free, high-quality resources to continue your journey.</a:t>
            </a:r>
            <a:endParaRPr lang="en-US" sz="1300" dirty="0"/>
          </a:p>
        </p:txBody>
      </p:sp>
      <p:sp>
        <p:nvSpPr>
          <p:cNvPr id="10" name="Text 8"/>
          <p:cNvSpPr/>
          <p:nvPr/>
        </p:nvSpPr>
        <p:spPr>
          <a:xfrm>
            <a:off x="8686800" y="4754880"/>
            <a:ext cx="365760" cy="228600"/>
          </a:xfrm>
          <a:prstGeom prst="rect">
            <a:avLst/>
          </a:prstGeom>
          <a:noFill/>
          <a:ln/>
        </p:spPr>
        <p:txBody>
          <a:bodyPr wrap="square" lIns="0" tIns="0" rIns="0" bIns="0" rtlCol="0" anchor="ctr"/>
          <a:lstStyle/>
          <a:p>
            <a:pPr algn="r" indent="0" marL="0">
              <a:buNone/>
            </a:pPr>
            <a:r>
              <a:rPr lang="en-US" sz="900" dirty="0">
                <a:solidFill>
                  <a:srgbClr val="8B9BB4"/>
                </a:solidFill>
                <a:latin typeface="Consolas" pitchFamily="34" charset="0"/>
                <a:ea typeface="Consolas" pitchFamily="34" charset="-122"/>
                <a:cs typeface="Consolas" pitchFamily="34" charset="-120"/>
              </a:rPr>
              <a:t>32</a:t>
            </a:r>
            <a:endParaRPr lang="en-US" sz="900" dirty="0"/>
          </a:p>
        </p:txBody>
      </p:sp>
      <p:sp>
        <p:nvSpPr>
          <p:cNvPr id="11" name="Shape 9"/>
          <p:cNvSpPr/>
          <p:nvPr/>
        </p:nvSpPr>
        <p:spPr>
          <a:xfrm>
            <a:off x="320040" y="1234440"/>
            <a:ext cx="4114800" cy="1188720"/>
          </a:xfrm>
          <a:prstGeom prst="rect">
            <a:avLst/>
          </a:prstGeom>
          <a:solidFill>
            <a:srgbClr val="111827"/>
          </a:solidFill>
          <a:ln w="12700">
            <a:solidFill>
              <a:srgbClr val="00D4FF"/>
            </a:solidFill>
            <a:prstDash val="solid"/>
          </a:ln>
        </p:spPr>
      </p:sp>
      <p:sp>
        <p:nvSpPr>
          <p:cNvPr id="12" name="Shape 10"/>
          <p:cNvSpPr/>
          <p:nvPr/>
        </p:nvSpPr>
        <p:spPr>
          <a:xfrm>
            <a:off x="320040" y="1234440"/>
            <a:ext cx="4114800" cy="320040"/>
          </a:xfrm>
          <a:prstGeom prst="rect">
            <a:avLst/>
          </a:prstGeom>
          <a:solidFill>
            <a:srgbClr val="00D4FF">
              <a:alpha val="20000"/>
            </a:srgbClr>
          </a:solidFill>
          <a:ln w="12700">
            <a:solidFill>
              <a:srgbClr val="00D4FF">
                <a:alpha val="20000"/>
              </a:srgbClr>
            </a:solidFill>
            <a:prstDash val="solid"/>
          </a:ln>
        </p:spPr>
      </p:sp>
      <p:sp>
        <p:nvSpPr>
          <p:cNvPr id="13" name="Text 11"/>
          <p:cNvSpPr/>
          <p:nvPr/>
        </p:nvSpPr>
        <p:spPr>
          <a:xfrm>
            <a:off x="429768" y="1271016"/>
            <a:ext cx="3840480" cy="246888"/>
          </a:xfrm>
          <a:prstGeom prst="rect">
            <a:avLst/>
          </a:prstGeom>
          <a:noFill/>
          <a:ln/>
        </p:spPr>
        <p:txBody>
          <a:bodyPr wrap="square" lIns="0" tIns="0" rIns="0" bIns="0" rtlCol="0" anchor="ctr"/>
          <a:lstStyle/>
          <a:p>
            <a:pPr indent="0" marL="0">
              <a:buNone/>
            </a:pPr>
            <a:r>
              <a:rPr lang="en-US" sz="1100" b="1" dirty="0">
                <a:solidFill>
                  <a:srgbClr val="00D4FF"/>
                </a:solidFill>
                <a:latin typeface="Consolas" pitchFamily="34" charset="0"/>
                <a:ea typeface="Consolas" pitchFamily="34" charset="-122"/>
                <a:cs typeface="Consolas" pitchFamily="34" charset="-120"/>
              </a:rPr>
              <a:t>Courses</a:t>
            </a:r>
            <a:endParaRPr lang="en-US" sz="1100" dirty="0"/>
          </a:p>
        </p:txBody>
      </p:sp>
      <p:sp>
        <p:nvSpPr>
          <p:cNvPr id="14" name="Text 12"/>
          <p:cNvSpPr/>
          <p:nvPr/>
        </p:nvSpPr>
        <p:spPr>
          <a:xfrm>
            <a:off x="429768" y="1618488"/>
            <a:ext cx="3840480" cy="749808"/>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 OpenSecurityTraining2 (ost2.fyi) — free x86/x64 RE courses</a:t>
            </a:r>
            <a:endParaRPr lang="en-US" sz="900" dirty="0"/>
          </a:p>
          <a:p>
            <a:pPr indent="0" marL="0">
              <a:buNone/>
            </a:pPr>
            <a:r>
              <a:rPr lang="en-US" sz="900" dirty="0">
                <a:solidFill>
                  <a:srgbClr val="E2E8F0"/>
                </a:solidFill>
                <a:latin typeface="Calibri" pitchFamily="34" charset="0"/>
                <a:ea typeface="Calibri" pitchFamily="34" charset="-122"/>
                <a:cs typeface="Calibri" pitchFamily="34" charset="-120"/>
              </a:rPr>
              <a:t>• Malware Unicorn workshops (malwareunicorn.org)</a:t>
            </a:r>
            <a:endParaRPr lang="en-US" sz="900" dirty="0"/>
          </a:p>
          <a:p>
            <a:pPr indent="0" marL="0">
              <a:buNone/>
            </a:pPr>
            <a:r>
              <a:rPr lang="en-US" sz="900" dirty="0">
                <a:solidFill>
                  <a:srgbClr val="E2E8F0"/>
                </a:solidFill>
                <a:latin typeface="Calibri" pitchFamily="34" charset="0"/>
                <a:ea typeface="Calibri" pitchFamily="34" charset="-122"/>
                <a:cs typeface="Calibri" pitchFamily="34" charset="-120"/>
              </a:rPr>
              <a:t>• SANS FOR610 — Reverse-Engineering Malware</a:t>
            </a:r>
            <a:endParaRPr lang="en-US" sz="900" dirty="0"/>
          </a:p>
        </p:txBody>
      </p:sp>
      <p:sp>
        <p:nvSpPr>
          <p:cNvPr id="15" name="Shape 13"/>
          <p:cNvSpPr/>
          <p:nvPr/>
        </p:nvSpPr>
        <p:spPr>
          <a:xfrm>
            <a:off x="4754880" y="1234440"/>
            <a:ext cx="4114800" cy="1188720"/>
          </a:xfrm>
          <a:prstGeom prst="rect">
            <a:avLst/>
          </a:prstGeom>
          <a:solidFill>
            <a:srgbClr val="111827"/>
          </a:solidFill>
          <a:ln w="12700">
            <a:solidFill>
              <a:srgbClr val="00FF88"/>
            </a:solidFill>
            <a:prstDash val="solid"/>
          </a:ln>
        </p:spPr>
      </p:sp>
      <p:sp>
        <p:nvSpPr>
          <p:cNvPr id="16" name="Shape 14"/>
          <p:cNvSpPr/>
          <p:nvPr/>
        </p:nvSpPr>
        <p:spPr>
          <a:xfrm>
            <a:off x="4754880" y="1234440"/>
            <a:ext cx="4114800" cy="320040"/>
          </a:xfrm>
          <a:prstGeom prst="rect">
            <a:avLst/>
          </a:prstGeom>
          <a:solidFill>
            <a:srgbClr val="00FF88">
              <a:alpha val="20000"/>
            </a:srgbClr>
          </a:solidFill>
          <a:ln w="12700">
            <a:solidFill>
              <a:srgbClr val="00FF88">
                <a:alpha val="20000"/>
              </a:srgbClr>
            </a:solidFill>
            <a:prstDash val="solid"/>
          </a:ln>
        </p:spPr>
      </p:sp>
      <p:sp>
        <p:nvSpPr>
          <p:cNvPr id="17" name="Text 15"/>
          <p:cNvSpPr/>
          <p:nvPr/>
        </p:nvSpPr>
        <p:spPr>
          <a:xfrm>
            <a:off x="4864608" y="1271016"/>
            <a:ext cx="3840480" cy="246888"/>
          </a:xfrm>
          <a:prstGeom prst="rect">
            <a:avLst/>
          </a:prstGeom>
          <a:noFill/>
          <a:ln/>
        </p:spPr>
        <p:txBody>
          <a:bodyPr wrap="square" lIns="0" tIns="0" rIns="0" bIns="0" rtlCol="0" anchor="ctr"/>
          <a:lstStyle/>
          <a:p>
            <a:pPr indent="0" marL="0">
              <a:buNone/>
            </a:pPr>
            <a:r>
              <a:rPr lang="en-US" sz="1100" b="1" dirty="0">
                <a:solidFill>
                  <a:srgbClr val="00FF88"/>
                </a:solidFill>
                <a:latin typeface="Consolas" pitchFamily="34" charset="0"/>
                <a:ea typeface="Consolas" pitchFamily="34" charset="-122"/>
                <a:cs typeface="Consolas" pitchFamily="34" charset="-120"/>
              </a:rPr>
              <a:t>Practice</a:t>
            </a:r>
            <a:endParaRPr lang="en-US" sz="1100" dirty="0"/>
          </a:p>
        </p:txBody>
      </p:sp>
      <p:sp>
        <p:nvSpPr>
          <p:cNvPr id="18" name="Text 16"/>
          <p:cNvSpPr/>
          <p:nvPr/>
        </p:nvSpPr>
        <p:spPr>
          <a:xfrm>
            <a:off x="4864608" y="1618488"/>
            <a:ext cx="3840480" cy="749808"/>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 crackmes.one — graded RE challenges</a:t>
            </a:r>
            <a:endParaRPr lang="en-US" sz="900" dirty="0"/>
          </a:p>
          <a:p>
            <a:pPr indent="0" marL="0">
              <a:buNone/>
            </a:pPr>
            <a:r>
              <a:rPr lang="en-US" sz="900" dirty="0">
                <a:solidFill>
                  <a:srgbClr val="E2E8F0"/>
                </a:solidFill>
                <a:latin typeface="Calibri" pitchFamily="34" charset="0"/>
                <a:ea typeface="Calibri" pitchFamily="34" charset="-122"/>
                <a:cs typeface="Calibri" pitchFamily="34" charset="-120"/>
              </a:rPr>
              <a:t>• Hack The Box — Reversing track</a:t>
            </a:r>
            <a:endParaRPr lang="en-US" sz="900" dirty="0"/>
          </a:p>
          <a:p>
            <a:pPr indent="0" marL="0">
              <a:buNone/>
            </a:pPr>
            <a:r>
              <a:rPr lang="en-US" sz="900" dirty="0">
                <a:solidFill>
                  <a:srgbClr val="E2E8F0"/>
                </a:solidFill>
                <a:latin typeface="Calibri" pitchFamily="34" charset="0"/>
                <a:ea typeface="Calibri" pitchFamily="34" charset="-122"/>
                <a:cs typeface="Calibri" pitchFamily="34" charset="-120"/>
              </a:rPr>
              <a:t>• picoCTF / ångstromCTF — RE categories</a:t>
            </a:r>
            <a:endParaRPr lang="en-US" sz="900" dirty="0"/>
          </a:p>
        </p:txBody>
      </p:sp>
      <p:sp>
        <p:nvSpPr>
          <p:cNvPr id="19" name="Shape 17"/>
          <p:cNvSpPr/>
          <p:nvPr/>
        </p:nvSpPr>
        <p:spPr>
          <a:xfrm>
            <a:off x="320040" y="2532888"/>
            <a:ext cx="4114800" cy="1188720"/>
          </a:xfrm>
          <a:prstGeom prst="rect">
            <a:avLst/>
          </a:prstGeom>
          <a:solidFill>
            <a:srgbClr val="111827"/>
          </a:solidFill>
          <a:ln w="12700">
            <a:solidFill>
              <a:srgbClr val="FF6B35"/>
            </a:solidFill>
            <a:prstDash val="solid"/>
          </a:ln>
        </p:spPr>
      </p:sp>
      <p:sp>
        <p:nvSpPr>
          <p:cNvPr id="20" name="Shape 18"/>
          <p:cNvSpPr/>
          <p:nvPr/>
        </p:nvSpPr>
        <p:spPr>
          <a:xfrm>
            <a:off x="320040" y="2532888"/>
            <a:ext cx="4114800" cy="320040"/>
          </a:xfrm>
          <a:prstGeom prst="rect">
            <a:avLst/>
          </a:prstGeom>
          <a:solidFill>
            <a:srgbClr val="FF6B35">
              <a:alpha val="20000"/>
            </a:srgbClr>
          </a:solidFill>
          <a:ln w="12700">
            <a:solidFill>
              <a:srgbClr val="FF6B35">
                <a:alpha val="20000"/>
              </a:srgbClr>
            </a:solidFill>
            <a:prstDash val="solid"/>
          </a:ln>
        </p:spPr>
      </p:sp>
      <p:sp>
        <p:nvSpPr>
          <p:cNvPr id="21" name="Text 19"/>
          <p:cNvSpPr/>
          <p:nvPr/>
        </p:nvSpPr>
        <p:spPr>
          <a:xfrm>
            <a:off x="429768" y="2569464"/>
            <a:ext cx="3840480" cy="246888"/>
          </a:xfrm>
          <a:prstGeom prst="rect">
            <a:avLst/>
          </a:prstGeom>
          <a:noFill/>
          <a:ln/>
        </p:spPr>
        <p:txBody>
          <a:bodyPr wrap="square" lIns="0" tIns="0" rIns="0" bIns="0" rtlCol="0" anchor="ctr"/>
          <a:lstStyle/>
          <a:p>
            <a:pPr indent="0" marL="0">
              <a:buNone/>
            </a:pPr>
            <a:r>
              <a:rPr lang="en-US" sz="1100" b="1" dirty="0">
                <a:solidFill>
                  <a:srgbClr val="FF6B35"/>
                </a:solidFill>
                <a:latin typeface="Consolas" pitchFamily="34" charset="0"/>
                <a:ea typeface="Consolas" pitchFamily="34" charset="-122"/>
                <a:cs typeface="Consolas" pitchFamily="34" charset="-120"/>
              </a:rPr>
              <a:t>Books</a:t>
            </a:r>
            <a:endParaRPr lang="en-US" sz="1100" dirty="0"/>
          </a:p>
        </p:txBody>
      </p:sp>
      <p:sp>
        <p:nvSpPr>
          <p:cNvPr id="22" name="Text 20"/>
          <p:cNvSpPr/>
          <p:nvPr/>
        </p:nvSpPr>
        <p:spPr>
          <a:xfrm>
            <a:off x="429768" y="2916936"/>
            <a:ext cx="3840480" cy="749808"/>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 'Hacking: The Art of Exploitation' — J. Erickson</a:t>
            </a:r>
            <a:endParaRPr lang="en-US" sz="900" dirty="0"/>
          </a:p>
          <a:p>
            <a:pPr indent="0" marL="0">
              <a:buNone/>
            </a:pPr>
            <a:r>
              <a:rPr lang="en-US" sz="900" dirty="0">
                <a:solidFill>
                  <a:srgbClr val="E2E8F0"/>
                </a:solidFill>
                <a:latin typeface="Calibri" pitchFamily="34" charset="0"/>
                <a:ea typeface="Calibri" pitchFamily="34" charset="-122"/>
                <a:cs typeface="Calibri" pitchFamily="34" charset="-120"/>
              </a:rPr>
              <a:t>• 'Practical Malware Analysis' — Sikorski &amp; Honig</a:t>
            </a:r>
            <a:endParaRPr lang="en-US" sz="900" dirty="0"/>
          </a:p>
          <a:p>
            <a:pPr indent="0" marL="0">
              <a:buNone/>
            </a:pPr>
            <a:r>
              <a:rPr lang="en-US" sz="900" dirty="0">
                <a:solidFill>
                  <a:srgbClr val="E2E8F0"/>
                </a:solidFill>
                <a:latin typeface="Calibri" pitchFamily="34" charset="0"/>
                <a:ea typeface="Calibri" pitchFamily="34" charset="-122"/>
                <a:cs typeface="Calibri" pitchFamily="34" charset="-120"/>
              </a:rPr>
              <a:t>• 'The IDA Pro Book' — Chris Eagle</a:t>
            </a:r>
            <a:endParaRPr lang="en-US" sz="900" dirty="0"/>
          </a:p>
        </p:txBody>
      </p:sp>
      <p:sp>
        <p:nvSpPr>
          <p:cNvPr id="23" name="Shape 21"/>
          <p:cNvSpPr/>
          <p:nvPr/>
        </p:nvSpPr>
        <p:spPr>
          <a:xfrm>
            <a:off x="4754880" y="2532888"/>
            <a:ext cx="4114800" cy="1188720"/>
          </a:xfrm>
          <a:prstGeom prst="rect">
            <a:avLst/>
          </a:prstGeom>
          <a:solidFill>
            <a:srgbClr val="111827"/>
          </a:solidFill>
          <a:ln w="12700">
            <a:solidFill>
              <a:srgbClr val="A855F7"/>
            </a:solidFill>
            <a:prstDash val="solid"/>
          </a:ln>
        </p:spPr>
      </p:sp>
      <p:sp>
        <p:nvSpPr>
          <p:cNvPr id="24" name="Shape 22"/>
          <p:cNvSpPr/>
          <p:nvPr/>
        </p:nvSpPr>
        <p:spPr>
          <a:xfrm>
            <a:off x="4754880" y="2532888"/>
            <a:ext cx="4114800" cy="320040"/>
          </a:xfrm>
          <a:prstGeom prst="rect">
            <a:avLst/>
          </a:prstGeom>
          <a:solidFill>
            <a:srgbClr val="A855F7">
              <a:alpha val="20000"/>
            </a:srgbClr>
          </a:solidFill>
          <a:ln w="12700">
            <a:solidFill>
              <a:srgbClr val="A855F7">
                <a:alpha val="20000"/>
              </a:srgbClr>
            </a:solidFill>
            <a:prstDash val="solid"/>
          </a:ln>
        </p:spPr>
      </p:sp>
      <p:sp>
        <p:nvSpPr>
          <p:cNvPr id="25" name="Text 23"/>
          <p:cNvSpPr/>
          <p:nvPr/>
        </p:nvSpPr>
        <p:spPr>
          <a:xfrm>
            <a:off x="4864608" y="2569464"/>
            <a:ext cx="3840480" cy="246888"/>
          </a:xfrm>
          <a:prstGeom prst="rect">
            <a:avLst/>
          </a:prstGeom>
          <a:noFill/>
          <a:ln/>
        </p:spPr>
        <p:txBody>
          <a:bodyPr wrap="square" lIns="0" tIns="0" rIns="0" bIns="0" rtlCol="0" anchor="ctr"/>
          <a:lstStyle/>
          <a:p>
            <a:pPr indent="0" marL="0">
              <a:buNone/>
            </a:pPr>
            <a:r>
              <a:rPr lang="en-US" sz="1100" b="1" dirty="0">
                <a:solidFill>
                  <a:srgbClr val="A855F7"/>
                </a:solidFill>
                <a:latin typeface="Consolas" pitchFamily="34" charset="0"/>
                <a:ea typeface="Consolas" pitchFamily="34" charset="-122"/>
                <a:cs typeface="Consolas" pitchFamily="34" charset="-120"/>
              </a:rPr>
              <a:t>Communities</a:t>
            </a:r>
            <a:endParaRPr lang="en-US" sz="1100" dirty="0"/>
          </a:p>
        </p:txBody>
      </p:sp>
      <p:sp>
        <p:nvSpPr>
          <p:cNvPr id="26" name="Text 24"/>
          <p:cNvSpPr/>
          <p:nvPr/>
        </p:nvSpPr>
        <p:spPr>
          <a:xfrm>
            <a:off x="4864608" y="2916936"/>
            <a:ext cx="3840480" cy="749808"/>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 r/ReverseEngineering (Reddit)</a:t>
            </a:r>
            <a:endParaRPr lang="en-US" sz="900" dirty="0"/>
          </a:p>
          <a:p>
            <a:pPr indent="0" marL="0">
              <a:buNone/>
            </a:pPr>
            <a:r>
              <a:rPr lang="en-US" sz="900" dirty="0">
                <a:solidFill>
                  <a:srgbClr val="E2E8F0"/>
                </a:solidFill>
                <a:latin typeface="Calibri" pitchFamily="34" charset="0"/>
                <a:ea typeface="Calibri" pitchFamily="34" charset="-122"/>
                <a:cs typeface="Calibri" pitchFamily="34" charset="-120"/>
              </a:rPr>
              <a:t>• OpenRCE forum</a:t>
            </a:r>
            <a:endParaRPr lang="en-US" sz="900" dirty="0"/>
          </a:p>
          <a:p>
            <a:pPr indent="0" marL="0">
              <a:buNone/>
            </a:pPr>
            <a:r>
              <a:rPr lang="en-US" sz="900" dirty="0">
                <a:solidFill>
                  <a:srgbClr val="E2E8F0"/>
                </a:solidFill>
                <a:latin typeface="Calibri" pitchFamily="34" charset="0"/>
                <a:ea typeface="Calibri" pitchFamily="34" charset="-122"/>
                <a:cs typeface="Calibri" pitchFamily="34" charset="-120"/>
              </a:rPr>
              <a:t>• Malware Analysis Slack / Discord servers</a:t>
            </a:r>
            <a:endParaRPr lang="en-US" sz="900" dirty="0"/>
          </a:p>
        </p:txBody>
      </p:sp>
      <p:sp>
        <p:nvSpPr>
          <p:cNvPr id="27" name="Shape 25"/>
          <p:cNvSpPr/>
          <p:nvPr/>
        </p:nvSpPr>
        <p:spPr>
          <a:xfrm>
            <a:off x="320040" y="3831336"/>
            <a:ext cx="4114800" cy="1188720"/>
          </a:xfrm>
          <a:prstGeom prst="rect">
            <a:avLst/>
          </a:prstGeom>
          <a:solidFill>
            <a:srgbClr val="111827"/>
          </a:solidFill>
          <a:ln w="12700">
            <a:solidFill>
              <a:srgbClr val="FFD700"/>
            </a:solidFill>
            <a:prstDash val="solid"/>
          </a:ln>
        </p:spPr>
      </p:sp>
      <p:sp>
        <p:nvSpPr>
          <p:cNvPr id="28" name="Shape 26"/>
          <p:cNvSpPr/>
          <p:nvPr/>
        </p:nvSpPr>
        <p:spPr>
          <a:xfrm>
            <a:off x="320040" y="3831336"/>
            <a:ext cx="4114800" cy="320040"/>
          </a:xfrm>
          <a:prstGeom prst="rect">
            <a:avLst/>
          </a:prstGeom>
          <a:solidFill>
            <a:srgbClr val="FFD700">
              <a:alpha val="20000"/>
            </a:srgbClr>
          </a:solidFill>
          <a:ln w="12700">
            <a:solidFill>
              <a:srgbClr val="FFD700">
                <a:alpha val="20000"/>
              </a:srgbClr>
            </a:solidFill>
            <a:prstDash val="solid"/>
          </a:ln>
        </p:spPr>
      </p:sp>
      <p:sp>
        <p:nvSpPr>
          <p:cNvPr id="29" name="Text 27"/>
          <p:cNvSpPr/>
          <p:nvPr/>
        </p:nvSpPr>
        <p:spPr>
          <a:xfrm>
            <a:off x="429768" y="3867912"/>
            <a:ext cx="3840480" cy="246888"/>
          </a:xfrm>
          <a:prstGeom prst="rect">
            <a:avLst/>
          </a:prstGeom>
          <a:noFill/>
          <a:ln/>
        </p:spPr>
        <p:txBody>
          <a:bodyPr wrap="square" lIns="0" tIns="0" rIns="0" bIns="0" rtlCol="0" anchor="ctr"/>
          <a:lstStyle/>
          <a:p>
            <a:pPr indent="0" marL="0">
              <a:buNone/>
            </a:pPr>
            <a:r>
              <a:rPr lang="en-US" sz="1100" b="1" dirty="0">
                <a:solidFill>
                  <a:srgbClr val="FFD700"/>
                </a:solidFill>
                <a:latin typeface="Consolas" pitchFamily="34" charset="0"/>
                <a:ea typeface="Consolas" pitchFamily="34" charset="-122"/>
                <a:cs typeface="Consolas" pitchFamily="34" charset="-120"/>
              </a:rPr>
              <a:t>Tools</a:t>
            </a:r>
            <a:endParaRPr lang="en-US" sz="1100" dirty="0"/>
          </a:p>
        </p:txBody>
      </p:sp>
      <p:sp>
        <p:nvSpPr>
          <p:cNvPr id="30" name="Text 28"/>
          <p:cNvSpPr/>
          <p:nvPr/>
        </p:nvSpPr>
        <p:spPr>
          <a:xfrm>
            <a:off x="429768" y="4215384"/>
            <a:ext cx="3840480" cy="749808"/>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 Ghidra (ghidra-sre.org) — free NSA tool</a:t>
            </a:r>
            <a:endParaRPr lang="en-US" sz="900" dirty="0"/>
          </a:p>
          <a:p>
            <a:pPr indent="0" marL="0">
              <a:buNone/>
            </a:pPr>
            <a:r>
              <a:rPr lang="en-US" sz="900" dirty="0">
                <a:solidFill>
                  <a:srgbClr val="E2E8F0"/>
                </a:solidFill>
                <a:latin typeface="Calibri" pitchFamily="34" charset="0"/>
                <a:ea typeface="Calibri" pitchFamily="34" charset="-122"/>
                <a:cs typeface="Calibri" pitchFamily="34" charset="-120"/>
              </a:rPr>
              <a:t>• x64dbg (x64dbg.com) — free debugger</a:t>
            </a:r>
            <a:endParaRPr lang="en-US" sz="900" dirty="0"/>
          </a:p>
          <a:p>
            <a:pPr indent="0" marL="0">
              <a:buNone/>
            </a:pPr>
            <a:r>
              <a:rPr lang="en-US" sz="900" dirty="0">
                <a:solidFill>
                  <a:srgbClr val="E2E8F0"/>
                </a:solidFill>
                <a:latin typeface="Calibri" pitchFamily="34" charset="0"/>
                <a:ea typeface="Calibri" pitchFamily="34" charset="-122"/>
                <a:cs typeface="Calibri" pitchFamily="34" charset="-120"/>
              </a:rPr>
              <a:t>• ANY.RUN (any.run) — online sandbox</a:t>
            </a:r>
            <a:endParaRPr lang="en-US" sz="900" dirty="0"/>
          </a:p>
        </p:txBody>
      </p:sp>
      <p:sp>
        <p:nvSpPr>
          <p:cNvPr id="31" name="Shape 29"/>
          <p:cNvSpPr/>
          <p:nvPr/>
        </p:nvSpPr>
        <p:spPr>
          <a:xfrm>
            <a:off x="4754880" y="3831336"/>
            <a:ext cx="4114800" cy="1188720"/>
          </a:xfrm>
          <a:prstGeom prst="rect">
            <a:avLst/>
          </a:prstGeom>
          <a:solidFill>
            <a:srgbClr val="111827"/>
          </a:solidFill>
          <a:ln w="12700">
            <a:solidFill>
              <a:srgbClr val="FF3355"/>
            </a:solidFill>
            <a:prstDash val="solid"/>
          </a:ln>
        </p:spPr>
      </p:sp>
      <p:sp>
        <p:nvSpPr>
          <p:cNvPr id="32" name="Shape 30"/>
          <p:cNvSpPr/>
          <p:nvPr/>
        </p:nvSpPr>
        <p:spPr>
          <a:xfrm>
            <a:off x="4754880" y="3831336"/>
            <a:ext cx="4114800" cy="320040"/>
          </a:xfrm>
          <a:prstGeom prst="rect">
            <a:avLst/>
          </a:prstGeom>
          <a:solidFill>
            <a:srgbClr val="FF3355">
              <a:alpha val="20000"/>
            </a:srgbClr>
          </a:solidFill>
          <a:ln w="12700">
            <a:solidFill>
              <a:srgbClr val="FF3355">
                <a:alpha val="20000"/>
              </a:srgbClr>
            </a:solidFill>
            <a:prstDash val="solid"/>
          </a:ln>
        </p:spPr>
      </p:sp>
      <p:sp>
        <p:nvSpPr>
          <p:cNvPr id="33" name="Text 31"/>
          <p:cNvSpPr/>
          <p:nvPr/>
        </p:nvSpPr>
        <p:spPr>
          <a:xfrm>
            <a:off x="4864608" y="3867912"/>
            <a:ext cx="3840480" cy="246888"/>
          </a:xfrm>
          <a:prstGeom prst="rect">
            <a:avLst/>
          </a:prstGeom>
          <a:noFill/>
          <a:ln/>
        </p:spPr>
        <p:txBody>
          <a:bodyPr wrap="square" lIns="0" tIns="0" rIns="0" bIns="0" rtlCol="0" anchor="ctr"/>
          <a:lstStyle/>
          <a:p>
            <a:pPr indent="0" marL="0">
              <a:buNone/>
            </a:pPr>
            <a:r>
              <a:rPr lang="en-US" sz="1100" b="1" dirty="0">
                <a:solidFill>
                  <a:srgbClr val="FF3355"/>
                </a:solidFill>
                <a:latin typeface="Consolas" pitchFamily="34" charset="0"/>
                <a:ea typeface="Consolas" pitchFamily="34" charset="-122"/>
                <a:cs typeface="Consolas" pitchFamily="34" charset="-120"/>
              </a:rPr>
              <a:t>Malware Repos</a:t>
            </a:r>
            <a:endParaRPr lang="en-US" sz="1100" dirty="0"/>
          </a:p>
        </p:txBody>
      </p:sp>
      <p:sp>
        <p:nvSpPr>
          <p:cNvPr id="34" name="Text 32"/>
          <p:cNvSpPr/>
          <p:nvPr/>
        </p:nvSpPr>
        <p:spPr>
          <a:xfrm>
            <a:off x="4864608" y="4215384"/>
            <a:ext cx="3840480" cy="749808"/>
          </a:xfrm>
          <a:prstGeom prst="rect">
            <a:avLst/>
          </a:prstGeom>
          <a:noFill/>
          <a:ln/>
        </p:spPr>
        <p:txBody>
          <a:bodyPr wrap="square" lIns="0" tIns="0" rIns="0" bIns="0" rtlCol="0" anchor="t"/>
          <a:lstStyle/>
          <a:p>
            <a:pPr indent="0" marL="0">
              <a:buNone/>
            </a:pPr>
            <a:r>
              <a:rPr lang="en-US" sz="900" dirty="0">
                <a:solidFill>
                  <a:srgbClr val="E2E8F0"/>
                </a:solidFill>
                <a:latin typeface="Calibri" pitchFamily="34" charset="0"/>
                <a:ea typeface="Calibri" pitchFamily="34" charset="-122"/>
                <a:cs typeface="Calibri" pitchFamily="34" charset="-120"/>
              </a:rPr>
              <a:t>• MalwareBazaar (bazaar.abuse.ch)</a:t>
            </a:r>
            <a:endParaRPr lang="en-US" sz="900" dirty="0"/>
          </a:p>
          <a:p>
            <a:pPr indent="0" marL="0">
              <a:buNone/>
            </a:pPr>
            <a:r>
              <a:rPr lang="en-US" sz="900" dirty="0">
                <a:solidFill>
                  <a:srgbClr val="E2E8F0"/>
                </a:solidFill>
                <a:latin typeface="Calibri" pitchFamily="34" charset="0"/>
                <a:ea typeface="Calibri" pitchFamily="34" charset="-122"/>
                <a:cs typeface="Calibri" pitchFamily="34" charset="-120"/>
              </a:rPr>
              <a:t>• VirusTotal (virustotal.com)</a:t>
            </a:r>
            <a:endParaRPr lang="en-US" sz="900" dirty="0"/>
          </a:p>
          <a:p>
            <a:pPr indent="0" marL="0">
              <a:buNone/>
            </a:pPr>
            <a:r>
              <a:rPr lang="en-US" sz="900" dirty="0">
                <a:solidFill>
                  <a:srgbClr val="E2E8F0"/>
                </a:solidFill>
                <a:latin typeface="Calibri" pitchFamily="34" charset="0"/>
                <a:ea typeface="Calibri" pitchFamily="34" charset="-122"/>
                <a:cs typeface="Calibri" pitchFamily="34" charset="-120"/>
              </a:rPr>
              <a:t>• theZoo GitHub repo</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9144000" cy="9144"/>
          </a:xfrm>
          <a:prstGeom prst="rect">
            <a:avLst/>
          </a:prstGeom>
          <a:solidFill>
            <a:srgbClr val="1A2940">
              <a:alpha val="30000"/>
            </a:srgbClr>
          </a:solidFill>
          <a:ln w="12700">
            <a:solidFill>
              <a:srgbClr val="1A2940">
                <a:alpha val="30000"/>
              </a:srgbClr>
            </a:solidFill>
            <a:prstDash val="solid"/>
          </a:ln>
        </p:spPr>
      </p:sp>
      <p:sp>
        <p:nvSpPr>
          <p:cNvPr id="3" name="Shape 1"/>
          <p:cNvSpPr/>
          <p:nvPr/>
        </p:nvSpPr>
        <p:spPr>
          <a:xfrm>
            <a:off x="0" y="429768"/>
            <a:ext cx="9144000" cy="9144"/>
          </a:xfrm>
          <a:prstGeom prst="rect">
            <a:avLst/>
          </a:prstGeom>
          <a:solidFill>
            <a:srgbClr val="1A2940">
              <a:alpha val="30000"/>
            </a:srgbClr>
          </a:solidFill>
          <a:ln w="12700">
            <a:solidFill>
              <a:srgbClr val="1A2940">
                <a:alpha val="30000"/>
              </a:srgbClr>
            </a:solidFill>
            <a:prstDash val="solid"/>
          </a:ln>
        </p:spPr>
      </p:sp>
      <p:sp>
        <p:nvSpPr>
          <p:cNvPr id="4" name="Shape 2"/>
          <p:cNvSpPr/>
          <p:nvPr/>
        </p:nvSpPr>
        <p:spPr>
          <a:xfrm>
            <a:off x="0" y="859536"/>
            <a:ext cx="9144000" cy="9144"/>
          </a:xfrm>
          <a:prstGeom prst="rect">
            <a:avLst/>
          </a:prstGeom>
          <a:solidFill>
            <a:srgbClr val="1A2940">
              <a:alpha val="30000"/>
            </a:srgbClr>
          </a:solidFill>
          <a:ln w="12700">
            <a:solidFill>
              <a:srgbClr val="1A2940">
                <a:alpha val="30000"/>
              </a:srgbClr>
            </a:solidFill>
            <a:prstDash val="solid"/>
          </a:ln>
        </p:spPr>
      </p:sp>
      <p:sp>
        <p:nvSpPr>
          <p:cNvPr id="5" name="Shape 3"/>
          <p:cNvSpPr/>
          <p:nvPr/>
        </p:nvSpPr>
        <p:spPr>
          <a:xfrm>
            <a:off x="0" y="1289304"/>
            <a:ext cx="9144000" cy="9144"/>
          </a:xfrm>
          <a:prstGeom prst="rect">
            <a:avLst/>
          </a:prstGeom>
          <a:solidFill>
            <a:srgbClr val="1A2940">
              <a:alpha val="30000"/>
            </a:srgbClr>
          </a:solidFill>
          <a:ln w="12700">
            <a:solidFill>
              <a:srgbClr val="1A2940">
                <a:alpha val="30000"/>
              </a:srgbClr>
            </a:solidFill>
            <a:prstDash val="solid"/>
          </a:ln>
        </p:spPr>
      </p:sp>
      <p:sp>
        <p:nvSpPr>
          <p:cNvPr id="6" name="Shape 4"/>
          <p:cNvSpPr/>
          <p:nvPr/>
        </p:nvSpPr>
        <p:spPr>
          <a:xfrm>
            <a:off x="0" y="1719072"/>
            <a:ext cx="9144000" cy="9144"/>
          </a:xfrm>
          <a:prstGeom prst="rect">
            <a:avLst/>
          </a:prstGeom>
          <a:solidFill>
            <a:srgbClr val="1A2940">
              <a:alpha val="30000"/>
            </a:srgbClr>
          </a:solidFill>
          <a:ln w="12700">
            <a:solidFill>
              <a:srgbClr val="1A2940">
                <a:alpha val="30000"/>
              </a:srgbClr>
            </a:solidFill>
            <a:prstDash val="solid"/>
          </a:ln>
        </p:spPr>
      </p:sp>
      <p:sp>
        <p:nvSpPr>
          <p:cNvPr id="7" name="Shape 5"/>
          <p:cNvSpPr/>
          <p:nvPr/>
        </p:nvSpPr>
        <p:spPr>
          <a:xfrm>
            <a:off x="0" y="2148840"/>
            <a:ext cx="9144000" cy="9144"/>
          </a:xfrm>
          <a:prstGeom prst="rect">
            <a:avLst/>
          </a:prstGeom>
          <a:solidFill>
            <a:srgbClr val="1A2940">
              <a:alpha val="30000"/>
            </a:srgbClr>
          </a:solidFill>
          <a:ln w="12700">
            <a:solidFill>
              <a:srgbClr val="1A2940">
                <a:alpha val="30000"/>
              </a:srgbClr>
            </a:solidFill>
            <a:prstDash val="solid"/>
          </a:ln>
        </p:spPr>
      </p:sp>
      <p:sp>
        <p:nvSpPr>
          <p:cNvPr id="8" name="Shape 6"/>
          <p:cNvSpPr/>
          <p:nvPr/>
        </p:nvSpPr>
        <p:spPr>
          <a:xfrm>
            <a:off x="0" y="2578608"/>
            <a:ext cx="9144000" cy="9144"/>
          </a:xfrm>
          <a:prstGeom prst="rect">
            <a:avLst/>
          </a:prstGeom>
          <a:solidFill>
            <a:srgbClr val="1A2940">
              <a:alpha val="30000"/>
            </a:srgbClr>
          </a:solidFill>
          <a:ln w="12700">
            <a:solidFill>
              <a:srgbClr val="1A2940">
                <a:alpha val="30000"/>
              </a:srgbClr>
            </a:solidFill>
            <a:prstDash val="solid"/>
          </a:ln>
        </p:spPr>
      </p:sp>
      <p:sp>
        <p:nvSpPr>
          <p:cNvPr id="9" name="Shape 7"/>
          <p:cNvSpPr/>
          <p:nvPr/>
        </p:nvSpPr>
        <p:spPr>
          <a:xfrm>
            <a:off x="0" y="3008376"/>
            <a:ext cx="9144000" cy="9144"/>
          </a:xfrm>
          <a:prstGeom prst="rect">
            <a:avLst/>
          </a:prstGeom>
          <a:solidFill>
            <a:srgbClr val="1A2940">
              <a:alpha val="30000"/>
            </a:srgbClr>
          </a:solidFill>
          <a:ln w="12700">
            <a:solidFill>
              <a:srgbClr val="1A2940">
                <a:alpha val="30000"/>
              </a:srgbClr>
            </a:solidFill>
            <a:prstDash val="solid"/>
          </a:ln>
        </p:spPr>
      </p:sp>
      <p:sp>
        <p:nvSpPr>
          <p:cNvPr id="10" name="Shape 8"/>
          <p:cNvSpPr/>
          <p:nvPr/>
        </p:nvSpPr>
        <p:spPr>
          <a:xfrm>
            <a:off x="0" y="3438144"/>
            <a:ext cx="9144000" cy="9144"/>
          </a:xfrm>
          <a:prstGeom prst="rect">
            <a:avLst/>
          </a:prstGeom>
          <a:solidFill>
            <a:srgbClr val="1A2940">
              <a:alpha val="30000"/>
            </a:srgbClr>
          </a:solidFill>
          <a:ln w="12700">
            <a:solidFill>
              <a:srgbClr val="1A2940">
                <a:alpha val="30000"/>
              </a:srgbClr>
            </a:solidFill>
            <a:prstDash val="solid"/>
          </a:ln>
        </p:spPr>
      </p:sp>
      <p:sp>
        <p:nvSpPr>
          <p:cNvPr id="11" name="Shape 9"/>
          <p:cNvSpPr/>
          <p:nvPr/>
        </p:nvSpPr>
        <p:spPr>
          <a:xfrm>
            <a:off x="0" y="3867912"/>
            <a:ext cx="9144000" cy="9144"/>
          </a:xfrm>
          <a:prstGeom prst="rect">
            <a:avLst/>
          </a:prstGeom>
          <a:solidFill>
            <a:srgbClr val="1A2940">
              <a:alpha val="30000"/>
            </a:srgbClr>
          </a:solidFill>
          <a:ln w="12700">
            <a:solidFill>
              <a:srgbClr val="1A2940">
                <a:alpha val="30000"/>
              </a:srgbClr>
            </a:solidFill>
            <a:prstDash val="solid"/>
          </a:ln>
        </p:spPr>
      </p:sp>
      <p:sp>
        <p:nvSpPr>
          <p:cNvPr id="12" name="Shape 10"/>
          <p:cNvSpPr/>
          <p:nvPr/>
        </p:nvSpPr>
        <p:spPr>
          <a:xfrm>
            <a:off x="0" y="4297680"/>
            <a:ext cx="9144000" cy="9144"/>
          </a:xfrm>
          <a:prstGeom prst="rect">
            <a:avLst/>
          </a:prstGeom>
          <a:solidFill>
            <a:srgbClr val="1A2940">
              <a:alpha val="30000"/>
            </a:srgbClr>
          </a:solidFill>
          <a:ln w="12700">
            <a:solidFill>
              <a:srgbClr val="1A2940">
                <a:alpha val="30000"/>
              </a:srgbClr>
            </a:solidFill>
            <a:prstDash val="solid"/>
          </a:ln>
        </p:spPr>
      </p:sp>
      <p:sp>
        <p:nvSpPr>
          <p:cNvPr id="13" name="Shape 11"/>
          <p:cNvSpPr/>
          <p:nvPr/>
        </p:nvSpPr>
        <p:spPr>
          <a:xfrm>
            <a:off x="0" y="4727448"/>
            <a:ext cx="9144000" cy="9144"/>
          </a:xfrm>
          <a:prstGeom prst="rect">
            <a:avLst/>
          </a:prstGeom>
          <a:solidFill>
            <a:srgbClr val="1A2940">
              <a:alpha val="30000"/>
            </a:srgbClr>
          </a:solidFill>
          <a:ln w="12700">
            <a:solidFill>
              <a:srgbClr val="1A2940">
                <a:alpha val="30000"/>
              </a:srgbClr>
            </a:solidFill>
            <a:prstDash val="solid"/>
          </a:ln>
        </p:spPr>
      </p:sp>
      <p:sp>
        <p:nvSpPr>
          <p:cNvPr id="14" name="Shape 12"/>
          <p:cNvSpPr/>
          <p:nvPr/>
        </p:nvSpPr>
        <p:spPr>
          <a:xfrm>
            <a:off x="0" y="0"/>
            <a:ext cx="9144000" cy="64008"/>
          </a:xfrm>
          <a:prstGeom prst="rect">
            <a:avLst/>
          </a:prstGeom>
          <a:solidFill>
            <a:srgbClr val="00FF88"/>
          </a:solidFill>
          <a:ln w="12700">
            <a:solidFill>
              <a:srgbClr val="00FF88"/>
            </a:solidFill>
            <a:prstDash val="solid"/>
          </a:ln>
        </p:spPr>
      </p:sp>
      <p:sp>
        <p:nvSpPr>
          <p:cNvPr id="15" name="Shape 13"/>
          <p:cNvSpPr/>
          <p:nvPr/>
        </p:nvSpPr>
        <p:spPr>
          <a:xfrm>
            <a:off x="0" y="64008"/>
            <a:ext cx="3474720" cy="5079492"/>
          </a:xfrm>
          <a:prstGeom prst="rect">
            <a:avLst/>
          </a:prstGeom>
          <a:solidFill>
            <a:srgbClr val="111827"/>
          </a:solidFill>
          <a:ln w="12700">
            <a:solidFill>
              <a:srgbClr val="111827"/>
            </a:solidFill>
            <a:prstDash val="solid"/>
          </a:ln>
        </p:spPr>
      </p:sp>
      <p:sp>
        <p:nvSpPr>
          <p:cNvPr id="16" name="Shape 14"/>
          <p:cNvSpPr/>
          <p:nvPr/>
        </p:nvSpPr>
        <p:spPr>
          <a:xfrm>
            <a:off x="3438144" y="64008"/>
            <a:ext cx="36576" cy="5079492"/>
          </a:xfrm>
          <a:prstGeom prst="rect">
            <a:avLst/>
          </a:prstGeom>
          <a:solidFill>
            <a:srgbClr val="00FF88"/>
          </a:solidFill>
          <a:ln w="12700">
            <a:solidFill>
              <a:srgbClr val="00FF88"/>
            </a:solidFill>
            <a:prstDash val="solid"/>
          </a:ln>
        </p:spPr>
      </p:sp>
      <p:sp>
        <p:nvSpPr>
          <p:cNvPr id="17" name="Text 15"/>
          <p:cNvSpPr/>
          <p:nvPr/>
        </p:nvSpPr>
        <p:spPr>
          <a:xfrm>
            <a:off x="274320" y="731520"/>
            <a:ext cx="3017520" cy="1097280"/>
          </a:xfrm>
          <a:prstGeom prst="rect">
            <a:avLst/>
          </a:prstGeom>
          <a:noFill/>
          <a:ln/>
        </p:spPr>
        <p:txBody>
          <a:bodyPr wrap="square" lIns="0" tIns="0" rIns="0" bIns="0" rtlCol="0" anchor="ctr"/>
          <a:lstStyle/>
          <a:p>
            <a:pPr indent="0" marL="0">
              <a:lnSpc>
                <a:spcPct val="100000"/>
              </a:lnSpc>
              <a:buNone/>
            </a:pPr>
            <a:r>
              <a:rPr lang="en-US" sz="3200" b="1" dirty="0">
                <a:solidFill>
                  <a:srgbClr val="00FF88"/>
                </a:solidFill>
                <a:latin typeface="Consolas" pitchFamily="34" charset="0"/>
                <a:ea typeface="Consolas" pitchFamily="34" charset="-122"/>
                <a:cs typeface="Consolas" pitchFamily="34" charset="-120"/>
              </a:rPr>
              <a:t>KEY</a:t>
            </a:r>
            <a:endParaRPr lang="en-US" sz="3200" dirty="0"/>
          </a:p>
          <a:p>
            <a:pPr indent="0" marL="0">
              <a:lnSpc>
                <a:spcPct val="100000"/>
              </a:lnSpc>
              <a:buNone/>
            </a:pPr>
            <a:r>
              <a:rPr lang="en-US" sz="3200" b="1" dirty="0">
                <a:solidFill>
                  <a:srgbClr val="00FF88"/>
                </a:solidFill>
                <a:latin typeface="Consolas" pitchFamily="34" charset="0"/>
                <a:ea typeface="Consolas" pitchFamily="34" charset="-122"/>
                <a:cs typeface="Consolas" pitchFamily="34" charset="-120"/>
              </a:rPr>
              <a:t>TAKEAWAYS</a:t>
            </a:r>
            <a:endParaRPr lang="en-US" sz="3200" dirty="0"/>
          </a:p>
        </p:txBody>
      </p:sp>
      <p:sp>
        <p:nvSpPr>
          <p:cNvPr id="18" name="Text 16"/>
          <p:cNvSpPr/>
          <p:nvPr/>
        </p:nvSpPr>
        <p:spPr>
          <a:xfrm>
            <a:off x="274320" y="2011680"/>
            <a:ext cx="2926080" cy="320040"/>
          </a:xfrm>
          <a:prstGeom prst="rect">
            <a:avLst/>
          </a:prstGeom>
          <a:noFill/>
          <a:ln/>
        </p:spPr>
        <p:txBody>
          <a:bodyPr wrap="square" lIns="0" tIns="0" rIns="0" bIns="0" rtlCol="0" anchor="ctr"/>
          <a:lstStyle/>
          <a:p>
            <a:pPr indent="0" marL="0">
              <a:buNone/>
            </a:pPr>
            <a:r>
              <a:rPr lang="en-US" sz="1300" b="1" dirty="0">
                <a:solidFill>
                  <a:srgbClr val="00D4FF"/>
                </a:solidFill>
                <a:latin typeface="Consolas" pitchFamily="34" charset="0"/>
                <a:ea typeface="Consolas" pitchFamily="34" charset="-122"/>
                <a:cs typeface="Consolas" pitchFamily="34" charset="-120"/>
              </a:rPr>
              <a:t>Career Paths</a:t>
            </a:r>
            <a:endParaRPr lang="en-US" sz="1300" dirty="0"/>
          </a:p>
        </p:txBody>
      </p:sp>
      <p:sp>
        <p:nvSpPr>
          <p:cNvPr id="19" name="Text 17"/>
          <p:cNvSpPr/>
          <p:nvPr/>
        </p:nvSpPr>
        <p:spPr>
          <a:xfrm>
            <a:off x="274320" y="2395728"/>
            <a:ext cx="3017520" cy="320040"/>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 Malware Analyst</a:t>
            </a:r>
            <a:endParaRPr lang="en-US" sz="1000" dirty="0"/>
          </a:p>
        </p:txBody>
      </p:sp>
      <p:sp>
        <p:nvSpPr>
          <p:cNvPr id="20" name="Text 18"/>
          <p:cNvSpPr/>
          <p:nvPr/>
        </p:nvSpPr>
        <p:spPr>
          <a:xfrm>
            <a:off x="274320" y="2779776"/>
            <a:ext cx="3017520" cy="320040"/>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 Penetration Tester</a:t>
            </a:r>
            <a:endParaRPr lang="en-US" sz="1000" dirty="0"/>
          </a:p>
        </p:txBody>
      </p:sp>
      <p:sp>
        <p:nvSpPr>
          <p:cNvPr id="21" name="Text 19"/>
          <p:cNvSpPr/>
          <p:nvPr/>
        </p:nvSpPr>
        <p:spPr>
          <a:xfrm>
            <a:off x="274320" y="3163824"/>
            <a:ext cx="3017520" cy="320040"/>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 CTF Player / Researcher</a:t>
            </a:r>
            <a:endParaRPr lang="en-US" sz="1000" dirty="0"/>
          </a:p>
        </p:txBody>
      </p:sp>
      <p:sp>
        <p:nvSpPr>
          <p:cNvPr id="22" name="Text 20"/>
          <p:cNvSpPr/>
          <p:nvPr/>
        </p:nvSpPr>
        <p:spPr>
          <a:xfrm>
            <a:off x="274320" y="3547872"/>
            <a:ext cx="3017520" cy="320040"/>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 Vulnerability Researcher</a:t>
            </a:r>
            <a:endParaRPr lang="en-US" sz="1000" dirty="0"/>
          </a:p>
        </p:txBody>
      </p:sp>
      <p:sp>
        <p:nvSpPr>
          <p:cNvPr id="23" name="Text 21"/>
          <p:cNvSpPr/>
          <p:nvPr/>
        </p:nvSpPr>
        <p:spPr>
          <a:xfrm>
            <a:off x="274320" y="3931920"/>
            <a:ext cx="3017520" cy="320040"/>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 Threat Intelligence Analyst</a:t>
            </a:r>
            <a:endParaRPr lang="en-US" sz="1000" dirty="0"/>
          </a:p>
        </p:txBody>
      </p:sp>
      <p:sp>
        <p:nvSpPr>
          <p:cNvPr id="24" name="Shape 22"/>
          <p:cNvSpPr/>
          <p:nvPr/>
        </p:nvSpPr>
        <p:spPr>
          <a:xfrm>
            <a:off x="228600" y="4343400"/>
            <a:ext cx="3063240" cy="640080"/>
          </a:xfrm>
          <a:prstGeom prst="rect">
            <a:avLst/>
          </a:prstGeom>
          <a:solidFill>
            <a:srgbClr val="1A0000"/>
          </a:solidFill>
          <a:ln w="12700">
            <a:solidFill>
              <a:srgbClr val="FF3355"/>
            </a:solidFill>
            <a:prstDash val="solid"/>
          </a:ln>
        </p:spPr>
      </p:sp>
      <p:sp>
        <p:nvSpPr>
          <p:cNvPr id="25" name="Text 23"/>
          <p:cNvSpPr/>
          <p:nvPr/>
        </p:nvSpPr>
        <p:spPr>
          <a:xfrm>
            <a:off x="274320" y="4370832"/>
            <a:ext cx="2926080" cy="594360"/>
          </a:xfrm>
          <a:prstGeom prst="rect">
            <a:avLst/>
          </a:prstGeom>
          <a:noFill/>
          <a:ln/>
        </p:spPr>
        <p:txBody>
          <a:bodyPr wrap="square" lIns="0" tIns="0" rIns="0" bIns="0" rtlCol="0" anchor="ctr"/>
          <a:lstStyle/>
          <a:p>
            <a:pPr indent="0" marL="0">
              <a:buNone/>
            </a:pPr>
            <a:r>
              <a:rPr lang="en-US" sz="900" dirty="0">
                <a:solidFill>
                  <a:srgbClr val="FF3355"/>
                </a:solidFill>
                <a:latin typeface="Calibri" pitchFamily="34" charset="0"/>
                <a:ea typeface="Calibri" pitchFamily="34" charset="-122"/>
                <a:cs typeface="Calibri" pitchFamily="34" charset="-120"/>
              </a:rPr>
              <a:t>⚠ Always reverse ethically.</a:t>
            </a:r>
            <a:endParaRPr lang="en-US" sz="900" dirty="0"/>
          </a:p>
          <a:p>
            <a:pPr indent="0" marL="0">
              <a:buNone/>
            </a:pPr>
            <a:r>
              <a:rPr lang="en-US" sz="900" dirty="0">
                <a:solidFill>
                  <a:srgbClr val="FF3355"/>
                </a:solidFill>
                <a:latin typeface="Calibri" pitchFamily="34" charset="0"/>
                <a:ea typeface="Calibri" pitchFamily="34" charset="-122"/>
                <a:cs typeface="Calibri" pitchFamily="34" charset="-120"/>
              </a:rPr>
              <a:t>Never target systems you don't own.</a:t>
            </a:r>
            <a:endParaRPr lang="en-US" sz="900" dirty="0"/>
          </a:p>
        </p:txBody>
      </p:sp>
      <p:sp>
        <p:nvSpPr>
          <p:cNvPr id="26" name="Shape 24"/>
          <p:cNvSpPr/>
          <p:nvPr/>
        </p:nvSpPr>
        <p:spPr>
          <a:xfrm>
            <a:off x="3657600" y="457200"/>
            <a:ext cx="5166360" cy="758952"/>
          </a:xfrm>
          <a:prstGeom prst="rect">
            <a:avLst/>
          </a:prstGeom>
          <a:solidFill>
            <a:srgbClr val="1A2235"/>
          </a:solidFill>
          <a:ln w="12700">
            <a:solidFill>
              <a:srgbClr val="00FF88"/>
            </a:solidFill>
            <a:prstDash val="solid"/>
          </a:ln>
        </p:spPr>
      </p:sp>
      <p:sp>
        <p:nvSpPr>
          <p:cNvPr id="27" name="Text 25"/>
          <p:cNvSpPr/>
          <p:nvPr/>
        </p:nvSpPr>
        <p:spPr>
          <a:xfrm>
            <a:off x="3767328" y="548640"/>
            <a:ext cx="457200" cy="530352"/>
          </a:xfrm>
          <a:prstGeom prst="rect">
            <a:avLst/>
          </a:prstGeom>
          <a:noFill/>
          <a:ln/>
        </p:spPr>
        <p:txBody>
          <a:bodyPr wrap="square" lIns="0" tIns="0" rIns="0" bIns="0" rtlCol="0" anchor="ctr"/>
          <a:lstStyle/>
          <a:p>
            <a:pPr algn="ctr" indent="0" marL="0">
              <a:buNone/>
            </a:pPr>
            <a:r>
              <a:rPr lang="en-US" sz="2200" b="1" dirty="0">
                <a:solidFill>
                  <a:srgbClr val="00FF88"/>
                </a:solidFill>
                <a:latin typeface="Consolas" pitchFamily="34" charset="0"/>
                <a:ea typeface="Consolas" pitchFamily="34" charset="-122"/>
                <a:cs typeface="Consolas" pitchFamily="34" charset="-120"/>
              </a:rPr>
              <a:t>01</a:t>
            </a:r>
            <a:endParaRPr lang="en-US" sz="2200" dirty="0"/>
          </a:p>
        </p:txBody>
      </p:sp>
      <p:sp>
        <p:nvSpPr>
          <p:cNvPr id="28" name="Text 26"/>
          <p:cNvSpPr/>
          <p:nvPr/>
        </p:nvSpPr>
        <p:spPr>
          <a:xfrm>
            <a:off x="4315968" y="530352"/>
            <a:ext cx="4389120" cy="256032"/>
          </a:xfrm>
          <a:prstGeom prst="rect">
            <a:avLst/>
          </a:prstGeom>
          <a:noFill/>
          <a:ln/>
        </p:spPr>
        <p:txBody>
          <a:bodyPr wrap="square" lIns="0" tIns="0" rIns="0" bIns="0" rtlCol="0" anchor="ctr"/>
          <a:lstStyle/>
          <a:p>
            <a:pPr indent="0" marL="0">
              <a:buNone/>
            </a:pPr>
            <a:r>
              <a:rPr lang="en-US" sz="1100" b="1" dirty="0">
                <a:solidFill>
                  <a:srgbClr val="00FF88"/>
                </a:solidFill>
                <a:latin typeface="Consolas" pitchFamily="34" charset="0"/>
                <a:ea typeface="Consolas" pitchFamily="34" charset="-122"/>
                <a:cs typeface="Consolas" pitchFamily="34" charset="-120"/>
              </a:rPr>
              <a:t>RE is a Skill — Build it Daily</a:t>
            </a:r>
            <a:endParaRPr lang="en-US" sz="1100" dirty="0"/>
          </a:p>
        </p:txBody>
      </p:sp>
      <p:sp>
        <p:nvSpPr>
          <p:cNvPr id="29" name="Text 27"/>
          <p:cNvSpPr/>
          <p:nvPr/>
        </p:nvSpPr>
        <p:spPr>
          <a:xfrm>
            <a:off x="4315968" y="822960"/>
            <a:ext cx="4389120" cy="320040"/>
          </a:xfrm>
          <a:prstGeom prst="rect">
            <a:avLst/>
          </a:prstGeom>
          <a:noFill/>
          <a:ln/>
        </p:spPr>
        <p:txBody>
          <a:bodyPr wrap="square" lIns="0" tIns="0" rIns="0" bIns="0" rtlCol="0" anchor="ctr"/>
          <a:lstStyle/>
          <a:p>
            <a:pPr indent="0" marL="0">
              <a:buNone/>
            </a:pPr>
            <a:r>
              <a:rPr lang="en-US" sz="950" dirty="0">
                <a:solidFill>
                  <a:srgbClr val="E2E8F0"/>
                </a:solidFill>
                <a:latin typeface="Calibri" pitchFamily="34" charset="0"/>
                <a:ea typeface="Calibri" pitchFamily="34" charset="-122"/>
                <a:cs typeface="Calibri" pitchFamily="34" charset="-120"/>
              </a:rPr>
              <a:t>Even 30 min of crackme practice compounds over months into mastery.</a:t>
            </a:r>
            <a:endParaRPr lang="en-US" sz="950" dirty="0"/>
          </a:p>
        </p:txBody>
      </p:sp>
      <p:sp>
        <p:nvSpPr>
          <p:cNvPr id="30" name="Shape 28"/>
          <p:cNvSpPr/>
          <p:nvPr/>
        </p:nvSpPr>
        <p:spPr>
          <a:xfrm>
            <a:off x="3657600" y="1353312"/>
            <a:ext cx="5166360" cy="758952"/>
          </a:xfrm>
          <a:prstGeom prst="rect">
            <a:avLst/>
          </a:prstGeom>
          <a:solidFill>
            <a:srgbClr val="1A2235"/>
          </a:solidFill>
          <a:ln w="12700">
            <a:solidFill>
              <a:srgbClr val="00D4FF"/>
            </a:solidFill>
            <a:prstDash val="solid"/>
          </a:ln>
        </p:spPr>
      </p:sp>
      <p:sp>
        <p:nvSpPr>
          <p:cNvPr id="31" name="Text 29"/>
          <p:cNvSpPr/>
          <p:nvPr/>
        </p:nvSpPr>
        <p:spPr>
          <a:xfrm>
            <a:off x="3767328" y="1444752"/>
            <a:ext cx="457200" cy="530352"/>
          </a:xfrm>
          <a:prstGeom prst="rect">
            <a:avLst/>
          </a:prstGeom>
          <a:noFill/>
          <a:ln/>
        </p:spPr>
        <p:txBody>
          <a:bodyPr wrap="square" lIns="0" tIns="0" rIns="0" bIns="0" rtlCol="0" anchor="ctr"/>
          <a:lstStyle/>
          <a:p>
            <a:pPr algn="ctr" indent="0" marL="0">
              <a:buNone/>
            </a:pPr>
            <a:r>
              <a:rPr lang="en-US" sz="2200" b="1" dirty="0">
                <a:solidFill>
                  <a:srgbClr val="00D4FF"/>
                </a:solidFill>
                <a:latin typeface="Consolas" pitchFamily="34" charset="0"/>
                <a:ea typeface="Consolas" pitchFamily="34" charset="-122"/>
                <a:cs typeface="Consolas" pitchFamily="34" charset="-120"/>
              </a:rPr>
              <a:t>02</a:t>
            </a:r>
            <a:endParaRPr lang="en-US" sz="2200" dirty="0"/>
          </a:p>
        </p:txBody>
      </p:sp>
      <p:sp>
        <p:nvSpPr>
          <p:cNvPr id="32" name="Text 30"/>
          <p:cNvSpPr/>
          <p:nvPr/>
        </p:nvSpPr>
        <p:spPr>
          <a:xfrm>
            <a:off x="4315968" y="1426464"/>
            <a:ext cx="4389120" cy="256032"/>
          </a:xfrm>
          <a:prstGeom prst="rect">
            <a:avLst/>
          </a:prstGeom>
          <a:noFill/>
          <a:ln/>
        </p:spPr>
        <p:txBody>
          <a:bodyPr wrap="square" lIns="0" tIns="0" rIns="0" bIns="0" rtlCol="0" anchor="ctr"/>
          <a:lstStyle/>
          <a:p>
            <a:pPr indent="0" marL="0">
              <a:buNone/>
            </a:pPr>
            <a:r>
              <a:rPr lang="en-US" sz="1100" b="1" dirty="0">
                <a:solidFill>
                  <a:srgbClr val="00D4FF"/>
                </a:solidFill>
                <a:latin typeface="Consolas" pitchFamily="34" charset="0"/>
                <a:ea typeface="Consolas" pitchFamily="34" charset="-122"/>
                <a:cs typeface="Consolas" pitchFamily="34" charset="-120"/>
              </a:rPr>
              <a:t>Tools ≠ Skills</a:t>
            </a:r>
            <a:endParaRPr lang="en-US" sz="1100" dirty="0"/>
          </a:p>
        </p:txBody>
      </p:sp>
      <p:sp>
        <p:nvSpPr>
          <p:cNvPr id="33" name="Text 31"/>
          <p:cNvSpPr/>
          <p:nvPr/>
        </p:nvSpPr>
        <p:spPr>
          <a:xfrm>
            <a:off x="4315968" y="1719072"/>
            <a:ext cx="4389120" cy="320040"/>
          </a:xfrm>
          <a:prstGeom prst="rect">
            <a:avLst/>
          </a:prstGeom>
          <a:noFill/>
          <a:ln/>
        </p:spPr>
        <p:txBody>
          <a:bodyPr wrap="square" lIns="0" tIns="0" rIns="0" bIns="0" rtlCol="0" anchor="ctr"/>
          <a:lstStyle/>
          <a:p>
            <a:pPr indent="0" marL="0">
              <a:buNone/>
            </a:pPr>
            <a:r>
              <a:rPr lang="en-US" sz="950" dirty="0">
                <a:solidFill>
                  <a:srgbClr val="E2E8F0"/>
                </a:solidFill>
                <a:latin typeface="Calibri" pitchFamily="34" charset="0"/>
                <a:ea typeface="Calibri" pitchFamily="34" charset="-122"/>
                <a:cs typeface="Calibri" pitchFamily="34" charset="-120"/>
              </a:rPr>
              <a:t>Knowing Ghidra doesn't make you a RE. Understanding assembly does.</a:t>
            </a:r>
            <a:endParaRPr lang="en-US" sz="950" dirty="0"/>
          </a:p>
        </p:txBody>
      </p:sp>
      <p:sp>
        <p:nvSpPr>
          <p:cNvPr id="34" name="Shape 32"/>
          <p:cNvSpPr/>
          <p:nvPr/>
        </p:nvSpPr>
        <p:spPr>
          <a:xfrm>
            <a:off x="3657600" y="2249424"/>
            <a:ext cx="5166360" cy="758952"/>
          </a:xfrm>
          <a:prstGeom prst="rect">
            <a:avLst/>
          </a:prstGeom>
          <a:solidFill>
            <a:srgbClr val="1A2235"/>
          </a:solidFill>
          <a:ln w="12700">
            <a:solidFill>
              <a:srgbClr val="FF6B35"/>
            </a:solidFill>
            <a:prstDash val="solid"/>
          </a:ln>
        </p:spPr>
      </p:sp>
      <p:sp>
        <p:nvSpPr>
          <p:cNvPr id="35" name="Text 33"/>
          <p:cNvSpPr/>
          <p:nvPr/>
        </p:nvSpPr>
        <p:spPr>
          <a:xfrm>
            <a:off x="3767328" y="2340864"/>
            <a:ext cx="457200" cy="530352"/>
          </a:xfrm>
          <a:prstGeom prst="rect">
            <a:avLst/>
          </a:prstGeom>
          <a:noFill/>
          <a:ln/>
        </p:spPr>
        <p:txBody>
          <a:bodyPr wrap="square" lIns="0" tIns="0" rIns="0" bIns="0" rtlCol="0" anchor="ctr"/>
          <a:lstStyle/>
          <a:p>
            <a:pPr algn="ctr" indent="0" marL="0">
              <a:buNone/>
            </a:pPr>
            <a:r>
              <a:rPr lang="en-US" sz="2200" b="1" dirty="0">
                <a:solidFill>
                  <a:srgbClr val="FF6B35"/>
                </a:solidFill>
                <a:latin typeface="Consolas" pitchFamily="34" charset="0"/>
                <a:ea typeface="Consolas" pitchFamily="34" charset="-122"/>
                <a:cs typeface="Consolas" pitchFamily="34" charset="-120"/>
              </a:rPr>
              <a:t>03</a:t>
            </a:r>
            <a:endParaRPr lang="en-US" sz="2200" dirty="0"/>
          </a:p>
        </p:txBody>
      </p:sp>
      <p:sp>
        <p:nvSpPr>
          <p:cNvPr id="36" name="Text 34"/>
          <p:cNvSpPr/>
          <p:nvPr/>
        </p:nvSpPr>
        <p:spPr>
          <a:xfrm>
            <a:off x="4315968" y="2322576"/>
            <a:ext cx="4389120" cy="256032"/>
          </a:xfrm>
          <a:prstGeom prst="rect">
            <a:avLst/>
          </a:prstGeom>
          <a:noFill/>
          <a:ln/>
        </p:spPr>
        <p:txBody>
          <a:bodyPr wrap="square" lIns="0" tIns="0" rIns="0" bIns="0" rtlCol="0" anchor="ctr"/>
          <a:lstStyle/>
          <a:p>
            <a:pPr indent="0" marL="0">
              <a:buNone/>
            </a:pPr>
            <a:r>
              <a:rPr lang="en-US" sz="1100" b="1" dirty="0">
                <a:solidFill>
                  <a:srgbClr val="FF6B35"/>
                </a:solidFill>
                <a:latin typeface="Consolas" pitchFamily="34" charset="0"/>
                <a:ea typeface="Consolas" pitchFamily="34" charset="-122"/>
                <a:cs typeface="Consolas" pitchFamily="34" charset="-120"/>
              </a:rPr>
              <a:t>Safety First</a:t>
            </a:r>
            <a:endParaRPr lang="en-US" sz="1100" dirty="0"/>
          </a:p>
        </p:txBody>
      </p:sp>
      <p:sp>
        <p:nvSpPr>
          <p:cNvPr id="37" name="Text 35"/>
          <p:cNvSpPr/>
          <p:nvPr/>
        </p:nvSpPr>
        <p:spPr>
          <a:xfrm>
            <a:off x="4315968" y="2615184"/>
            <a:ext cx="4389120" cy="320040"/>
          </a:xfrm>
          <a:prstGeom prst="rect">
            <a:avLst/>
          </a:prstGeom>
          <a:noFill/>
          <a:ln/>
        </p:spPr>
        <p:txBody>
          <a:bodyPr wrap="square" lIns="0" tIns="0" rIns="0" bIns="0" rtlCol="0" anchor="ctr"/>
          <a:lstStyle/>
          <a:p>
            <a:pPr indent="0" marL="0">
              <a:buNone/>
            </a:pPr>
            <a:r>
              <a:rPr lang="en-US" sz="950" dirty="0">
                <a:solidFill>
                  <a:srgbClr val="E2E8F0"/>
                </a:solidFill>
                <a:latin typeface="Calibri" pitchFamily="34" charset="0"/>
                <a:ea typeface="Calibri" pitchFamily="34" charset="-122"/>
                <a:cs typeface="Calibri" pitchFamily="34" charset="-120"/>
              </a:rPr>
              <a:t>Always use VMs, snapshots, and isolated networks for malware work.</a:t>
            </a:r>
            <a:endParaRPr lang="en-US" sz="950" dirty="0"/>
          </a:p>
        </p:txBody>
      </p:sp>
      <p:sp>
        <p:nvSpPr>
          <p:cNvPr id="38" name="Shape 36"/>
          <p:cNvSpPr/>
          <p:nvPr/>
        </p:nvSpPr>
        <p:spPr>
          <a:xfrm>
            <a:off x="3657600" y="3145536"/>
            <a:ext cx="5166360" cy="758952"/>
          </a:xfrm>
          <a:prstGeom prst="rect">
            <a:avLst/>
          </a:prstGeom>
          <a:solidFill>
            <a:srgbClr val="1A2235"/>
          </a:solidFill>
          <a:ln w="12700">
            <a:solidFill>
              <a:srgbClr val="A855F7"/>
            </a:solidFill>
            <a:prstDash val="solid"/>
          </a:ln>
        </p:spPr>
      </p:sp>
      <p:sp>
        <p:nvSpPr>
          <p:cNvPr id="39" name="Text 37"/>
          <p:cNvSpPr/>
          <p:nvPr/>
        </p:nvSpPr>
        <p:spPr>
          <a:xfrm>
            <a:off x="3767328" y="3236976"/>
            <a:ext cx="457200" cy="530352"/>
          </a:xfrm>
          <a:prstGeom prst="rect">
            <a:avLst/>
          </a:prstGeom>
          <a:noFill/>
          <a:ln/>
        </p:spPr>
        <p:txBody>
          <a:bodyPr wrap="square" lIns="0" tIns="0" rIns="0" bIns="0" rtlCol="0" anchor="ctr"/>
          <a:lstStyle/>
          <a:p>
            <a:pPr algn="ctr" indent="0" marL="0">
              <a:buNone/>
            </a:pPr>
            <a:r>
              <a:rPr lang="en-US" sz="2200" b="1" dirty="0">
                <a:solidFill>
                  <a:srgbClr val="A855F7"/>
                </a:solidFill>
                <a:latin typeface="Consolas" pitchFamily="34" charset="0"/>
                <a:ea typeface="Consolas" pitchFamily="34" charset="-122"/>
                <a:cs typeface="Consolas" pitchFamily="34" charset="-120"/>
              </a:rPr>
              <a:t>04</a:t>
            </a:r>
            <a:endParaRPr lang="en-US" sz="2200" dirty="0"/>
          </a:p>
        </p:txBody>
      </p:sp>
      <p:sp>
        <p:nvSpPr>
          <p:cNvPr id="40" name="Text 38"/>
          <p:cNvSpPr/>
          <p:nvPr/>
        </p:nvSpPr>
        <p:spPr>
          <a:xfrm>
            <a:off x="4315968" y="3218688"/>
            <a:ext cx="4389120" cy="256032"/>
          </a:xfrm>
          <a:prstGeom prst="rect">
            <a:avLst/>
          </a:prstGeom>
          <a:noFill/>
          <a:ln/>
        </p:spPr>
        <p:txBody>
          <a:bodyPr wrap="square" lIns="0" tIns="0" rIns="0" bIns="0" rtlCol="0" anchor="ctr"/>
          <a:lstStyle/>
          <a:p>
            <a:pPr indent="0" marL="0">
              <a:buNone/>
            </a:pPr>
            <a:r>
              <a:rPr lang="en-US" sz="1100" b="1" dirty="0">
                <a:solidFill>
                  <a:srgbClr val="A855F7"/>
                </a:solidFill>
                <a:latin typeface="Consolas" pitchFamily="34" charset="0"/>
                <a:ea typeface="Consolas" pitchFamily="34" charset="-122"/>
                <a:cs typeface="Consolas" pitchFamily="34" charset="-120"/>
              </a:rPr>
              <a:t>Document Everything</a:t>
            </a:r>
            <a:endParaRPr lang="en-US" sz="1100" dirty="0"/>
          </a:p>
        </p:txBody>
      </p:sp>
      <p:sp>
        <p:nvSpPr>
          <p:cNvPr id="41" name="Text 39"/>
          <p:cNvSpPr/>
          <p:nvPr/>
        </p:nvSpPr>
        <p:spPr>
          <a:xfrm>
            <a:off x="4315968" y="3511296"/>
            <a:ext cx="4389120" cy="320040"/>
          </a:xfrm>
          <a:prstGeom prst="rect">
            <a:avLst/>
          </a:prstGeom>
          <a:noFill/>
          <a:ln/>
        </p:spPr>
        <p:txBody>
          <a:bodyPr wrap="square" lIns="0" tIns="0" rIns="0" bIns="0" rtlCol="0" anchor="ctr"/>
          <a:lstStyle/>
          <a:p>
            <a:pPr indent="0" marL="0">
              <a:buNone/>
            </a:pPr>
            <a:r>
              <a:rPr lang="en-US" sz="950" dirty="0">
                <a:solidFill>
                  <a:srgbClr val="E2E8F0"/>
                </a:solidFill>
                <a:latin typeface="Calibri" pitchFamily="34" charset="0"/>
                <a:ea typeface="Calibri" pitchFamily="34" charset="-122"/>
                <a:cs typeface="Calibri" pitchFamily="34" charset="-120"/>
              </a:rPr>
              <a:t>Rename functions, add comments, keep notes. RE is 80% documentation.</a:t>
            </a:r>
            <a:endParaRPr lang="en-US" sz="950" dirty="0"/>
          </a:p>
        </p:txBody>
      </p:sp>
      <p:sp>
        <p:nvSpPr>
          <p:cNvPr id="42" name="Shape 40"/>
          <p:cNvSpPr/>
          <p:nvPr/>
        </p:nvSpPr>
        <p:spPr>
          <a:xfrm>
            <a:off x="3657600" y="4041648"/>
            <a:ext cx="5166360" cy="758952"/>
          </a:xfrm>
          <a:prstGeom prst="rect">
            <a:avLst/>
          </a:prstGeom>
          <a:solidFill>
            <a:srgbClr val="1A2235"/>
          </a:solidFill>
          <a:ln w="12700">
            <a:solidFill>
              <a:srgbClr val="FF3355"/>
            </a:solidFill>
            <a:prstDash val="solid"/>
          </a:ln>
        </p:spPr>
      </p:sp>
      <p:sp>
        <p:nvSpPr>
          <p:cNvPr id="43" name="Text 41"/>
          <p:cNvSpPr/>
          <p:nvPr/>
        </p:nvSpPr>
        <p:spPr>
          <a:xfrm>
            <a:off x="3767328" y="4133088"/>
            <a:ext cx="457200" cy="530352"/>
          </a:xfrm>
          <a:prstGeom prst="rect">
            <a:avLst/>
          </a:prstGeom>
          <a:noFill/>
          <a:ln/>
        </p:spPr>
        <p:txBody>
          <a:bodyPr wrap="square" lIns="0" tIns="0" rIns="0" bIns="0" rtlCol="0" anchor="ctr"/>
          <a:lstStyle/>
          <a:p>
            <a:pPr algn="ctr" indent="0" marL="0">
              <a:buNone/>
            </a:pPr>
            <a:r>
              <a:rPr lang="en-US" sz="2200" b="1" dirty="0">
                <a:solidFill>
                  <a:srgbClr val="FF3355"/>
                </a:solidFill>
                <a:latin typeface="Consolas" pitchFamily="34" charset="0"/>
                <a:ea typeface="Consolas" pitchFamily="34" charset="-122"/>
                <a:cs typeface="Consolas" pitchFamily="34" charset="-120"/>
              </a:rPr>
              <a:t>05</a:t>
            </a:r>
            <a:endParaRPr lang="en-US" sz="2200" dirty="0"/>
          </a:p>
        </p:txBody>
      </p:sp>
      <p:sp>
        <p:nvSpPr>
          <p:cNvPr id="44" name="Text 42"/>
          <p:cNvSpPr/>
          <p:nvPr/>
        </p:nvSpPr>
        <p:spPr>
          <a:xfrm>
            <a:off x="4315968" y="4114800"/>
            <a:ext cx="4389120" cy="256032"/>
          </a:xfrm>
          <a:prstGeom prst="rect">
            <a:avLst/>
          </a:prstGeom>
          <a:noFill/>
          <a:ln/>
        </p:spPr>
        <p:txBody>
          <a:bodyPr wrap="square" lIns="0" tIns="0" rIns="0" bIns="0" rtlCol="0" anchor="ctr"/>
          <a:lstStyle/>
          <a:p>
            <a:pPr indent="0" marL="0">
              <a:buNone/>
            </a:pPr>
            <a:r>
              <a:rPr lang="en-US" sz="1100" b="1" dirty="0">
                <a:solidFill>
                  <a:srgbClr val="FF3355"/>
                </a:solidFill>
                <a:latin typeface="Consolas" pitchFamily="34" charset="0"/>
                <a:ea typeface="Consolas" pitchFamily="34" charset="-122"/>
                <a:cs typeface="Consolas" pitchFamily="34" charset="-120"/>
              </a:rPr>
              <a:t>Ethics are Non-Negotiable</a:t>
            </a:r>
            <a:endParaRPr lang="en-US" sz="1100" dirty="0"/>
          </a:p>
        </p:txBody>
      </p:sp>
      <p:sp>
        <p:nvSpPr>
          <p:cNvPr id="45" name="Text 43"/>
          <p:cNvSpPr/>
          <p:nvPr/>
        </p:nvSpPr>
        <p:spPr>
          <a:xfrm>
            <a:off x="4315968" y="4407408"/>
            <a:ext cx="4389120" cy="320040"/>
          </a:xfrm>
          <a:prstGeom prst="rect">
            <a:avLst/>
          </a:prstGeom>
          <a:noFill/>
          <a:ln/>
        </p:spPr>
        <p:txBody>
          <a:bodyPr wrap="square" lIns="0" tIns="0" rIns="0" bIns="0" rtlCol="0" anchor="ctr"/>
          <a:lstStyle/>
          <a:p>
            <a:pPr indent="0" marL="0">
              <a:buNone/>
            </a:pPr>
            <a:r>
              <a:rPr lang="en-US" sz="950" dirty="0">
                <a:solidFill>
                  <a:srgbClr val="E2E8F0"/>
                </a:solidFill>
                <a:latin typeface="Calibri" pitchFamily="34" charset="0"/>
                <a:ea typeface="Calibri" pitchFamily="34" charset="-122"/>
                <a:cs typeface="Calibri" pitchFamily="34" charset="-120"/>
              </a:rPr>
              <a:t>Only analyze software you have permission to examine. Always.</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91440" y="0"/>
            <a:ext cx="1005840" cy="5143500"/>
          </a:xfrm>
          <a:prstGeom prst="rect">
            <a:avLst/>
          </a:prstGeom>
          <a:noFill/>
          <a:ln/>
        </p:spPr>
        <p:txBody>
          <a:bodyPr wrap="square" lIns="0" tIns="0" rIns="0" bIns="0" rtlCol="0" anchor="ctr"/>
          <a:lstStyle/>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1</a:t>
            </a:r>
            <a:endParaRPr lang="en-US" sz="800" dirty="0"/>
          </a:p>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0</a:t>
            </a:r>
            <a:endParaRPr lang="en-US" sz="800" dirty="0"/>
          </a:p>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1</a:t>
            </a:r>
            <a:endParaRPr lang="en-US" sz="800" dirty="0"/>
          </a:p>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1</a:t>
            </a:r>
            <a:endParaRPr lang="en-US" sz="800" dirty="0"/>
          </a:p>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0</a:t>
            </a:r>
            <a:endParaRPr lang="en-US" sz="800" dirty="0"/>
          </a:p>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1</a:t>
            </a:r>
            <a:endParaRPr lang="en-US" sz="800" dirty="0"/>
          </a:p>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0</a:t>
            </a:r>
            <a:endParaRPr lang="en-US" sz="800" dirty="0"/>
          </a:p>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0</a:t>
            </a:r>
            <a:endParaRPr lang="en-US" sz="800" dirty="0"/>
          </a:p>
        </p:txBody>
      </p:sp>
      <p:sp>
        <p:nvSpPr>
          <p:cNvPr id="3" name="Text 1"/>
          <p:cNvSpPr/>
          <p:nvPr/>
        </p:nvSpPr>
        <p:spPr>
          <a:xfrm>
            <a:off x="1234440" y="0"/>
            <a:ext cx="1005840" cy="5143500"/>
          </a:xfrm>
          <a:prstGeom prst="rect">
            <a:avLst/>
          </a:prstGeom>
          <a:noFill/>
          <a:ln/>
        </p:spPr>
        <p:txBody>
          <a:bodyPr wrap="square" lIns="0" tIns="0" rIns="0" bIns="0" rtlCol="0" anchor="ctr"/>
          <a:lstStyle/>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0</a:t>
            </a:r>
            <a:endParaRPr lang="en-US" sz="800" dirty="0"/>
          </a:p>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1</a:t>
            </a:r>
            <a:endParaRPr lang="en-US" sz="800" dirty="0"/>
          </a:p>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0</a:t>
            </a:r>
            <a:endParaRPr lang="en-US" sz="800" dirty="0"/>
          </a:p>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0</a:t>
            </a:r>
            <a:endParaRPr lang="en-US" sz="800" dirty="0"/>
          </a:p>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1</a:t>
            </a:r>
            <a:endParaRPr lang="en-US" sz="800" dirty="0"/>
          </a:p>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0</a:t>
            </a:r>
            <a:endParaRPr lang="en-US" sz="800" dirty="0"/>
          </a:p>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1</a:t>
            </a:r>
            <a:endParaRPr lang="en-US" sz="800" dirty="0"/>
          </a:p>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1</a:t>
            </a:r>
            <a:endParaRPr lang="en-US" sz="800" dirty="0"/>
          </a:p>
        </p:txBody>
      </p:sp>
      <p:sp>
        <p:nvSpPr>
          <p:cNvPr id="4" name="Text 2"/>
          <p:cNvSpPr/>
          <p:nvPr/>
        </p:nvSpPr>
        <p:spPr>
          <a:xfrm>
            <a:off x="2377440" y="0"/>
            <a:ext cx="1005840" cy="5143500"/>
          </a:xfrm>
          <a:prstGeom prst="rect">
            <a:avLst/>
          </a:prstGeom>
          <a:noFill/>
          <a:ln/>
        </p:spPr>
        <p:txBody>
          <a:bodyPr wrap="square" lIns="0" tIns="0" rIns="0" bIns="0" rtlCol="0" anchor="ctr"/>
          <a:lstStyle/>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1</a:t>
            </a:r>
            <a:endParaRPr lang="en-US" sz="800" dirty="0"/>
          </a:p>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1</a:t>
            </a:r>
            <a:endParaRPr lang="en-US" sz="800" dirty="0"/>
          </a:p>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0</a:t>
            </a:r>
            <a:endParaRPr lang="en-US" sz="800" dirty="0"/>
          </a:p>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1</a:t>
            </a:r>
            <a:endParaRPr lang="en-US" sz="800" dirty="0"/>
          </a:p>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0</a:t>
            </a:r>
            <a:endParaRPr lang="en-US" sz="800" dirty="0"/>
          </a:p>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0</a:t>
            </a:r>
            <a:endParaRPr lang="en-US" sz="800" dirty="0"/>
          </a:p>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1</a:t>
            </a:r>
            <a:endParaRPr lang="en-US" sz="800" dirty="0"/>
          </a:p>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0</a:t>
            </a:r>
            <a:endParaRPr lang="en-US" sz="800" dirty="0"/>
          </a:p>
        </p:txBody>
      </p:sp>
      <p:sp>
        <p:nvSpPr>
          <p:cNvPr id="5" name="Text 3"/>
          <p:cNvSpPr/>
          <p:nvPr/>
        </p:nvSpPr>
        <p:spPr>
          <a:xfrm>
            <a:off x="3520440" y="0"/>
            <a:ext cx="1005840" cy="5143500"/>
          </a:xfrm>
          <a:prstGeom prst="rect">
            <a:avLst/>
          </a:prstGeom>
          <a:noFill/>
          <a:ln/>
        </p:spPr>
        <p:txBody>
          <a:bodyPr wrap="square" lIns="0" tIns="0" rIns="0" bIns="0" rtlCol="0" anchor="ctr"/>
          <a:lstStyle/>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0</a:t>
            </a:r>
            <a:endParaRPr lang="en-US" sz="800" dirty="0"/>
          </a:p>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0</a:t>
            </a:r>
            <a:endParaRPr lang="en-US" sz="800" dirty="0"/>
          </a:p>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1</a:t>
            </a:r>
            <a:endParaRPr lang="en-US" sz="800" dirty="0"/>
          </a:p>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0</a:t>
            </a:r>
            <a:endParaRPr lang="en-US" sz="800" dirty="0"/>
          </a:p>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1</a:t>
            </a:r>
            <a:endParaRPr lang="en-US" sz="800" dirty="0"/>
          </a:p>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1</a:t>
            </a:r>
            <a:endParaRPr lang="en-US" sz="800" dirty="0"/>
          </a:p>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0</a:t>
            </a:r>
            <a:endParaRPr lang="en-US" sz="800" dirty="0"/>
          </a:p>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1</a:t>
            </a:r>
            <a:endParaRPr lang="en-US" sz="800" dirty="0"/>
          </a:p>
        </p:txBody>
      </p:sp>
      <p:sp>
        <p:nvSpPr>
          <p:cNvPr id="6" name="Text 4"/>
          <p:cNvSpPr/>
          <p:nvPr/>
        </p:nvSpPr>
        <p:spPr>
          <a:xfrm>
            <a:off x="4663440" y="0"/>
            <a:ext cx="1005840" cy="5143500"/>
          </a:xfrm>
          <a:prstGeom prst="rect">
            <a:avLst/>
          </a:prstGeom>
          <a:noFill/>
          <a:ln/>
        </p:spPr>
        <p:txBody>
          <a:bodyPr wrap="square" lIns="0" tIns="0" rIns="0" bIns="0" rtlCol="0" anchor="ctr"/>
          <a:lstStyle/>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1</a:t>
            </a:r>
            <a:endParaRPr lang="en-US" sz="800" dirty="0"/>
          </a:p>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0</a:t>
            </a:r>
            <a:endParaRPr lang="en-US" sz="800" dirty="0"/>
          </a:p>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0</a:t>
            </a:r>
            <a:endParaRPr lang="en-US" sz="800" dirty="0"/>
          </a:p>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1</a:t>
            </a:r>
            <a:endParaRPr lang="en-US" sz="800" dirty="0"/>
          </a:p>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0</a:t>
            </a:r>
            <a:endParaRPr lang="en-US" sz="800" dirty="0"/>
          </a:p>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1</a:t>
            </a:r>
            <a:endParaRPr lang="en-US" sz="800" dirty="0"/>
          </a:p>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1</a:t>
            </a:r>
            <a:endParaRPr lang="en-US" sz="800" dirty="0"/>
          </a:p>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0</a:t>
            </a:r>
            <a:endParaRPr lang="en-US" sz="800" dirty="0"/>
          </a:p>
        </p:txBody>
      </p:sp>
      <p:sp>
        <p:nvSpPr>
          <p:cNvPr id="7" name="Text 5"/>
          <p:cNvSpPr/>
          <p:nvPr/>
        </p:nvSpPr>
        <p:spPr>
          <a:xfrm>
            <a:off x="5806440" y="0"/>
            <a:ext cx="1005840" cy="5143500"/>
          </a:xfrm>
          <a:prstGeom prst="rect">
            <a:avLst/>
          </a:prstGeom>
          <a:noFill/>
          <a:ln/>
        </p:spPr>
        <p:txBody>
          <a:bodyPr wrap="square" lIns="0" tIns="0" rIns="0" bIns="0" rtlCol="0" anchor="ctr"/>
          <a:lstStyle/>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0</a:t>
            </a:r>
            <a:endParaRPr lang="en-US" sz="800" dirty="0"/>
          </a:p>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1</a:t>
            </a:r>
            <a:endParaRPr lang="en-US" sz="800" dirty="0"/>
          </a:p>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1</a:t>
            </a:r>
            <a:endParaRPr lang="en-US" sz="800" dirty="0"/>
          </a:p>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0</a:t>
            </a:r>
            <a:endParaRPr lang="en-US" sz="800" dirty="0"/>
          </a:p>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1</a:t>
            </a:r>
            <a:endParaRPr lang="en-US" sz="800" dirty="0"/>
          </a:p>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0</a:t>
            </a:r>
            <a:endParaRPr lang="en-US" sz="800" dirty="0"/>
          </a:p>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0</a:t>
            </a:r>
            <a:endParaRPr lang="en-US" sz="800" dirty="0"/>
          </a:p>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1</a:t>
            </a:r>
            <a:endParaRPr lang="en-US" sz="800" dirty="0"/>
          </a:p>
        </p:txBody>
      </p:sp>
      <p:sp>
        <p:nvSpPr>
          <p:cNvPr id="8" name="Text 6"/>
          <p:cNvSpPr/>
          <p:nvPr/>
        </p:nvSpPr>
        <p:spPr>
          <a:xfrm>
            <a:off x="6949440" y="0"/>
            <a:ext cx="1005840" cy="5143500"/>
          </a:xfrm>
          <a:prstGeom prst="rect">
            <a:avLst/>
          </a:prstGeom>
          <a:noFill/>
          <a:ln/>
        </p:spPr>
        <p:txBody>
          <a:bodyPr wrap="square" lIns="0" tIns="0" rIns="0" bIns="0" rtlCol="0" anchor="ctr"/>
          <a:lstStyle/>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1</a:t>
            </a:r>
            <a:endParaRPr lang="en-US" sz="800" dirty="0"/>
          </a:p>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1</a:t>
            </a:r>
            <a:endParaRPr lang="en-US" sz="800" dirty="0"/>
          </a:p>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0</a:t>
            </a:r>
            <a:endParaRPr lang="en-US" sz="800" dirty="0"/>
          </a:p>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0</a:t>
            </a:r>
            <a:endParaRPr lang="en-US" sz="800" dirty="0"/>
          </a:p>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1</a:t>
            </a:r>
            <a:endParaRPr lang="en-US" sz="800" dirty="0"/>
          </a:p>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1</a:t>
            </a:r>
            <a:endParaRPr lang="en-US" sz="800" dirty="0"/>
          </a:p>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0</a:t>
            </a:r>
            <a:endParaRPr lang="en-US" sz="800" dirty="0"/>
          </a:p>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0</a:t>
            </a:r>
            <a:endParaRPr lang="en-US" sz="800" dirty="0"/>
          </a:p>
        </p:txBody>
      </p:sp>
      <p:sp>
        <p:nvSpPr>
          <p:cNvPr id="9" name="Text 7"/>
          <p:cNvSpPr/>
          <p:nvPr/>
        </p:nvSpPr>
        <p:spPr>
          <a:xfrm>
            <a:off x="8092440" y="0"/>
            <a:ext cx="1005840" cy="5143500"/>
          </a:xfrm>
          <a:prstGeom prst="rect">
            <a:avLst/>
          </a:prstGeom>
          <a:noFill/>
          <a:ln/>
        </p:spPr>
        <p:txBody>
          <a:bodyPr wrap="square" lIns="0" tIns="0" rIns="0" bIns="0" rtlCol="0" anchor="ctr"/>
          <a:lstStyle/>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1</a:t>
            </a:r>
            <a:endParaRPr lang="en-US" sz="800" dirty="0"/>
          </a:p>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0</a:t>
            </a:r>
            <a:endParaRPr lang="en-US" sz="800" dirty="0"/>
          </a:p>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1</a:t>
            </a:r>
            <a:endParaRPr lang="en-US" sz="800" dirty="0"/>
          </a:p>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0</a:t>
            </a:r>
            <a:endParaRPr lang="en-US" sz="800" dirty="0"/>
          </a:p>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1</a:t>
            </a:r>
            <a:endParaRPr lang="en-US" sz="800" dirty="0"/>
          </a:p>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0</a:t>
            </a:r>
            <a:endParaRPr lang="en-US" sz="800" dirty="0"/>
          </a:p>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1</a:t>
            </a:r>
            <a:endParaRPr lang="en-US" sz="800" dirty="0"/>
          </a:p>
          <a:p>
            <a:pPr algn="ctr" indent="0" marL="0">
              <a:buNone/>
            </a:pPr>
            <a:r>
              <a:rPr lang="en-US" sz="800" dirty="0">
                <a:solidFill>
                  <a:srgbClr val="00FF88">
                    <a:alpha val="20000"/>
                  </a:srgbClr>
                </a:solidFill>
                <a:latin typeface="Consolas" pitchFamily="34" charset="0"/>
                <a:ea typeface="Consolas" pitchFamily="34" charset="-122"/>
                <a:cs typeface="Consolas" pitchFamily="34" charset="-120"/>
              </a:rPr>
              <a:t>0</a:t>
            </a:r>
            <a:endParaRPr lang="en-US" sz="800" dirty="0"/>
          </a:p>
        </p:txBody>
      </p:sp>
      <p:sp>
        <p:nvSpPr>
          <p:cNvPr id="10" name="Shape 8"/>
          <p:cNvSpPr/>
          <p:nvPr/>
        </p:nvSpPr>
        <p:spPr>
          <a:xfrm>
            <a:off x="1371600" y="1097280"/>
            <a:ext cx="6400800" cy="2926080"/>
          </a:xfrm>
          <a:prstGeom prst="rect">
            <a:avLst/>
          </a:prstGeom>
          <a:solidFill>
            <a:srgbClr val="0A0E1A">
              <a:alpha val="80000"/>
            </a:srgbClr>
          </a:solidFill>
          <a:ln w="12700">
            <a:solidFill>
              <a:srgbClr val="00FF88"/>
            </a:solidFill>
            <a:prstDash val="solid"/>
          </a:ln>
        </p:spPr>
      </p:sp>
      <p:sp>
        <p:nvSpPr>
          <p:cNvPr id="11" name="Text 9"/>
          <p:cNvSpPr/>
          <p:nvPr/>
        </p:nvSpPr>
        <p:spPr>
          <a:xfrm>
            <a:off x="1371600" y="731520"/>
            <a:ext cx="6400800" cy="1097280"/>
          </a:xfrm>
          <a:prstGeom prst="rect">
            <a:avLst/>
          </a:prstGeom>
          <a:noFill/>
          <a:ln/>
        </p:spPr>
        <p:txBody>
          <a:bodyPr wrap="square" lIns="0" tIns="0" rIns="0" bIns="0" rtlCol="0" anchor="ctr"/>
          <a:lstStyle/>
          <a:p>
            <a:pPr algn="ctr" indent="0" marL="0">
              <a:buNone/>
            </a:pPr>
            <a:r>
              <a:rPr lang="en-US" sz="7200" b="1" dirty="0">
                <a:solidFill>
                  <a:srgbClr val="00FF88">
                    <a:alpha val="90000"/>
                  </a:srgbClr>
                </a:solidFill>
                <a:latin typeface="Consolas" pitchFamily="34" charset="0"/>
                <a:ea typeface="Consolas" pitchFamily="34" charset="-122"/>
                <a:cs typeface="Consolas" pitchFamily="34" charset="-120"/>
              </a:rPr>
              <a:t>?</a:t>
            </a:r>
            <a:endParaRPr lang="en-US" sz="7200" dirty="0"/>
          </a:p>
        </p:txBody>
      </p:sp>
      <p:sp>
        <p:nvSpPr>
          <p:cNvPr id="12" name="Text 10"/>
          <p:cNvSpPr/>
          <p:nvPr/>
        </p:nvSpPr>
        <p:spPr>
          <a:xfrm>
            <a:off x="1371600" y="1828800"/>
            <a:ext cx="6400800" cy="640080"/>
          </a:xfrm>
          <a:prstGeom prst="rect">
            <a:avLst/>
          </a:prstGeom>
          <a:noFill/>
          <a:ln/>
        </p:spPr>
        <p:txBody>
          <a:bodyPr wrap="square" lIns="0" tIns="0" rIns="0" bIns="0" rtlCol="0" anchor="ctr"/>
          <a:lstStyle/>
          <a:p>
            <a:pPr algn="ctr" indent="0" marL="0">
              <a:buNone/>
            </a:pPr>
            <a:r>
              <a:rPr lang="en-US" sz="3200" b="1" dirty="0">
                <a:solidFill>
                  <a:srgbClr val="FFFFFF"/>
                </a:solidFill>
                <a:latin typeface="Consolas" pitchFamily="34" charset="0"/>
                <a:ea typeface="Consolas" pitchFamily="34" charset="-122"/>
                <a:cs typeface="Consolas" pitchFamily="34" charset="-120"/>
              </a:rPr>
              <a:t>Questions &amp; Discussion</a:t>
            </a:r>
            <a:endParaRPr lang="en-US" sz="3200" dirty="0"/>
          </a:p>
        </p:txBody>
      </p:sp>
      <p:sp>
        <p:nvSpPr>
          <p:cNvPr id="13" name="Text 11"/>
          <p:cNvSpPr/>
          <p:nvPr/>
        </p:nvSpPr>
        <p:spPr>
          <a:xfrm>
            <a:off x="1371600" y="2606040"/>
            <a:ext cx="6400800" cy="457200"/>
          </a:xfrm>
          <a:prstGeom prst="rect">
            <a:avLst/>
          </a:prstGeom>
          <a:noFill/>
          <a:ln/>
        </p:spPr>
        <p:txBody>
          <a:bodyPr wrap="square" lIns="0" tIns="0" rIns="0" bIns="0" rtlCol="0" anchor="ctr"/>
          <a:lstStyle/>
          <a:p>
            <a:pPr algn="ctr" indent="0" marL="0">
              <a:buNone/>
            </a:pPr>
            <a:r>
              <a:rPr lang="en-US" sz="1600" dirty="0">
                <a:solidFill>
                  <a:srgbClr val="00FF88"/>
                </a:solidFill>
                <a:latin typeface="Consolas" pitchFamily="34" charset="0"/>
                <a:ea typeface="Consolas" pitchFamily="34" charset="-122"/>
                <a:cs typeface="Consolas" pitchFamily="34" charset="-120"/>
              </a:rPr>
              <a:t>root@re-lab:~# █</a:t>
            </a:r>
            <a:endParaRPr lang="en-US" sz="1600" dirty="0"/>
          </a:p>
        </p:txBody>
      </p:sp>
      <p:sp>
        <p:nvSpPr>
          <p:cNvPr id="14" name="Text 12"/>
          <p:cNvSpPr/>
          <p:nvPr/>
        </p:nvSpPr>
        <p:spPr>
          <a:xfrm>
            <a:off x="1371600" y="3337560"/>
            <a:ext cx="6400800" cy="320040"/>
          </a:xfrm>
          <a:prstGeom prst="rect">
            <a:avLst/>
          </a:prstGeom>
          <a:noFill/>
          <a:ln/>
        </p:spPr>
        <p:txBody>
          <a:bodyPr wrap="square" lIns="0" tIns="0" rIns="0" bIns="0" rtlCol="0" anchor="ctr"/>
          <a:lstStyle/>
          <a:p>
            <a:pPr algn="ctr" indent="0" marL="0">
              <a:buNone/>
            </a:pPr>
            <a:r>
              <a:rPr lang="en-US" sz="1000" dirty="0">
                <a:solidFill>
                  <a:srgbClr val="8B9BB4"/>
                </a:solidFill>
                <a:latin typeface="Calibri" pitchFamily="34" charset="0"/>
                <a:ea typeface="Calibri" pitchFamily="34" charset="-122"/>
                <a:cs typeface="Calibri" pitchFamily="34" charset="-120"/>
              </a:rPr>
              <a:t>Thank you for attending · Practice responsibly · Hack the planet ethically</a:t>
            </a:r>
            <a:endParaRPr lang="en-US" sz="1000" dirty="0"/>
          </a:p>
        </p:txBody>
      </p:sp>
      <p:sp>
        <p:nvSpPr>
          <p:cNvPr id="15" name="Shape 13"/>
          <p:cNvSpPr/>
          <p:nvPr/>
        </p:nvSpPr>
        <p:spPr>
          <a:xfrm>
            <a:off x="164592" y="164592"/>
            <a:ext cx="365760" cy="45720"/>
          </a:xfrm>
          <a:prstGeom prst="rect">
            <a:avLst/>
          </a:prstGeom>
          <a:solidFill>
            <a:srgbClr val="00FF88"/>
          </a:solidFill>
          <a:ln w="12700">
            <a:solidFill>
              <a:srgbClr val="00FF88"/>
            </a:solidFill>
            <a:prstDash val="solid"/>
          </a:ln>
        </p:spPr>
      </p:sp>
      <p:sp>
        <p:nvSpPr>
          <p:cNvPr id="16" name="Shape 14"/>
          <p:cNvSpPr/>
          <p:nvPr/>
        </p:nvSpPr>
        <p:spPr>
          <a:xfrm>
            <a:off x="164592" y="164592"/>
            <a:ext cx="45720" cy="274320"/>
          </a:xfrm>
          <a:prstGeom prst="rect">
            <a:avLst/>
          </a:prstGeom>
          <a:solidFill>
            <a:srgbClr val="00FF88"/>
          </a:solidFill>
          <a:ln w="12700">
            <a:solidFill>
              <a:srgbClr val="00FF88"/>
            </a:solidFill>
            <a:prstDash val="solid"/>
          </a:ln>
        </p:spPr>
      </p:sp>
      <p:sp>
        <p:nvSpPr>
          <p:cNvPr id="17" name="Shape 15"/>
          <p:cNvSpPr/>
          <p:nvPr/>
        </p:nvSpPr>
        <p:spPr>
          <a:xfrm>
            <a:off x="8613648" y="4910328"/>
            <a:ext cx="365760" cy="45720"/>
          </a:xfrm>
          <a:prstGeom prst="rect">
            <a:avLst/>
          </a:prstGeom>
          <a:solidFill>
            <a:srgbClr val="00D4FF"/>
          </a:solidFill>
          <a:ln w="12700">
            <a:solidFill>
              <a:srgbClr val="00D4FF"/>
            </a:solidFill>
            <a:prstDash val="solid"/>
          </a:ln>
        </p:spPr>
      </p:sp>
      <p:sp>
        <p:nvSpPr>
          <p:cNvPr id="18" name="Shape 16"/>
          <p:cNvSpPr/>
          <p:nvPr/>
        </p:nvSpPr>
        <p:spPr>
          <a:xfrm>
            <a:off x="8933688" y="4681728"/>
            <a:ext cx="45720" cy="274320"/>
          </a:xfrm>
          <a:prstGeom prst="rect">
            <a:avLst/>
          </a:prstGeom>
          <a:solidFill>
            <a:srgbClr val="00D4FF"/>
          </a:solidFill>
          <a:ln w="12700">
            <a:solidFill>
              <a:srgbClr val="00D4FF"/>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Reverse Engineering for Beginners</dc:title>
  <dc:subject>PptxGenJS Presentation</dc:subject>
  <dc:creator>Cybersecurity Training</dc:creator>
  <cp:lastModifiedBy>Cybersecurity Training</cp:lastModifiedBy>
  <cp:revision>1</cp:revision>
  <dcterms:created xsi:type="dcterms:W3CDTF">2026-05-23T02:48:34Z</dcterms:created>
  <dcterms:modified xsi:type="dcterms:W3CDTF">2026-05-23T02:48:34Z</dcterms:modified>
</cp:coreProperties>
</file>