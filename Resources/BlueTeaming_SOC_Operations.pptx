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7F27D2-D936-4A7C-8325-DE90251F6E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7EF487-60E6-483A-BAAE-CA77C629B5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19853E-E36B-42DB-B1C3-F1D9E30167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8B9126-1F52-4A0E-8A5D-BE9A6F3D86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999759-BB43-489C-B469-D8DA938759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8B310E-9029-46A0-8E3A-653A086068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FB1E8B-D598-46A2-B86A-D6DC499892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F6F2E7-67D8-4693-820B-B2E52819C7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1C6462-8836-4F9F-BB47-6B8819807F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6DEBE0-3BCC-4E55-9C61-7F3A085C47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BBDAEA-9595-407B-970A-3CCC890F55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E6EDBF-393A-4AC5-BB5F-1C8078033E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2AA7E3-32B8-4C23-8F8F-610857D3E7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1517D0-DD9B-4177-A246-05C90A4BB2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6EFD00-28F3-474C-9197-34FFC16E77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B579D6-88A3-4199-91EE-AC8D797806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60D19-6AE7-4691-B563-154B4A53DD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D4443F-24E1-42A2-9844-A48BDF64B9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88043F-67C3-4170-83EE-549D597E70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124113-3D09-4116-9725-CE16FA22A4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8191DA-CB85-4C07-A4DC-E205E2ED2B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7E03E7-8A43-4B99-842B-35C7D317E5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7DBD0D-000C-49A8-843B-E670EA1E51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26D4A-35A9-40B2-8E81-96A53A615E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398CAC-2E70-4988-82D3-AA32C1F0A3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35DCFF-85A3-4288-84D0-C972038B82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DBC6B9-3C39-4CE5-973E-E8C16D155C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-457200"/>
            <a:ext cx="3200040" cy="3200040"/>
          </a:xfrm>
          <a:prstGeom prst="ellipse">
            <a:avLst/>
          </a:prstGeom>
          <a:solidFill>
            <a:srgbClr val="0F2942"/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498080" y="2560320"/>
            <a:ext cx="2011320" cy="20113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00584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BLUE TEAMING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169164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&amp; SOC OPERATIONS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246888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Comprehensive Study Notes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30175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Cybersecurity — Defensive Security Operations Reference  |  2025 Edition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356616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01  Blue Teaming Fundamentals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391356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02  Types of Logs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57200" y="426096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03  The 5W1H Framework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7200" y="460872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04  SOC Analysis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572000" y="356616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05  Incident Response (IR)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572000" y="391356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06  Cyber Threat Intelligence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4572000" y="426096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07  How to Analyze a Log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4572000" y="460872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08  Quick Reference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2286000"/>
            <a:ext cx="9143640" cy="4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48640" y="64008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00D4AA">
                    <a:alpha val="70000"/>
                  </a:srgbClr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548640" y="24231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BLUE TEAMING FUNDAMENTALS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548640" y="3200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What it is, roles, tools &amp; frameworks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BLUE TEAMING — OVERVIEW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320040" y="621720"/>
            <a:ext cx="5120280" cy="425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320040" y="621720"/>
            <a:ext cx="5120280" cy="292320"/>
          </a:xfrm>
          <a:prstGeom prst="rect">
            <a:avLst/>
          </a:prstGeom>
          <a:solidFill>
            <a:srgbClr val="00A8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11480" y="621720"/>
            <a:ext cx="4937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WHAT IS BLUE TEAMING?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29840" y="960120"/>
            <a:ext cx="48916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Blue Teaming is </a:t>
            </a:r>
            <a:r>
              <a:rPr lang="en-US" sz="11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defensive cybersecurity operations</a:t>
            </a: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 where a dedicated team protects an organization's systems, networks, and data from both external and internal threats.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Core Mission: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Detect, prevent, and respond to cyber threats before they cause damage to the organization's assets, data, or reputation.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Core Mindset: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29840" y="2971800"/>
            <a:ext cx="4891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Assuming Breach — attacker may already be inside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Defense in Depth — layer multiple controls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Zero Trust — verify every request regardless of source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Continuous Improvement — learn from incidents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5669280" y="621720"/>
            <a:ext cx="3154320" cy="959760"/>
          </a:xfrm>
          <a:prstGeom prst="rect">
            <a:avLst/>
          </a:prstGeom>
          <a:solidFill>
            <a:srgbClr val="161B22"/>
          </a:solidFill>
          <a:ln w="254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5779080" y="6768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BLUE TEAM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5779080" y="95112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Defenders — monitor, detect, respond. Operate 24/7 in the SOC.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5669280" y="1673280"/>
            <a:ext cx="3154320" cy="959760"/>
          </a:xfrm>
          <a:prstGeom prst="rect">
            <a:avLst/>
          </a:prstGeom>
          <a:solidFill>
            <a:srgbClr val="161B22"/>
          </a:solidFill>
          <a:ln w="25400">
            <a:solidFill>
              <a:srgbClr val="F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5779080" y="172836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4444"/>
                </a:solidFill>
                <a:effectLst/>
                <a:uFillTx/>
                <a:latin typeface="Consolas"/>
                <a:ea typeface="Consolas"/>
              </a:rPr>
              <a:t>RED TEAM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5779080" y="20026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Attackers — simulate real-world threat actors via penetration testing.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5669280" y="2724840"/>
            <a:ext cx="3154320" cy="959760"/>
          </a:xfrm>
          <a:prstGeom prst="rect">
            <a:avLst/>
          </a:prstGeom>
          <a:solidFill>
            <a:srgbClr val="161B22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5779080" y="27799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B59B6"/>
                </a:solidFill>
                <a:effectLst/>
                <a:uFillTx/>
                <a:latin typeface="Consolas"/>
                <a:ea typeface="Consolas"/>
              </a:rPr>
              <a:t>PURPLE TEAM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5779080" y="30542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Blue + Red collaboration sharing findings to improve detection.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6"/>
          <p:cNvSpPr/>
          <p:nvPr/>
        </p:nvSpPr>
        <p:spPr>
          <a:xfrm>
            <a:off x="5669280" y="3776400"/>
            <a:ext cx="3154320" cy="95976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5779080" y="383148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WHITE TEAM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5779080" y="410580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Administrators in exercises who set rules and evaluate performance.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KEY TOOLS &amp; FRAMEWORKS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320040" y="640080"/>
            <a:ext cx="2742840" cy="1188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320040" y="640080"/>
            <a:ext cx="72720" cy="1188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466200" y="7131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SIEM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466200" y="1024200"/>
            <a:ext cx="2514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Log aggregation, alerting &amp; correlation. Splunk, IBM QRadar, Microsoft Sentinel.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3200400" y="640080"/>
            <a:ext cx="2742840" cy="1188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3200400" y="640080"/>
            <a:ext cx="72720" cy="1188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3346560" y="7131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IDS/IPS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3346560" y="1024200"/>
            <a:ext cx="2514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Monitor traffic for malicious patterns. Snort, Suricata.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6080760" y="640080"/>
            <a:ext cx="2742840" cy="1188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6080760" y="640080"/>
            <a:ext cx="72720" cy="1188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6226920" y="7131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EDR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6226920" y="1024200"/>
            <a:ext cx="2514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Endpoint threat monitoring. CrowdStrike, Carbon Black.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320040" y="2011680"/>
            <a:ext cx="2742840" cy="1188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320040" y="2011680"/>
            <a:ext cx="72720" cy="1188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466200" y="20847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SOAR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466200" y="2395800"/>
            <a:ext cx="2514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Automates repetitive SOC tasks and playbooks.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8"/>
          <p:cNvSpPr/>
          <p:nvPr/>
        </p:nvSpPr>
        <p:spPr>
          <a:xfrm>
            <a:off x="3200400" y="2011680"/>
            <a:ext cx="2742840" cy="1188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3200400" y="2011680"/>
            <a:ext cx="72720" cy="1188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0"/>
          <p:cNvSpPr/>
          <p:nvPr/>
        </p:nvSpPr>
        <p:spPr>
          <a:xfrm>
            <a:off x="3346560" y="20847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Firewall/WAF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3346560" y="2395800"/>
            <a:ext cx="2514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Filter malicious network and web app traffic.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6080760" y="2011680"/>
            <a:ext cx="2742840" cy="1188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3"/>
          <p:cNvSpPr/>
          <p:nvPr/>
        </p:nvSpPr>
        <p:spPr>
          <a:xfrm>
            <a:off x="6080760" y="2011680"/>
            <a:ext cx="72720" cy="1188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6226920" y="20847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Threat Intel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6226920" y="2395800"/>
            <a:ext cx="2514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MISP, ThreatConnect for aggregating threat data.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6"/>
          <p:cNvSpPr/>
          <p:nvPr/>
        </p:nvSpPr>
        <p:spPr>
          <a:xfrm>
            <a:off x="320040" y="3017520"/>
            <a:ext cx="8503560" cy="1782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429840" y="3063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FRAMEWORKS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429840" y="3355920"/>
            <a:ext cx="8320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MITRE ATT&amp;CK — Adversary TTPs knowledge base for mapping attacks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NIST CSF — Identify, Protect, Detect, Respond, Recover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CIS Controls — Prioritized security controls for defense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D3FEND — MITRE framework for defensive techniques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Cyber Kill Chain — Maps attack stages for early detection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0" y="2286000"/>
            <a:ext cx="9143640" cy="4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548640" y="64008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00D4AA">
                    <a:alpha val="70000"/>
                  </a:srgbClr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548640" y="24231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TYPES OF LOGS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48640" y="3200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The foundation of all Blue Team visibility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LOG CATEGORIES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320040" y="61272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320040" y="612720"/>
            <a:ext cx="2742840" cy="2923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429840" y="6127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SYSTEM LOGS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411480" y="94176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Windows Event Logs (.evtx)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Linux Syslog /var/log/syslog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Auth Log /var/log/auth.log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Key Event IDs: 4624, 4625, 4688, 7045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3200400" y="61272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3200400" y="612720"/>
            <a:ext cx="2742840" cy="292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3310200" y="6127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NETWORK LOGS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3291840" y="94176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Firewall allow/deny logs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NetFlow / IPFIX traffic summaries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DNS query logs (C2 detection)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DHCP IP-to-device mapping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6080760" y="61272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6080760" y="612720"/>
            <a:ext cx="2742840" cy="292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6190560" y="6127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APPLICATION LOGS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6172200" y="94176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Web server logs (Apache/Nginx/IIS)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Database query &amp; login logs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Email server SMTP logs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Application error/crash logs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320040" y="276156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320040" y="2761560"/>
            <a:ext cx="2742840" cy="292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429840" y="2761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SECURITY LOGS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411480" y="309060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SIEM correlated alerts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EDR/AV detections &amp; quarantine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WAF attack logs (SQLi, XSS)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VPN remote access sessions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3200400" y="276156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3200400" y="2761560"/>
            <a:ext cx="2742840" cy="292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3310200" y="2761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ENDPOINT LOGS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1"/>
          <p:cNvSpPr/>
          <p:nvPr/>
        </p:nvSpPr>
        <p:spPr>
          <a:xfrm>
            <a:off x="3291840" y="309060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Process execution records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Windows Registry read/write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PowerShell script block logging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Sysmon enhanced telemetry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2"/>
          <p:cNvSpPr/>
          <p:nvPr/>
        </p:nvSpPr>
        <p:spPr>
          <a:xfrm>
            <a:off x="6080760" y="276156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6080760" y="2761560"/>
            <a:ext cx="2742840" cy="29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4"/>
          <p:cNvSpPr/>
          <p:nvPr/>
        </p:nvSpPr>
        <p:spPr>
          <a:xfrm>
            <a:off x="6190560" y="2761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CLOUD LOGS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5"/>
          <p:cNvSpPr/>
          <p:nvPr/>
        </p:nvSpPr>
        <p:spPr>
          <a:xfrm>
            <a:off x="6172200" y="309060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AWS CloudTrail (API calls)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Azure Monitor / Activity Log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GCP Cloud Audit Logs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Container/Kubernetes events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CRITICAL WINDOWS EVENT IDS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" name="Table 0"/>
          <p:cNvGraphicFramePr/>
          <p:nvPr/>
        </p:nvGraphicFramePr>
        <p:xfrm>
          <a:off x="320040" y="640080"/>
          <a:ext cx="8503560" cy="429732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3291840"/>
              </a:tblGrid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Event ID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Description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Significance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4624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Successful account logon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 — watch for unusual logon types/times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4625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Failed account logon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 frequency = brute force indicator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4648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Logon using explicit credentials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Indicates Pass the Hash / credential reuse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4688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New process created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Process execution — watch for unusual parents/paths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4698 / 4702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Scheduled task created/modified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Common persistence mechanism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4719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System audit policy changed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Attacker disabling logging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7045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New service installed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Malware installation / persistence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1102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Security audit log cleared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 tampering — high severity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42948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4732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Member added to local security group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Privilege escalation indicator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0" y="2286000"/>
            <a:ext cx="9143640" cy="4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548640" y="64008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00D4AA">
                    <a:alpha val="70000"/>
                  </a:srgbClr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548640" y="24231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THE 5W1H FRAMEWORK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548640" y="3200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Structured investigation methodology for every alert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5W1H — INVESTIGATION FRAMEWORK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320040" y="612720"/>
            <a:ext cx="2742840" cy="20113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429840" y="68580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WHAT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429840" y="1271160"/>
            <a:ext cx="25142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What type of attack? What systems/data affected? What IoCs were observed? What controls detected/failed?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3200400" y="612720"/>
            <a:ext cx="2742840" cy="2011320"/>
          </a:xfrm>
          <a:prstGeom prst="rect">
            <a:avLst/>
          </a:prstGeom>
          <a:solidFill>
            <a:srgbClr val="161B22"/>
          </a:solidFill>
          <a:ln w="254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3310200" y="68580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WHEN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3310200" y="1271160"/>
            <a:ext cx="25142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When initiated? When detected (MTTD)? Full attack timeline from initial access to exfiltration. Normalize to UTC.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8"/>
          <p:cNvSpPr/>
          <p:nvPr/>
        </p:nvSpPr>
        <p:spPr>
          <a:xfrm>
            <a:off x="6080760" y="612720"/>
            <a:ext cx="2742840" cy="2011320"/>
          </a:xfrm>
          <a:prstGeom prst="rect">
            <a:avLst/>
          </a:prstGeom>
          <a:solidFill>
            <a:srgbClr val="161B22"/>
          </a:solidFill>
          <a:ln w="254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6190560" y="68580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HOW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6190560" y="1271160"/>
            <a:ext cx="25142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How did attacker gain access? How did they escalate privileges? How did they move laterally? Map to MITRE ATT&amp;CK.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320040" y="2761560"/>
            <a:ext cx="2742840" cy="2011320"/>
          </a:xfrm>
          <a:prstGeom prst="rect">
            <a:avLst/>
          </a:prstGeom>
          <a:solidFill>
            <a:srgbClr val="161B22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429840" y="28346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7AE60"/>
                </a:solidFill>
                <a:effectLst/>
                <a:uFillTx/>
                <a:latin typeface="Consolas"/>
                <a:ea typeface="Consolas"/>
              </a:rPr>
              <a:t>WHERE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429840" y="3420000"/>
            <a:ext cx="25142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Which systems/VLANs compromised? Where geographically did attack originate? Where was data exfiltrated from?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3200400" y="2761560"/>
            <a:ext cx="2742840" cy="2011320"/>
          </a:xfrm>
          <a:prstGeom prst="rect">
            <a:avLst/>
          </a:prstGeom>
          <a:solidFill>
            <a:srgbClr val="161B22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3310200" y="28346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9B59B6"/>
                </a:solidFill>
                <a:effectLst/>
                <a:uFillTx/>
                <a:latin typeface="Consolas"/>
                <a:ea typeface="Consolas"/>
              </a:rPr>
              <a:t>WHO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3310200" y="3420000"/>
            <a:ext cx="25142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Who is the threat actor? Which accounts compromised? Who needs to be notified? (CISO, Legal, PR, Regulators)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6080760" y="2761560"/>
            <a:ext cx="2742840" cy="2011320"/>
          </a:xfrm>
          <a:prstGeom prst="rect">
            <a:avLst/>
          </a:prstGeom>
          <a:solidFill>
            <a:srgbClr val="161B22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6190560" y="28346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74C3C"/>
                </a:solidFill>
                <a:effectLst/>
                <a:uFillTx/>
                <a:latin typeface="Consolas"/>
                <a:ea typeface="Consolas"/>
              </a:rPr>
              <a:t>WHY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6190560" y="3420000"/>
            <a:ext cx="25142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Why was this org targeted? Why did the attack succeed? Root cause analysis → corrective actions.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"/>
          <p:cNvSpPr/>
          <p:nvPr/>
        </p:nvSpPr>
        <p:spPr>
          <a:xfrm>
            <a:off x="0" y="2286000"/>
            <a:ext cx="9143640" cy="4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48640" y="64008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00D4AA">
                    <a:alpha val="70000"/>
                  </a:srgbClr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48640" y="24231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SOC ANALYSIS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548640" y="3200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Triage workflow, analyst tiers, metrics &amp; SIEM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SOC ANALYST TIERS &amp; WORKFLOW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320040" y="612720"/>
            <a:ext cx="502560" cy="914040"/>
          </a:xfrm>
          <a:prstGeom prst="rect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320040" y="8870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TIER 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822960" y="612720"/>
            <a:ext cx="3794400" cy="914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932760" y="6674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Alert Analyst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932760" y="941760"/>
            <a:ext cx="3565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First-line triage. Review SIEM/EDR alerts. Determine true positive, false positive, or escalate. High volume, repetitive work.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320040" y="1636920"/>
            <a:ext cx="502560" cy="914040"/>
          </a:xfrm>
          <a:prstGeom prst="rect">
            <a:avLst/>
          </a:prstGeom>
          <a:solidFill>
            <a:srgbClr val="1E9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320040" y="19112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TIER 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822960" y="1636920"/>
            <a:ext cx="3794400" cy="914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932760" y="16916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Incident Responder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932760" y="1965960"/>
            <a:ext cx="3565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Deep-dive investigation of escalated incidents. Correlate logs, identify attack scope, contain threats.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320040" y="2660760"/>
            <a:ext cx="502560" cy="914040"/>
          </a:xfrm>
          <a:prstGeom prst="rect">
            <a:avLst/>
          </a:prstGeom>
          <a:solidFill>
            <a:srgbClr val="F0A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320040" y="293508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TIER 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822960" y="2660760"/>
            <a:ext cx="3794400" cy="914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932760" y="27158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Threat Hunter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932760" y="2990160"/>
            <a:ext cx="3565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Proactively hunt for threats not caught by automated tools. Develop detection content. Reverse engineer malware.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7"/>
          <p:cNvSpPr/>
          <p:nvPr/>
        </p:nvSpPr>
        <p:spPr>
          <a:xfrm>
            <a:off x="320040" y="3684960"/>
            <a:ext cx="502560" cy="914040"/>
          </a:xfrm>
          <a:prstGeom prst="rect">
            <a:avLst/>
          </a:prstGeom>
          <a:solidFill>
            <a:srgbClr val="8B94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8"/>
          <p:cNvSpPr/>
          <p:nvPr/>
        </p:nvSpPr>
        <p:spPr>
          <a:xfrm>
            <a:off x="320040" y="395928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SOC MGR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9"/>
          <p:cNvSpPr/>
          <p:nvPr/>
        </p:nvSpPr>
        <p:spPr>
          <a:xfrm>
            <a:off x="822960" y="3684960"/>
            <a:ext cx="3794400" cy="914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0"/>
          <p:cNvSpPr/>
          <p:nvPr/>
        </p:nvSpPr>
        <p:spPr>
          <a:xfrm>
            <a:off x="932760" y="37400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Manager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932760" y="4014360"/>
            <a:ext cx="35658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Oversee operations, SLA compliance, metrics, vendor relations, and CISO reporting.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2"/>
          <p:cNvSpPr/>
          <p:nvPr/>
        </p:nvSpPr>
        <p:spPr>
          <a:xfrm>
            <a:off x="4937760" y="612720"/>
            <a:ext cx="3885840" cy="914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3"/>
          <p:cNvSpPr/>
          <p:nvPr/>
        </p:nvSpPr>
        <p:spPr>
          <a:xfrm>
            <a:off x="4937760" y="612720"/>
            <a:ext cx="38858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4"/>
          <p:cNvSpPr/>
          <p:nvPr/>
        </p:nvSpPr>
        <p:spPr>
          <a:xfrm>
            <a:off x="5047560" y="7041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MTTD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5"/>
          <p:cNvSpPr/>
          <p:nvPr/>
        </p:nvSpPr>
        <p:spPr>
          <a:xfrm>
            <a:off x="5047560" y="97848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Mean Time to Detect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6"/>
          <p:cNvSpPr/>
          <p:nvPr/>
        </p:nvSpPr>
        <p:spPr>
          <a:xfrm>
            <a:off x="5047560" y="11977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Avg time from attack start to detection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7"/>
          <p:cNvSpPr/>
          <p:nvPr/>
        </p:nvSpPr>
        <p:spPr>
          <a:xfrm>
            <a:off x="4937760" y="1636920"/>
            <a:ext cx="3885840" cy="914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8"/>
          <p:cNvSpPr/>
          <p:nvPr/>
        </p:nvSpPr>
        <p:spPr>
          <a:xfrm>
            <a:off x="4937760" y="1636920"/>
            <a:ext cx="38858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9"/>
          <p:cNvSpPr/>
          <p:nvPr/>
        </p:nvSpPr>
        <p:spPr>
          <a:xfrm>
            <a:off x="5047560" y="17283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MTTR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0"/>
          <p:cNvSpPr/>
          <p:nvPr/>
        </p:nvSpPr>
        <p:spPr>
          <a:xfrm>
            <a:off x="5047560" y="200268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Mean Time to Respond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1"/>
          <p:cNvSpPr/>
          <p:nvPr/>
        </p:nvSpPr>
        <p:spPr>
          <a:xfrm>
            <a:off x="5047560" y="22219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Avg time from detection to resolution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2"/>
          <p:cNvSpPr/>
          <p:nvPr/>
        </p:nvSpPr>
        <p:spPr>
          <a:xfrm>
            <a:off x="4937760" y="2660760"/>
            <a:ext cx="3885840" cy="914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3"/>
          <p:cNvSpPr/>
          <p:nvPr/>
        </p:nvSpPr>
        <p:spPr>
          <a:xfrm>
            <a:off x="4937760" y="2660760"/>
            <a:ext cx="38858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4"/>
          <p:cNvSpPr/>
          <p:nvPr/>
        </p:nvSpPr>
        <p:spPr>
          <a:xfrm>
            <a:off x="5047560" y="27522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MTTA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5"/>
          <p:cNvSpPr/>
          <p:nvPr/>
        </p:nvSpPr>
        <p:spPr>
          <a:xfrm>
            <a:off x="5047560" y="302652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Mean Time to Acknowledge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6"/>
          <p:cNvSpPr/>
          <p:nvPr/>
        </p:nvSpPr>
        <p:spPr>
          <a:xfrm>
            <a:off x="5047560" y="32461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How quickly analysts begin working alert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7"/>
          <p:cNvSpPr/>
          <p:nvPr/>
        </p:nvSpPr>
        <p:spPr>
          <a:xfrm>
            <a:off x="4937760" y="3684960"/>
            <a:ext cx="3885840" cy="914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8"/>
          <p:cNvSpPr/>
          <p:nvPr/>
        </p:nvSpPr>
        <p:spPr>
          <a:xfrm>
            <a:off x="4937760" y="3684960"/>
            <a:ext cx="38858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9"/>
          <p:cNvSpPr/>
          <p:nvPr/>
        </p:nvSpPr>
        <p:spPr>
          <a:xfrm>
            <a:off x="5047560" y="37764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Dwell Time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0"/>
          <p:cNvSpPr/>
          <p:nvPr/>
        </p:nvSpPr>
        <p:spPr>
          <a:xfrm>
            <a:off x="5047560" y="405072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Attacker Presence Duration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1"/>
          <p:cNvSpPr/>
          <p:nvPr/>
        </p:nvSpPr>
        <p:spPr>
          <a:xfrm>
            <a:off x="5047560" y="42703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How long attacker remains undetected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7-STEP ALERT TRIAGE PROCESS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320040" y="704160"/>
            <a:ext cx="502560" cy="50256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320040" y="70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4"/>
          <p:cNvSpPr/>
          <p:nvPr/>
        </p:nvSpPr>
        <p:spPr>
          <a:xfrm>
            <a:off x="914400" y="612720"/>
            <a:ext cx="370296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1033200" y="6674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READ THE ALERT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1033200" y="960120"/>
            <a:ext cx="3474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Understand what rule triggered and the underlying data.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320040" y="1801440"/>
            <a:ext cx="502560" cy="50256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320040" y="1801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914400" y="1710000"/>
            <a:ext cx="370296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1033200" y="17647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ENRICH CONTEXT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1033200" y="2057400"/>
            <a:ext cx="3474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Look up source/dest IP, user account, hostname in asset inventory and threat intel.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2"/>
          <p:cNvSpPr/>
          <p:nvPr/>
        </p:nvSpPr>
        <p:spPr>
          <a:xfrm>
            <a:off x="320040" y="2898720"/>
            <a:ext cx="502560" cy="50256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320040" y="289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914400" y="2807280"/>
            <a:ext cx="370296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1033200" y="28620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REVIEW RELATED EVENTS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1033200" y="3154680"/>
            <a:ext cx="3474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Query SIEM for other events from same source in past 24–72 hours.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7"/>
          <p:cNvSpPr/>
          <p:nvPr/>
        </p:nvSpPr>
        <p:spPr>
          <a:xfrm>
            <a:off x="320040" y="3996000"/>
            <a:ext cx="502560" cy="50256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320040" y="3996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914400" y="3904560"/>
            <a:ext cx="370296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0"/>
          <p:cNvSpPr/>
          <p:nvPr/>
        </p:nvSpPr>
        <p:spPr>
          <a:xfrm>
            <a:off x="1033200" y="39592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PIVOT ON IoCs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1033200" y="4251960"/>
            <a:ext cx="3474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If a malicious IP or hash appears, search for it across all systems.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2"/>
          <p:cNvSpPr/>
          <p:nvPr/>
        </p:nvSpPr>
        <p:spPr>
          <a:xfrm>
            <a:off x="4754880" y="704160"/>
            <a:ext cx="502560" cy="50256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3"/>
          <p:cNvSpPr/>
          <p:nvPr/>
        </p:nvSpPr>
        <p:spPr>
          <a:xfrm>
            <a:off x="4754880" y="70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4"/>
          <p:cNvSpPr/>
          <p:nvPr/>
        </p:nvSpPr>
        <p:spPr>
          <a:xfrm>
            <a:off x="5349240" y="612720"/>
            <a:ext cx="370296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5"/>
          <p:cNvSpPr/>
          <p:nvPr/>
        </p:nvSpPr>
        <p:spPr>
          <a:xfrm>
            <a:off x="5468040" y="6674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DETERMINE LEGITIMACY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6"/>
          <p:cNvSpPr/>
          <p:nvPr/>
        </p:nvSpPr>
        <p:spPr>
          <a:xfrm>
            <a:off x="5468040" y="960120"/>
            <a:ext cx="3474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Known tool? Authorized activity? Scheduled task? False positive?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7"/>
          <p:cNvSpPr/>
          <p:nvPr/>
        </p:nvSpPr>
        <p:spPr>
          <a:xfrm>
            <a:off x="4754880" y="1801440"/>
            <a:ext cx="502560" cy="50256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8"/>
          <p:cNvSpPr/>
          <p:nvPr/>
        </p:nvSpPr>
        <p:spPr>
          <a:xfrm>
            <a:off x="4754880" y="1801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9"/>
          <p:cNvSpPr/>
          <p:nvPr/>
        </p:nvSpPr>
        <p:spPr>
          <a:xfrm>
            <a:off x="5349240" y="1710000"/>
            <a:ext cx="370296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0"/>
          <p:cNvSpPr/>
          <p:nvPr/>
        </p:nvSpPr>
        <p:spPr>
          <a:xfrm>
            <a:off x="5468040" y="17647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CLASSIFY &amp; DOCUMENT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1"/>
          <p:cNvSpPr/>
          <p:nvPr/>
        </p:nvSpPr>
        <p:spPr>
          <a:xfrm>
            <a:off x="5468040" y="2057400"/>
            <a:ext cx="3474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Record findings in ticketing system (ServiceNow, JIRA).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2"/>
          <p:cNvSpPr/>
          <p:nvPr/>
        </p:nvSpPr>
        <p:spPr>
          <a:xfrm>
            <a:off x="4754880" y="2898720"/>
            <a:ext cx="502560" cy="50256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3"/>
          <p:cNvSpPr/>
          <p:nvPr/>
        </p:nvSpPr>
        <p:spPr>
          <a:xfrm>
            <a:off x="4754880" y="2898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4"/>
          <p:cNvSpPr/>
          <p:nvPr/>
        </p:nvSpPr>
        <p:spPr>
          <a:xfrm>
            <a:off x="5349240" y="2807280"/>
            <a:ext cx="370296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5"/>
          <p:cNvSpPr/>
          <p:nvPr/>
        </p:nvSpPr>
        <p:spPr>
          <a:xfrm>
            <a:off x="5468040" y="28620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ESCALATE OR CLOSE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6"/>
          <p:cNvSpPr/>
          <p:nvPr/>
        </p:nvSpPr>
        <p:spPr>
          <a:xfrm>
            <a:off x="5468040" y="3154680"/>
            <a:ext cx="3474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Escalate true positives; close false positives with clear reasoning.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0" y="2286000"/>
            <a:ext cx="9143640" cy="4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548640" y="64008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00D4AA">
                    <a:alpha val="70000"/>
                  </a:srgbClr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548640" y="24231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INCIDENT RESPONSE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548640" y="3200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NIST SP 800-61 lifecycle, containment &amp; forensics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IR LIFECYCLE — NIST SP 800-61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8" name="Table 0"/>
          <p:cNvGraphicFramePr/>
          <p:nvPr/>
        </p:nvGraphicFramePr>
        <p:xfrm>
          <a:off x="320040" y="640080"/>
          <a:ext cx="8503560" cy="429732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91840"/>
              </a:tblGrid>
              <a:tr h="6138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Phase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Description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Key Actions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6138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 Preparation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Build IR capability before an incident occurs.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IR plan, CSIRT assembly, monitoring tools, tabletop exercises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6138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2. Detection &amp; Analysis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Identify incidents via alerts, reports, or threat hunting.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Analyze evidence to determine scope and severity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38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 Containment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Isolate affected systems. Short-term and long-term strategies.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Network isolation, host quarantine, account disablement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6138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4. Eradication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Remove root cause of the incident.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Delete malware, close attack vectors, patch, reset credentials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6138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5. Recovery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Restore systems, validate integrity, monitor closely.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Restore from clean backups, verify before returning to prod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6138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6. Post-Incident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Document, improve, prevent recurrence.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Lessons learned, incident report, security control updates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CONTAINMENT STRATEGIES &amp; FORENSIC EVIDENCE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320040" y="612720"/>
            <a:ext cx="4297320" cy="425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320040" y="612720"/>
            <a:ext cx="4297320" cy="292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429840" y="61272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CONTAINMENT STRATEGIES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411480" y="941760"/>
            <a:ext cx="4114440" cy="38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Network Isolation — VLAN quarantine at firewall/switch level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Host Isolation — EDR remote endpoint isolation from network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Account Disablement — disable compromised AD/IAM accounts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IP/Domain Blocking — add IoCs to firewall &amp; DNS sinkholes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Traffic Redirection — sinkhole C2 traffic for intelligence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Credential Reset — force-reset all potentially affected accounts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4846320" y="612720"/>
            <a:ext cx="3977280" cy="959760"/>
          </a:xfrm>
          <a:prstGeom prst="rect">
            <a:avLst/>
          </a:prstGeom>
          <a:solidFill>
            <a:srgbClr val="161B22"/>
          </a:solidFill>
          <a:ln w="25400">
            <a:solidFill>
              <a:srgbClr val="F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4956120" y="685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4444"/>
                </a:solidFill>
                <a:effectLst/>
                <a:uFillTx/>
                <a:latin typeface="Consolas"/>
                <a:ea typeface="Consolas"/>
              </a:rPr>
              <a:t>P1 CRITICAL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4956120" y="10148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Active breach, data exfiltration, ransomware. All-hands response.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9"/>
          <p:cNvSpPr/>
          <p:nvPr/>
        </p:nvSpPr>
        <p:spPr>
          <a:xfrm>
            <a:off x="4846320" y="1664280"/>
            <a:ext cx="3977280" cy="959760"/>
          </a:xfrm>
          <a:prstGeom prst="rect">
            <a:avLst/>
          </a:prstGeom>
          <a:solidFill>
            <a:srgbClr val="161B22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4956120" y="17373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67E22"/>
                </a:solidFill>
                <a:effectLst/>
                <a:uFillTx/>
                <a:latin typeface="Consolas"/>
                <a:ea typeface="Consolas"/>
              </a:rPr>
              <a:t>P2 HIGH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1"/>
          <p:cNvSpPr/>
          <p:nvPr/>
        </p:nvSpPr>
        <p:spPr>
          <a:xfrm>
            <a:off x="4956120" y="206640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Confirmed high-value asset compromise. Response within hours.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2"/>
          <p:cNvSpPr/>
          <p:nvPr/>
        </p:nvSpPr>
        <p:spPr>
          <a:xfrm>
            <a:off x="4846320" y="2715840"/>
            <a:ext cx="3977280" cy="959760"/>
          </a:xfrm>
          <a:prstGeom prst="rect">
            <a:avLst/>
          </a:prstGeom>
          <a:solidFill>
            <a:srgbClr val="161B22"/>
          </a:solidFill>
          <a:ln w="254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4956120" y="278892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P3 MEDIUM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4956120" y="311796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Suspicious activity. Investigation within 24 hours.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4846320" y="3767400"/>
            <a:ext cx="3977280" cy="95976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4956120" y="38404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P4 LOW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4956120" y="416952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Minor policy violations, informational events.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8"/>
          <p:cNvSpPr/>
          <p:nvPr/>
        </p:nvSpPr>
        <p:spPr>
          <a:xfrm>
            <a:off x="4846320" y="612720"/>
            <a:ext cx="39772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SEVERITY CLASSIFICATION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"/>
          <p:cNvSpPr/>
          <p:nvPr/>
        </p:nvSpPr>
        <p:spPr>
          <a:xfrm>
            <a:off x="0" y="2286000"/>
            <a:ext cx="9143640" cy="4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548640" y="64008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00D4AA">
                    <a:alpha val="70000"/>
                  </a:srgbClr>
                </a:solidFill>
                <a:effectLst/>
                <a:uFillTx/>
                <a:latin typeface="Consolas"/>
                <a:ea typeface="Consolas"/>
              </a:rPr>
              <a:t>06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548640" y="24231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CYBER THREAT INTELLIGENCE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548640" y="3200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Types, intelligence cycle, sources &amp; sharing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CTI TYPES &amp; SHARING STANDARDS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5" name="Table 0"/>
          <p:cNvGraphicFramePr/>
          <p:nvPr/>
        </p:nvGraphicFramePr>
        <p:xfrm>
          <a:off x="320040" y="640080"/>
          <a:ext cx="8503560" cy="4297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5212080"/>
              </a:tblGrid>
              <a:tr h="53712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Type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Level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Description &amp; Use Case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53712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Strategic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Executive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High-level, non-technical. Trend reports. Informs risk investment &amp; policy.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53712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Operational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Management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Context about specific attacks or actor profiles. Security management decisions.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3712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Tactical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Architect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Adversary TTPs — how threat actors operate. Used to design security controls.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53712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Technical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SOC/SIEM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Specific IoCs (IPs, hashes, domains). Most perishable — changes within hours/days.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3712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STIX 2.1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Standard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Structured language for describing CTI objects, campaigns, indicators, actors.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53712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TAXII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Protocol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Trusted sharing of STIX intelligence over HTTPS between organizations.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53712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TLP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Classification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RED = restricted; AMBER = limited; GREEN = community; WHITE = public.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PYRAMID OF PAIN &amp; INTELLIGENCE CYCLE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320040" y="6127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PYRAMID OF PAIN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457560" y="4453560"/>
            <a:ext cx="4114440" cy="566640"/>
          </a:xfrm>
          <a:prstGeom prst="rect">
            <a:avLst/>
          </a:prstGeom>
          <a:solidFill>
            <a:srgbClr val="000000"/>
          </a:solidFill>
          <a:ln w="12700">
            <a:solidFill>
              <a:srgbClr val="F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457560" y="449028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4444"/>
                </a:solidFill>
                <a:effectLst/>
                <a:uFillTx/>
                <a:latin typeface="Consolas"/>
                <a:ea typeface="Consolas"/>
              </a:rPr>
              <a:t>TTPs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457560" y="474624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Tactics, Techniques &amp; Procedures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6"/>
          <p:cNvSpPr/>
          <p:nvPr/>
        </p:nvSpPr>
        <p:spPr>
          <a:xfrm>
            <a:off x="777600" y="3786120"/>
            <a:ext cx="3474360" cy="566640"/>
          </a:xfrm>
          <a:prstGeom prst="rect">
            <a:avLst/>
          </a:prstGeom>
          <a:solidFill>
            <a:srgbClr val="000000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777600" y="382248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E67E22"/>
                </a:solidFill>
                <a:effectLst/>
                <a:uFillTx/>
                <a:latin typeface="Consolas"/>
                <a:ea typeface="Consolas"/>
              </a:rPr>
              <a:t>Tools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777600" y="407880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Software &amp; utilities used by attacker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9"/>
          <p:cNvSpPr/>
          <p:nvPr/>
        </p:nvSpPr>
        <p:spPr>
          <a:xfrm>
            <a:off x="1097640" y="3118680"/>
            <a:ext cx="2834280" cy="566640"/>
          </a:xfrm>
          <a:prstGeom prst="rect">
            <a:avLst/>
          </a:prstGeom>
          <a:solidFill>
            <a:srgbClr val="0000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1097640" y="315504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Network/Host Artifacts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1097640" y="341100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Registry keys, specific filenames, URIs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1417680" y="2450880"/>
            <a:ext cx="2194200" cy="566640"/>
          </a:xfrm>
          <a:prstGeom prst="rect">
            <a:avLst/>
          </a:prstGeom>
          <a:solidFill>
            <a:srgbClr val="00000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1417680" y="2487600"/>
            <a:ext cx="2194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7AE60"/>
                </a:solidFill>
                <a:effectLst/>
                <a:uFillTx/>
                <a:latin typeface="Consolas"/>
                <a:ea typeface="Consolas"/>
              </a:rPr>
              <a:t>Domain Names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1417680" y="274356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Attacker's C2 domains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5"/>
          <p:cNvSpPr/>
          <p:nvPr/>
        </p:nvSpPr>
        <p:spPr>
          <a:xfrm>
            <a:off x="1737720" y="1783440"/>
            <a:ext cx="1554120" cy="566640"/>
          </a:xfrm>
          <a:prstGeom prst="rect">
            <a:avLst/>
          </a:prstGeom>
          <a:solidFill>
            <a:srgbClr val="000000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1737720" y="1820160"/>
            <a:ext cx="1554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IP Addresses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1737720" y="207612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Source IPs used by attacker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2057760" y="1116000"/>
            <a:ext cx="914040" cy="566640"/>
          </a:xfrm>
          <a:prstGeom prst="rect">
            <a:avLst/>
          </a:prstGeom>
          <a:solidFill>
            <a:srgbClr val="000000"/>
          </a:solidFill>
          <a:ln w="12700">
            <a:solidFill>
              <a:srgbClr val="8B94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9"/>
          <p:cNvSpPr/>
          <p:nvPr/>
        </p:nvSpPr>
        <p:spPr>
          <a:xfrm>
            <a:off x="2057760" y="11527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Hash Values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2057760" y="14086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File MD5/SHA256 checksums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5029200" y="6127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INTELLIGENCE CYCLE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2"/>
          <p:cNvSpPr/>
          <p:nvPr/>
        </p:nvSpPr>
        <p:spPr>
          <a:xfrm>
            <a:off x="5029200" y="960120"/>
            <a:ext cx="3794400" cy="566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5029200" y="960120"/>
            <a:ext cx="411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4"/>
          <p:cNvSpPr/>
          <p:nvPr/>
        </p:nvSpPr>
        <p:spPr>
          <a:xfrm>
            <a:off x="5486400" y="10972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Planning &amp; Direction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5"/>
          <p:cNvSpPr/>
          <p:nvPr/>
        </p:nvSpPr>
        <p:spPr>
          <a:xfrm>
            <a:off x="5029200" y="1645920"/>
            <a:ext cx="3794400" cy="566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6"/>
          <p:cNvSpPr/>
          <p:nvPr/>
        </p:nvSpPr>
        <p:spPr>
          <a:xfrm>
            <a:off x="5029200" y="1645920"/>
            <a:ext cx="411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7"/>
          <p:cNvSpPr/>
          <p:nvPr/>
        </p:nvSpPr>
        <p:spPr>
          <a:xfrm>
            <a:off x="5486400" y="17830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Collection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8"/>
          <p:cNvSpPr/>
          <p:nvPr/>
        </p:nvSpPr>
        <p:spPr>
          <a:xfrm>
            <a:off x="5029200" y="2331720"/>
            <a:ext cx="3794400" cy="566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9"/>
          <p:cNvSpPr/>
          <p:nvPr/>
        </p:nvSpPr>
        <p:spPr>
          <a:xfrm>
            <a:off x="5029200" y="2331720"/>
            <a:ext cx="411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0"/>
          <p:cNvSpPr/>
          <p:nvPr/>
        </p:nvSpPr>
        <p:spPr>
          <a:xfrm>
            <a:off x="5486400" y="24688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Processing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1"/>
          <p:cNvSpPr/>
          <p:nvPr/>
        </p:nvSpPr>
        <p:spPr>
          <a:xfrm>
            <a:off x="5029200" y="3017520"/>
            <a:ext cx="3794400" cy="566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2"/>
          <p:cNvSpPr/>
          <p:nvPr/>
        </p:nvSpPr>
        <p:spPr>
          <a:xfrm>
            <a:off x="5029200" y="3017520"/>
            <a:ext cx="411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3"/>
          <p:cNvSpPr/>
          <p:nvPr/>
        </p:nvSpPr>
        <p:spPr>
          <a:xfrm>
            <a:off x="5486400" y="31546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Analysis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4"/>
          <p:cNvSpPr/>
          <p:nvPr/>
        </p:nvSpPr>
        <p:spPr>
          <a:xfrm>
            <a:off x="5029200" y="3703320"/>
            <a:ext cx="3794400" cy="566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5"/>
          <p:cNvSpPr/>
          <p:nvPr/>
        </p:nvSpPr>
        <p:spPr>
          <a:xfrm>
            <a:off x="5029200" y="3703320"/>
            <a:ext cx="411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6"/>
          <p:cNvSpPr/>
          <p:nvPr/>
        </p:nvSpPr>
        <p:spPr>
          <a:xfrm>
            <a:off x="5486400" y="38404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Dissemination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7"/>
          <p:cNvSpPr/>
          <p:nvPr/>
        </p:nvSpPr>
        <p:spPr>
          <a:xfrm>
            <a:off x="5029200" y="4389120"/>
            <a:ext cx="3794400" cy="566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8"/>
          <p:cNvSpPr/>
          <p:nvPr/>
        </p:nvSpPr>
        <p:spPr>
          <a:xfrm>
            <a:off x="5029200" y="4389120"/>
            <a:ext cx="411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9"/>
          <p:cNvSpPr/>
          <p:nvPr/>
        </p:nvSpPr>
        <p:spPr>
          <a:xfrm>
            <a:off x="5486400" y="452628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Feedback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"/>
          <p:cNvSpPr/>
          <p:nvPr/>
        </p:nvSpPr>
        <p:spPr>
          <a:xfrm>
            <a:off x="0" y="2286000"/>
            <a:ext cx="9143640" cy="4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548640" y="64008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00D4AA">
                    <a:alpha val="70000"/>
                  </a:srgbClr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548640" y="24231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HOW TO ANALYZE A LOG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548640" y="3200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Methodology, patterns, tools &amp; queries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7-STEP LOG ANALYSIS METHODOLOGY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320040" y="612720"/>
            <a:ext cx="411444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3"/>
          <p:cNvSpPr/>
          <p:nvPr/>
        </p:nvSpPr>
        <p:spPr>
          <a:xfrm>
            <a:off x="320040" y="612720"/>
            <a:ext cx="411120" cy="9597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320040" y="612720"/>
            <a:ext cx="4111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822960" y="6858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COLLECT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822960" y="97848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Gather all relevant logs via SIEM query or export from all relevant sources.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320040" y="1710000"/>
            <a:ext cx="411444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320040" y="1710000"/>
            <a:ext cx="411120" cy="959760"/>
          </a:xfrm>
          <a:prstGeom prst="rect">
            <a:avLst/>
          </a:prstGeom>
          <a:solidFill>
            <a:srgbClr val="1E9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320040" y="1710000"/>
            <a:ext cx="4111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0"/>
          <p:cNvSpPr/>
          <p:nvPr/>
        </p:nvSpPr>
        <p:spPr>
          <a:xfrm>
            <a:off x="822960" y="17830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NORMALIZE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1"/>
          <p:cNvSpPr/>
          <p:nvPr/>
        </p:nvSpPr>
        <p:spPr>
          <a:xfrm>
            <a:off x="822960" y="207576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Parse into consistent fields: timestamp, source IP, dest IP, user, action, result.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2"/>
          <p:cNvSpPr/>
          <p:nvPr/>
        </p:nvSpPr>
        <p:spPr>
          <a:xfrm>
            <a:off x="320040" y="2807280"/>
            <a:ext cx="411444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3"/>
          <p:cNvSpPr/>
          <p:nvPr/>
        </p:nvSpPr>
        <p:spPr>
          <a:xfrm>
            <a:off x="320040" y="2807280"/>
            <a:ext cx="411120" cy="959760"/>
          </a:xfrm>
          <a:prstGeom prst="rect">
            <a:avLst/>
          </a:prstGeom>
          <a:solidFill>
            <a:srgbClr val="F0A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4"/>
          <p:cNvSpPr/>
          <p:nvPr/>
        </p:nvSpPr>
        <p:spPr>
          <a:xfrm>
            <a:off x="320040" y="2807280"/>
            <a:ext cx="4111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5"/>
          <p:cNvSpPr/>
          <p:nvPr/>
        </p:nvSpPr>
        <p:spPr>
          <a:xfrm>
            <a:off x="822960" y="28803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FILTER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6"/>
          <p:cNvSpPr/>
          <p:nvPr/>
        </p:nvSpPr>
        <p:spPr>
          <a:xfrm>
            <a:off x="822960" y="317304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Remove known-good baseline noise. Focus on relevant time range and systems.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7"/>
          <p:cNvSpPr/>
          <p:nvPr/>
        </p:nvSpPr>
        <p:spPr>
          <a:xfrm>
            <a:off x="320040" y="3904560"/>
            <a:ext cx="411444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8"/>
          <p:cNvSpPr/>
          <p:nvPr/>
        </p:nvSpPr>
        <p:spPr>
          <a:xfrm>
            <a:off x="320040" y="3904560"/>
            <a:ext cx="411120" cy="959760"/>
          </a:xfrm>
          <a:prstGeom prst="rect">
            <a:avLst/>
          </a:prstGeom>
          <a:solidFill>
            <a:srgbClr val="39D3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9"/>
          <p:cNvSpPr/>
          <p:nvPr/>
        </p:nvSpPr>
        <p:spPr>
          <a:xfrm>
            <a:off x="320040" y="3904560"/>
            <a:ext cx="4111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0"/>
          <p:cNvSpPr/>
          <p:nvPr/>
        </p:nvSpPr>
        <p:spPr>
          <a:xfrm>
            <a:off x="822960" y="39776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SORT &amp; TIMELINE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822960" y="427032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Order events chronologically to understand the sequence of actions.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2"/>
          <p:cNvSpPr/>
          <p:nvPr/>
        </p:nvSpPr>
        <p:spPr>
          <a:xfrm>
            <a:off x="4754880" y="612720"/>
            <a:ext cx="411444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3"/>
          <p:cNvSpPr/>
          <p:nvPr/>
        </p:nvSpPr>
        <p:spPr>
          <a:xfrm>
            <a:off x="4754880" y="612720"/>
            <a:ext cx="411120" cy="95976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4"/>
          <p:cNvSpPr/>
          <p:nvPr/>
        </p:nvSpPr>
        <p:spPr>
          <a:xfrm>
            <a:off x="4754880" y="612720"/>
            <a:ext cx="4111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5"/>
          <p:cNvSpPr/>
          <p:nvPr/>
        </p:nvSpPr>
        <p:spPr>
          <a:xfrm>
            <a:off x="5257800" y="6858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B59B6"/>
                </a:solidFill>
                <a:effectLst/>
                <a:uFillTx/>
                <a:latin typeface="Consolas"/>
                <a:ea typeface="Consolas"/>
              </a:rPr>
              <a:t>CORRELATE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6"/>
          <p:cNvSpPr/>
          <p:nvPr/>
        </p:nvSpPr>
        <p:spPr>
          <a:xfrm>
            <a:off x="5257800" y="97848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Connect events across multiple log sources. Link firewall deny with EDR process event.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7"/>
          <p:cNvSpPr/>
          <p:nvPr/>
        </p:nvSpPr>
        <p:spPr>
          <a:xfrm>
            <a:off x="4754880" y="1710000"/>
            <a:ext cx="411444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8"/>
          <p:cNvSpPr/>
          <p:nvPr/>
        </p:nvSpPr>
        <p:spPr>
          <a:xfrm>
            <a:off x="4754880" y="1710000"/>
            <a:ext cx="411120" cy="9597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9"/>
          <p:cNvSpPr/>
          <p:nvPr/>
        </p:nvSpPr>
        <p:spPr>
          <a:xfrm>
            <a:off x="4754880" y="1710000"/>
            <a:ext cx="4111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0"/>
          <p:cNvSpPr/>
          <p:nvPr/>
        </p:nvSpPr>
        <p:spPr>
          <a:xfrm>
            <a:off x="5257800" y="17830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74C3C"/>
                </a:solidFill>
                <a:effectLst/>
                <a:uFillTx/>
                <a:latin typeface="Consolas"/>
                <a:ea typeface="Consolas"/>
              </a:rPr>
              <a:t>ENRICH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1"/>
          <p:cNvSpPr/>
          <p:nvPr/>
        </p:nvSpPr>
        <p:spPr>
          <a:xfrm>
            <a:off x="5257800" y="207576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Geolocate IPs, VirusTotal hash lookups, check domains in threat intel, identify asset owner.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2"/>
          <p:cNvSpPr/>
          <p:nvPr/>
        </p:nvSpPr>
        <p:spPr>
          <a:xfrm>
            <a:off x="4754880" y="2807280"/>
            <a:ext cx="4114440" cy="959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A8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3"/>
          <p:cNvSpPr/>
          <p:nvPr/>
        </p:nvSpPr>
        <p:spPr>
          <a:xfrm>
            <a:off x="4754880" y="2807280"/>
            <a:ext cx="411120" cy="959760"/>
          </a:xfrm>
          <a:prstGeom prst="rect">
            <a:avLst/>
          </a:prstGeom>
          <a:solidFill>
            <a:srgbClr val="00A8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4"/>
          <p:cNvSpPr/>
          <p:nvPr/>
        </p:nvSpPr>
        <p:spPr>
          <a:xfrm>
            <a:off x="4754880" y="2807280"/>
            <a:ext cx="4111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D1117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5"/>
          <p:cNvSpPr/>
          <p:nvPr/>
        </p:nvSpPr>
        <p:spPr>
          <a:xfrm>
            <a:off x="5257800" y="28803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A882"/>
                </a:solidFill>
                <a:effectLst/>
                <a:uFillTx/>
                <a:latin typeface="Consolas"/>
                <a:ea typeface="Consolas"/>
              </a:rPr>
              <a:t>INTERPRET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6"/>
          <p:cNvSpPr/>
          <p:nvPr/>
        </p:nvSpPr>
        <p:spPr>
          <a:xfrm>
            <a:off x="5257800" y="317304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Apply analyst judgment. Does this match known attack techniques? Document findings.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COMMON ATTACK PATTERNS IN LOGS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"/>
          <p:cNvSpPr/>
          <p:nvPr/>
        </p:nvSpPr>
        <p:spPr>
          <a:xfrm>
            <a:off x="320040" y="61272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3"/>
          <p:cNvSpPr/>
          <p:nvPr/>
        </p:nvSpPr>
        <p:spPr>
          <a:xfrm>
            <a:off x="320040" y="612720"/>
            <a:ext cx="2742840" cy="2923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429840" y="6127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BRUTE FORCE / CREDENTIAL STUFFING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5"/>
          <p:cNvSpPr/>
          <p:nvPr/>
        </p:nvSpPr>
        <p:spPr>
          <a:xfrm>
            <a:off x="411480" y="94176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Many EventID 4625 (failed logon) from same source in short time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Multiple usernames attempted from one IP address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Success after many failures = confirmed account compromise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6"/>
          <p:cNvSpPr/>
          <p:nvPr/>
        </p:nvSpPr>
        <p:spPr>
          <a:xfrm>
            <a:off x="3200400" y="61272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7"/>
          <p:cNvSpPr/>
          <p:nvPr/>
        </p:nvSpPr>
        <p:spPr>
          <a:xfrm>
            <a:off x="3200400" y="612720"/>
            <a:ext cx="2742840" cy="292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8"/>
          <p:cNvSpPr/>
          <p:nvPr/>
        </p:nvSpPr>
        <p:spPr>
          <a:xfrm>
            <a:off x="3310200" y="6127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PORT SCANNING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9"/>
          <p:cNvSpPr/>
          <p:nvPr/>
        </p:nvSpPr>
        <p:spPr>
          <a:xfrm>
            <a:off x="3291840" y="94176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One source IP connecting to many hosts on same port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Or one IP connecting to many ports on a single host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Firewall DENY logs showing pattern across sequential ports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0"/>
          <p:cNvSpPr/>
          <p:nvPr/>
        </p:nvSpPr>
        <p:spPr>
          <a:xfrm>
            <a:off x="6080760" y="61272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1"/>
          <p:cNvSpPr/>
          <p:nvPr/>
        </p:nvSpPr>
        <p:spPr>
          <a:xfrm>
            <a:off x="6080760" y="612720"/>
            <a:ext cx="2742840" cy="292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2"/>
          <p:cNvSpPr/>
          <p:nvPr/>
        </p:nvSpPr>
        <p:spPr>
          <a:xfrm>
            <a:off x="6190560" y="6127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MALWARE C2 BEACONING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3"/>
          <p:cNvSpPr/>
          <p:nvPr/>
        </p:nvSpPr>
        <p:spPr>
          <a:xfrm>
            <a:off x="6172200" y="94176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Regular, periodic DNS queries to same domain (e.g. every 60s)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Consistent small HTTP POST requests at regular intervals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DNS queries to DGA-generated or newly registered domains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4"/>
          <p:cNvSpPr/>
          <p:nvPr/>
        </p:nvSpPr>
        <p:spPr>
          <a:xfrm>
            <a:off x="320040" y="276156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5"/>
          <p:cNvSpPr/>
          <p:nvPr/>
        </p:nvSpPr>
        <p:spPr>
          <a:xfrm>
            <a:off x="320040" y="2761560"/>
            <a:ext cx="2742840" cy="292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6"/>
          <p:cNvSpPr/>
          <p:nvPr/>
        </p:nvSpPr>
        <p:spPr>
          <a:xfrm>
            <a:off x="429840" y="2761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LATERAL MOVEMENT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7"/>
          <p:cNvSpPr/>
          <p:nvPr/>
        </p:nvSpPr>
        <p:spPr>
          <a:xfrm>
            <a:off x="411480" y="309060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SMB (port 445) connections between workstations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Admin share access (\\host\C$, \\host\admin$)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Pass the Hash: Logon Type 3 / NTLM from many hosts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8"/>
          <p:cNvSpPr/>
          <p:nvPr/>
        </p:nvSpPr>
        <p:spPr>
          <a:xfrm>
            <a:off x="3200400" y="276156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9"/>
          <p:cNvSpPr/>
          <p:nvPr/>
        </p:nvSpPr>
        <p:spPr>
          <a:xfrm>
            <a:off x="3200400" y="2761560"/>
            <a:ext cx="2742840" cy="2923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0"/>
          <p:cNvSpPr/>
          <p:nvPr/>
        </p:nvSpPr>
        <p:spPr>
          <a:xfrm>
            <a:off x="3310200" y="2761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DATA EXFILTRATION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1"/>
          <p:cNvSpPr/>
          <p:nvPr/>
        </p:nvSpPr>
        <p:spPr>
          <a:xfrm>
            <a:off x="3291840" y="309060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Large outbound transfers to external/unknown IPs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HTTPS traffic to newly registered or rare domains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DNS TXT queries with unusually long subdomains (tunneling)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2"/>
          <p:cNvSpPr/>
          <p:nvPr/>
        </p:nvSpPr>
        <p:spPr>
          <a:xfrm>
            <a:off x="6080760" y="2761560"/>
            <a:ext cx="2742840" cy="2011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3"/>
          <p:cNvSpPr/>
          <p:nvPr/>
        </p:nvSpPr>
        <p:spPr>
          <a:xfrm>
            <a:off x="6080760" y="2761560"/>
            <a:ext cx="2742840" cy="292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4"/>
          <p:cNvSpPr/>
          <p:nvPr/>
        </p:nvSpPr>
        <p:spPr>
          <a:xfrm>
            <a:off x="6190560" y="276156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LOG TAMPERING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5"/>
          <p:cNvSpPr/>
          <p:nvPr/>
        </p:nvSpPr>
        <p:spPr>
          <a:xfrm>
            <a:off x="6172200" y="3090600"/>
            <a:ext cx="255996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EventID 1102 — Security audit log cleared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EventID 104 — System log cleared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Gaps in timestamps or sudden reduction in log volume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KEY LOG FIELDS &amp; SAMPLE SIEM QUERY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"/>
          <p:cNvSpPr/>
          <p:nvPr/>
        </p:nvSpPr>
        <p:spPr>
          <a:xfrm>
            <a:off x="320040" y="612720"/>
            <a:ext cx="5120280" cy="425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429840" y="65844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KEY LOG FIELDS TO ANALYZE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429840" y="100584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Timestamp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2011680" y="100584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Validate timezone. Gaps may indicate log tampering.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429840" y="143568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Source IP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2011680" y="14356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Internal vs external? Known bad? Geo match expected?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429840" y="186552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Dest IP/Port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2011680" y="186552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Unusual ports indicate scanning or C2 communication.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429840" y="229500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User Account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2011680" y="229500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Is this account expected to do this action?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429840" y="272484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Action/Event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3"/>
          <p:cNvSpPr/>
          <p:nvPr/>
        </p:nvSpPr>
        <p:spPr>
          <a:xfrm>
            <a:off x="2011680" y="272484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Login, file access, process execution, network connection.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429840" y="315468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Result/Status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2011680" y="31546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Repeated failures → success = brute force confirmed.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6"/>
          <p:cNvSpPr/>
          <p:nvPr/>
        </p:nvSpPr>
        <p:spPr>
          <a:xfrm>
            <a:off x="429840" y="358452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User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7"/>
          <p:cNvSpPr/>
          <p:nvPr/>
        </p:nvSpPr>
        <p:spPr>
          <a:xfrm>
            <a:off x="2011680" y="358452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Python-requests or empty UA = scripted/automated request.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8"/>
          <p:cNvSpPr/>
          <p:nvPr/>
        </p:nvSpPr>
        <p:spPr>
          <a:xfrm>
            <a:off x="429840" y="401436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Bytes Transferred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9"/>
          <p:cNvSpPr/>
          <p:nvPr/>
        </p:nvSpPr>
        <p:spPr>
          <a:xfrm>
            <a:off x="2011680" y="40143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Large outbound volumes may indicate exfiltration.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0"/>
          <p:cNvSpPr/>
          <p:nvPr/>
        </p:nvSpPr>
        <p:spPr>
          <a:xfrm>
            <a:off x="429840" y="4443840"/>
            <a:ext cx="1554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E90FF"/>
                </a:solidFill>
                <a:effectLst/>
                <a:uFillTx/>
                <a:latin typeface="Consolas"/>
                <a:ea typeface="Consolas"/>
              </a:rPr>
              <a:t>Process/Command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1"/>
          <p:cNvSpPr/>
          <p:nvPr/>
        </p:nvSpPr>
        <p:spPr>
          <a:xfrm>
            <a:off x="2011680" y="444384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Processes from temp dirs or encoded PowerShell = red flag.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2"/>
          <p:cNvSpPr/>
          <p:nvPr/>
        </p:nvSpPr>
        <p:spPr>
          <a:xfrm>
            <a:off x="5623560" y="612720"/>
            <a:ext cx="3200040" cy="4251600"/>
          </a:xfrm>
          <a:prstGeom prst="rect">
            <a:avLst/>
          </a:prstGeom>
          <a:solidFill>
            <a:srgbClr val="060A0E"/>
          </a:solidFill>
          <a:ln w="127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3"/>
          <p:cNvSpPr/>
          <p:nvPr/>
        </p:nvSpPr>
        <p:spPr>
          <a:xfrm>
            <a:off x="5733360" y="6584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SPLUNK — BRUTE FORCE DETECTION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4"/>
          <p:cNvSpPr/>
          <p:nvPr/>
        </p:nvSpPr>
        <p:spPr>
          <a:xfrm>
            <a:off x="5733360" y="1024200"/>
            <a:ext cx="2971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index=windows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EventCode=4625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| stats count by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  src_ip, Account_Name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| where count &gt; 10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9D353"/>
                </a:solidFill>
                <a:effectLst/>
                <a:uFillTx/>
                <a:latin typeface="Consolas"/>
                <a:ea typeface="Consolas"/>
              </a:rPr>
              <a:t>| sort - count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5"/>
          <p:cNvSpPr/>
          <p:nvPr/>
        </p:nvSpPr>
        <p:spPr>
          <a:xfrm>
            <a:off x="5733360" y="242316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This query counts failed logon events (4625) per source IP and username. Threshold of 10+ attempts flags likely brute force activity. Tune the threshold to your organization's baseline.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6"/>
          <p:cNvSpPr/>
          <p:nvPr/>
        </p:nvSpPr>
        <p:spPr>
          <a:xfrm>
            <a:off x="5733360" y="385884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0A500"/>
                </a:solidFill>
                <a:effectLst/>
                <a:uFillTx/>
                <a:latin typeface="Consolas"/>
                <a:ea typeface="Consolas"/>
              </a:rPr>
              <a:t>LOG ANALYSIS TOOLS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7"/>
          <p:cNvSpPr/>
          <p:nvPr/>
        </p:nvSpPr>
        <p:spPr>
          <a:xfrm>
            <a:off x="5733360" y="411480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Splunk (SPL)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Elastic/ELK (KQL)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Microsoft Sentinel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grep / awk / sed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jq (JSON logs)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Zeek / Wireshark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8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Sigma (portable rules)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"/>
          <p:cNvSpPr/>
          <p:nvPr/>
        </p:nvSpPr>
        <p:spPr>
          <a:xfrm>
            <a:off x="0" y="2286000"/>
            <a:ext cx="9143640" cy="43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548640" y="640080"/>
            <a:ext cx="1828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00D4AA">
                    <a:alpha val="70000"/>
                  </a:srgbClr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548640" y="242316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QUICK REFERENCE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4"/>
          <p:cNvSpPr/>
          <p:nvPr/>
        </p:nvSpPr>
        <p:spPr>
          <a:xfrm>
            <a:off x="548640" y="3200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Acronyms, Event IDs, ATT&amp;CK tactics &amp; IR checklist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MITRE ATT&amp;CK TACTICS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9" name="Table 0"/>
          <p:cNvGraphicFramePr/>
          <p:nvPr/>
        </p:nvGraphicFramePr>
        <p:xfrm>
          <a:off x="320040" y="640080"/>
          <a:ext cx="8503560" cy="429732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5120640"/>
              </a:tblGrid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Tactic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ID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Description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Initial Access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TA0001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How attacker gets in: phishing, exploit, valid accounts, supply chain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Execution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TA0002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Running malicious code: PowerShell, WMI, scheduled tasks, scripts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Persistence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TA0003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Maintaining access: registry run keys, services, backdoors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Privilege Escalation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TA0004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Gaining higher permissions: token manipulation, misconfigurations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Defense Evasion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TA0005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Avoiding detection: obfuscation, log deletion, LOLBins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Credential Access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TA0006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Stealing credentials: Mimikatz, LSASS dump, password spraying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Lateral Movement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TA0008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Moving through network: PsExec, WMI, Pass the Hash, RDP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Command &amp; Control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TA0011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Communicating with compromised systems: beaconing, DNS tunneling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Exfiltration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TA0010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Stealing data: cloud upload, DNS tunneling, encrypted channels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90600"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D4A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Impact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TA0040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 lIns="75960" tIns="37800" rIns="75960" bIns="378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9D1D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Final objectives: ransomware, data destruction, wiper malware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37800" marB="37800">
                    <a:lnL w="6480">
                      <a:solidFill>
                        <a:srgbClr val="21262D"/>
                      </a:solidFill>
                      <a:prstDash val="solid"/>
                    </a:lnL>
                    <a:lnR w="6480">
                      <a:solidFill>
                        <a:srgbClr val="21262D"/>
                      </a:solidFill>
                      <a:prstDash val="solid"/>
                    </a:lnR>
                    <a:lnT w="6480">
                      <a:solidFill>
                        <a:srgbClr val="21262D"/>
                      </a:solidFill>
                      <a:prstDash val="solid"/>
                    </a:lnT>
                    <a:lnB w="6480">
                      <a:solidFill>
                        <a:srgbClr val="21262D"/>
                      </a:solidFill>
                      <a:prstDash val="soli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0" y="0"/>
            <a:ext cx="9143640" cy="50256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"/>
          <p:cNvSpPr/>
          <p:nvPr/>
        </p:nvSpPr>
        <p:spPr>
          <a:xfrm>
            <a:off x="320040" y="0"/>
            <a:ext cx="8503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IR CHECKLIST &amp; KEY ACRONYMS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"/>
          <p:cNvSpPr/>
          <p:nvPr/>
        </p:nvSpPr>
        <p:spPr>
          <a:xfrm>
            <a:off x="320040" y="612720"/>
            <a:ext cx="4297320" cy="425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"/>
          <p:cNvSpPr/>
          <p:nvPr/>
        </p:nvSpPr>
        <p:spPr>
          <a:xfrm>
            <a:off x="320040" y="612720"/>
            <a:ext cx="4297320" cy="292320"/>
          </a:xfrm>
          <a:prstGeom prst="rect">
            <a:avLst/>
          </a:prstGeom>
          <a:solidFill>
            <a:srgbClr val="00A882"/>
          </a:solidFill>
          <a:ln w="12700">
            <a:solidFill>
              <a:srgbClr val="00A8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4"/>
          <p:cNvSpPr/>
          <p:nvPr/>
        </p:nvSpPr>
        <p:spPr>
          <a:xfrm>
            <a:off x="429840" y="612720"/>
            <a:ext cx="416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INCIDENT RESPONSE CHECKLIST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5"/>
          <p:cNvSpPr/>
          <p:nvPr/>
        </p:nvSpPr>
        <p:spPr>
          <a:xfrm>
            <a:off x="411480" y="941760"/>
            <a:ext cx="4114440" cy="38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Alert received — triage and classify severity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Notify IR team per severity matrix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Preserve evidence — memory and disk images BEFORE touching system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Contain — isolate affected systems from network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Investigate — correlate logs, identify attack vector and scope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Map to MITRE ATT&amp;CK — document all TTPs observed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Block IoCs — add malicious indicators to blocklists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Notify stakeholders — follow communication plan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Eradicate — remove malware, patch, reset credentials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Recover — restore from clean backup, verify integrity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9D1D9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C9D1D9"/>
                </a:solidFill>
                <a:effectLst/>
                <a:uFillTx/>
                <a:latin typeface="Calibri"/>
                <a:ea typeface="Calibri"/>
              </a:rPr>
              <a:t>Monitor — heightened monitoring post-incident for 30 days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8B949E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Post-incident report — timeline, root cause, lessons learned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6"/>
          <p:cNvSpPr/>
          <p:nvPr/>
        </p:nvSpPr>
        <p:spPr>
          <a:xfrm>
            <a:off x="4846320" y="6127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7"/>
          <p:cNvSpPr/>
          <p:nvPr/>
        </p:nvSpPr>
        <p:spPr>
          <a:xfrm>
            <a:off x="4919400" y="6490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SOC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8"/>
          <p:cNvSpPr/>
          <p:nvPr/>
        </p:nvSpPr>
        <p:spPr>
          <a:xfrm>
            <a:off x="4919400" y="9234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Security Operations Center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9"/>
          <p:cNvSpPr/>
          <p:nvPr/>
        </p:nvSpPr>
        <p:spPr>
          <a:xfrm>
            <a:off x="4846320" y="12985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0"/>
          <p:cNvSpPr/>
          <p:nvPr/>
        </p:nvSpPr>
        <p:spPr>
          <a:xfrm>
            <a:off x="4919400" y="13348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SIEM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1"/>
          <p:cNvSpPr/>
          <p:nvPr/>
        </p:nvSpPr>
        <p:spPr>
          <a:xfrm>
            <a:off x="4919400" y="16092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Security Info &amp; Event Management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2"/>
          <p:cNvSpPr/>
          <p:nvPr/>
        </p:nvSpPr>
        <p:spPr>
          <a:xfrm>
            <a:off x="4846320" y="19843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3"/>
          <p:cNvSpPr/>
          <p:nvPr/>
        </p:nvSpPr>
        <p:spPr>
          <a:xfrm>
            <a:off x="4919400" y="20206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EDR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4"/>
          <p:cNvSpPr/>
          <p:nvPr/>
        </p:nvSpPr>
        <p:spPr>
          <a:xfrm>
            <a:off x="4919400" y="22950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Endpoint Detection &amp; Response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5"/>
          <p:cNvSpPr/>
          <p:nvPr/>
        </p:nvSpPr>
        <p:spPr>
          <a:xfrm>
            <a:off x="4846320" y="26701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6"/>
          <p:cNvSpPr/>
          <p:nvPr/>
        </p:nvSpPr>
        <p:spPr>
          <a:xfrm>
            <a:off x="4919400" y="27064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SOAR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7"/>
          <p:cNvSpPr/>
          <p:nvPr/>
        </p:nvSpPr>
        <p:spPr>
          <a:xfrm>
            <a:off x="4919400" y="29808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Security Orchestration, Automation &amp; Response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8"/>
          <p:cNvSpPr/>
          <p:nvPr/>
        </p:nvSpPr>
        <p:spPr>
          <a:xfrm>
            <a:off x="4846320" y="33559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9"/>
          <p:cNvSpPr/>
          <p:nvPr/>
        </p:nvSpPr>
        <p:spPr>
          <a:xfrm>
            <a:off x="4919400" y="33922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CTI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20"/>
          <p:cNvSpPr/>
          <p:nvPr/>
        </p:nvSpPr>
        <p:spPr>
          <a:xfrm>
            <a:off x="4919400" y="36666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Cyber Threat Intelligence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21"/>
          <p:cNvSpPr/>
          <p:nvPr/>
        </p:nvSpPr>
        <p:spPr>
          <a:xfrm>
            <a:off x="4846320" y="40417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2"/>
          <p:cNvSpPr/>
          <p:nvPr/>
        </p:nvSpPr>
        <p:spPr>
          <a:xfrm>
            <a:off x="4919400" y="40780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TTP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3"/>
          <p:cNvSpPr/>
          <p:nvPr/>
        </p:nvSpPr>
        <p:spPr>
          <a:xfrm>
            <a:off x="4919400" y="43524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Tactics, Techniques &amp; Procedures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4"/>
          <p:cNvSpPr/>
          <p:nvPr/>
        </p:nvSpPr>
        <p:spPr>
          <a:xfrm>
            <a:off x="6903720" y="6127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5"/>
          <p:cNvSpPr/>
          <p:nvPr/>
        </p:nvSpPr>
        <p:spPr>
          <a:xfrm>
            <a:off x="6976800" y="6490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IoC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6"/>
          <p:cNvSpPr/>
          <p:nvPr/>
        </p:nvSpPr>
        <p:spPr>
          <a:xfrm>
            <a:off x="6976800" y="9234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Indicator of Compromise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7"/>
          <p:cNvSpPr/>
          <p:nvPr/>
        </p:nvSpPr>
        <p:spPr>
          <a:xfrm>
            <a:off x="6903720" y="12985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8"/>
          <p:cNvSpPr/>
          <p:nvPr/>
        </p:nvSpPr>
        <p:spPr>
          <a:xfrm>
            <a:off x="6976800" y="13348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APT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9"/>
          <p:cNvSpPr/>
          <p:nvPr/>
        </p:nvSpPr>
        <p:spPr>
          <a:xfrm>
            <a:off x="6976800" y="16092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Advanced Persistent Threat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30"/>
          <p:cNvSpPr/>
          <p:nvPr/>
        </p:nvSpPr>
        <p:spPr>
          <a:xfrm>
            <a:off x="6903720" y="19843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31"/>
          <p:cNvSpPr/>
          <p:nvPr/>
        </p:nvSpPr>
        <p:spPr>
          <a:xfrm>
            <a:off x="6976800" y="20206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LOLBin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2"/>
          <p:cNvSpPr/>
          <p:nvPr/>
        </p:nvSpPr>
        <p:spPr>
          <a:xfrm>
            <a:off x="6976800" y="22950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Living Off the Land Binary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3"/>
          <p:cNvSpPr/>
          <p:nvPr/>
        </p:nvSpPr>
        <p:spPr>
          <a:xfrm>
            <a:off x="6903720" y="26701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4"/>
          <p:cNvSpPr/>
          <p:nvPr/>
        </p:nvSpPr>
        <p:spPr>
          <a:xfrm>
            <a:off x="6976800" y="27064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MTTD/MTTR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5"/>
          <p:cNvSpPr/>
          <p:nvPr/>
        </p:nvSpPr>
        <p:spPr>
          <a:xfrm>
            <a:off x="6976800" y="29808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Mean Time to Detect / Respond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6"/>
          <p:cNvSpPr/>
          <p:nvPr/>
        </p:nvSpPr>
        <p:spPr>
          <a:xfrm>
            <a:off x="6903720" y="33559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7"/>
          <p:cNvSpPr/>
          <p:nvPr/>
        </p:nvSpPr>
        <p:spPr>
          <a:xfrm>
            <a:off x="6976800" y="33922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DGA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8"/>
          <p:cNvSpPr/>
          <p:nvPr/>
        </p:nvSpPr>
        <p:spPr>
          <a:xfrm>
            <a:off x="6976800" y="36666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Domain Generation Algorithm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39"/>
          <p:cNvSpPr/>
          <p:nvPr/>
        </p:nvSpPr>
        <p:spPr>
          <a:xfrm>
            <a:off x="6903720" y="4041720"/>
            <a:ext cx="1919880" cy="594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40"/>
          <p:cNvSpPr/>
          <p:nvPr/>
        </p:nvSpPr>
        <p:spPr>
          <a:xfrm>
            <a:off x="6976800" y="407808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C2 / C&amp;C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1"/>
          <p:cNvSpPr/>
          <p:nvPr/>
        </p:nvSpPr>
        <p:spPr>
          <a:xfrm>
            <a:off x="6976800" y="435240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Command and Control server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0" y="2103120"/>
            <a:ext cx="9143640" cy="914040"/>
          </a:xfrm>
          <a:prstGeom prst="rect">
            <a:avLst/>
          </a:prstGeom>
          <a:solidFill>
            <a:srgbClr val="0F2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"/>
          <p:cNvSpPr/>
          <p:nvPr/>
        </p:nvSpPr>
        <p:spPr>
          <a:xfrm>
            <a:off x="0" y="210312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"/>
          <p:cNvSpPr/>
          <p:nvPr/>
        </p:nvSpPr>
        <p:spPr>
          <a:xfrm>
            <a:off x="0" y="2962800"/>
            <a:ext cx="914364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3"/>
          <p:cNvSpPr/>
          <p:nvPr/>
        </p:nvSpPr>
        <p:spPr>
          <a:xfrm>
            <a:off x="457200" y="21762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STAY VIGILANT.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4"/>
          <p:cNvSpPr/>
          <p:nvPr/>
        </p:nvSpPr>
        <p:spPr>
          <a:xfrm>
            <a:off x="457200" y="25786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DETECT EARLY.  RESPOND DECISIVELY.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457200" y="4389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Blue Teaming &amp; SOC Operations — 2025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2026-05-30T08:01:42Z</dcterms:created>
  <dc:creator>PptxGenJS</dc:creator>
  <dc:description/>
  <dc:language>en-US</dc:language>
  <cp:lastModifiedBy/>
  <dcterms:modified xsi:type="dcterms:W3CDTF">2026-05-30T11:05:38Z</dcterms:modified>
  <cp:revision>2</cp:revision>
  <dc:subject>PptxGenJS Presentation</dc:subject>
  <dc:title>Blue Teaming &amp; SOC Operations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26</vt:i4>
  </property>
  <property fmtid="{D5CDD505-2E9C-101B-9397-08002B2CF9AE}" pid="3" name="PresentationFormat">
    <vt:lpwstr>On-screen Show (16:9)</vt:lpwstr>
  </property>
  <property fmtid="{D5CDD505-2E9C-101B-9397-08002B2CF9AE}" pid="4" name="Slides">
    <vt:i4>26</vt:i4>
  </property>
</Properties>
</file>