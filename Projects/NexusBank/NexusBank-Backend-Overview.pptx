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NexusBank started life as a pure front-end demo — a single HTML file simulating a banking app. This deck walks through the backend built to make it real: real auth, real data integrity, real security boundaries — while keeping the exact same UI the demo shipped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was simple: keep the UI pixel-for-pixel identical, but replace every piece of client-side fakery with a real backend. Same screens, same flows — but now backed by an actual database and actual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this was handling real money, but none of it was a real system either. Every one of these four issues maps directly to a fix in the new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Node process serves both the static frontend and the JSON API. Express sits in front of a single SQLite database running in WAL mode — plenty for a demo or small-scale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Storing money as integer cents rather than floats eliminates an entire class of rounding bugs. The schema also carries forward-compatible migrations, so older databases pick up new columns automatically on startup.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Transfers, deposits, and NearPay payments all run inside atomic SQLite transactions, so two simultaneous transfer requests can't both pass a balance check and overdraw the same account — a classic race condition that's easy to miss in a demo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never touches a token directly — it just sets credentials: include and the httpOnly cookie does the rest. Loans and device management are two feature areas that grew past the original README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NearPay's nearby devices feature used to work only because two tabs shared the same localStorage. Now presence is a real server-side table with a freshness window. Loans lets a user pick a term, see the real APR, apply, and the funds land in their balance immediately with a proper amortization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README calls out the persistent-storage trap hard, and the server refuses to start without a JWT secret as a second guardrail.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clear about scope: this is still a demo. No real money moves, no compliance layer, and NearPay simulates proximity rather than using real Bluetooth or NFC. But the SQL is simple enough that a future move to Postgres wouldn't be a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1.png"/><Relationship Id="rId6" Type="http://schemas.openxmlformats.org/officeDocument/2006/relationships/image" Target="../media/image-3-2.png"/><Relationship Id="rId7" Type="http://schemas.openxmlformats.org/officeDocument/2006/relationships/image" Target="../media/image-3-1.png"/><Relationship Id="rId8" Type="http://schemas.openxmlformats.org/officeDocument/2006/relationships/image" Target="../media/image-3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6.png"/><Relationship Id="rId7" Type="http://schemas.openxmlformats.org/officeDocument/2006/relationships/image" Target="../media/image-8-2.png"/><Relationship Id="rId8" Type="http://schemas.openxmlformats.org/officeDocument/2006/relationships/image" Target="../media/image-8-2.png"/><Relationship Id="rId9" Type="http://schemas.openxmlformats.org/officeDocument/2006/relationships/image" Target="../media/image-8-2.png"/><Relationship Id="rId10" Type="http://schemas.openxmlformats.org/officeDocument/2006/relationships/image" Target="../media/image-8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image" Target="../media/image-10-4.png"/><Relationship Id="rId7" Type="http://schemas.openxmlformats.org/officeDocument/2006/relationships/image" Target="../media/image-1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" name="Image 0" descr="assets/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NEXUSBANK BACKEND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front-end demo to a real Node.js API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 ·  SQLite  ·  bcrypt + JWT sessions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Overview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Node/Express + SQLite API behind the existing NexusBank / NearPay demo UI — with hashed passwords, signed sessions, and server-side validation on every money-moving action.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3227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3558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93192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429768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same HTML/CSS/screens as the original demo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06240" y="29718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3227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asset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33558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393192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security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62272" y="429768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passwords, signed session cookies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0" y="29718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19872" y="3227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asset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3558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19872" y="393192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19872" y="429768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SQLite-backed, transactional, race-condition safe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269480" y="1188720"/>
            <a:ext cx="4370832" cy="50292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0" name="Image 3" descr="assets/server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691640"/>
            <a:ext cx="822960" cy="8229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Snapshot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5438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8732520" y="3319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543800" y="39044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873252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groups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543800" y="45628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8732520" y="4636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 rounds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543800" y="52212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7d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8732520" y="5294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 TTL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the Original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state meant client-side trust — in a banking demo, that's the one thing you can't fake.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in the browser only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3FBFB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3716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 the 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07492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E3C6C2"/>
            </a:solidFill>
            <a:prstDash val="solid"/>
          </a:ln>
        </p:spPr>
      </p:sp>
      <p:pic>
        <p:nvPicPr>
          <p:cNvPr id="9" name="Image 0" descr="assets/war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7170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9293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in plaintext in localStorage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1874520"/>
            <a:ext cx="507492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BFE7E0"/>
            </a:solidFill>
            <a:prstDash val="solid"/>
          </a:ln>
        </p:spPr>
      </p:sp>
      <p:pic>
        <p:nvPicPr>
          <p:cNvPr id="12" name="Image 1" descr="asset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717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19293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(12 rounds)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507492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E3C6C2"/>
            </a:solidFill>
            <a:prstDash val="solid"/>
          </a:ln>
        </p:spPr>
      </p:sp>
      <p:pic>
        <p:nvPicPr>
          <p:cNvPr id="15" name="Image 2" descr="assets/war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32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98094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could open devtools and edit their balance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26480" y="2926080"/>
            <a:ext cx="507492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BFE7E0"/>
            </a:solidFill>
            <a:prstDash val="solid"/>
          </a:ln>
        </p:spPr>
      </p:sp>
      <p:pic>
        <p:nvPicPr>
          <p:cNvPr id="18" name="Image 3" descr="asset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232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298094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lives server-side, integer cents in SQLite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507492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E3C6C2"/>
            </a:solidFill>
            <a:prstDash val="solid"/>
          </a:ln>
        </p:spPr>
      </p:sp>
      <p:pic>
        <p:nvPicPr>
          <p:cNvPr id="21" name="Image 4" descr="assets/war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7482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03250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 "discover" each other to fake NearPay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126480" y="3977640"/>
            <a:ext cx="507492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BFE7E0"/>
            </a:solidFill>
            <a:prstDash val="solid"/>
          </a:ln>
        </p:spPr>
      </p:sp>
      <p:pic>
        <p:nvPicPr>
          <p:cNvPr id="24" name="Image 5" descr="asset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274820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20840" y="403250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tracked server-side across real devices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548640" y="5029200"/>
            <a:ext cx="507492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E3C6C2"/>
            </a:solidFill>
            <a:prstDash val="solid"/>
          </a:ln>
        </p:spPr>
      </p:sp>
      <p:pic>
        <p:nvPicPr>
          <p:cNvPr id="27" name="Image 6" descr="assets/warn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326380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43000" y="508406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backend — everything lived in the browser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126480" y="5029200"/>
            <a:ext cx="507492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BFE7E0"/>
            </a:solidFill>
            <a:prstDash val="solid"/>
          </a:ln>
        </p:spPr>
      </p:sp>
      <p:pic>
        <p:nvPicPr>
          <p:cNvPr id="30" name="Image 7" descr="asset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5326380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720840" y="508406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SQLite API validates every action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origin, single Node process — no CORS dance, no separate deploy to coordinate.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42316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6" name="Image 0" descr="asset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384" y="25694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HTML / CSS / JS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fetch(...,{credentials:'include'})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274320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423160"/>
            <a:ext cx="640080" cy="640080"/>
          </a:xfrm>
          <a:prstGeom prst="ellipse">
            <a:avLst/>
          </a:prstGeom>
          <a:solidFill>
            <a:srgbClr val="3FBFB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" name="Image 1" descr="asset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25694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4632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routes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cors, cookies,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 limiting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641080" y="274320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38360" y="242316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6" name="Image 2" descr="asset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5694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82396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transactions · loans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· devices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593592" y="3611880"/>
            <a:ext cx="99669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571232" y="3611880"/>
            <a:ext cx="99669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685800" y="4800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cookie-based session flows through every request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85800" y="5486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a reverse proxy in production (trust proxy = 1) so secure cookies work correctly.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tables, four logical groups. Money is always stored as integer cents.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9052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assets/user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2860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429000"/>
            <a:ext cx="2240280" cy="365760"/>
          </a:xfrm>
          <a:prstGeom prst="roundRect">
            <a:avLst>
              <a:gd name="adj" fmla="val 75000"/>
            </a:avLst>
          </a:prstGeom>
          <a:solidFill>
            <a:srgbClr val="F4F7F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hash, account number, balance_cents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187452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21124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assets/exchang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284" y="228600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Movement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593592" y="3429000"/>
            <a:ext cx="2240280" cy="365760"/>
          </a:xfrm>
          <a:prstGeom prst="roundRect">
            <a:avLst>
              <a:gd name="adj" fmla="val 75000"/>
            </a:avLst>
          </a:prstGeom>
          <a:solidFill>
            <a:srgbClr val="F4F7FC"/>
          </a:solidFill>
          <a:ln/>
        </p:spPr>
      </p:sp>
      <p:sp>
        <p:nvSpPr>
          <p:cNvPr id="16" name="Text 12"/>
          <p:cNvSpPr/>
          <p:nvPr/>
        </p:nvSpPr>
        <p:spPr>
          <a:xfrm>
            <a:off x="3593592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593592" y="3886200"/>
            <a:ext cx="2240280" cy="365760"/>
          </a:xfrm>
          <a:prstGeom prst="roundRect">
            <a:avLst>
              <a:gd name="adj" fmla="val 75000"/>
            </a:avLst>
          </a:prstGeom>
          <a:solidFill>
            <a:srgbClr val="F4F7FC"/>
          </a:solidFill>
          <a:ln/>
        </p:spPr>
      </p:sp>
      <p:sp>
        <p:nvSpPr>
          <p:cNvPr id="18" name="Text 14"/>
          <p:cNvSpPr/>
          <p:nvPr/>
        </p:nvSpPr>
        <p:spPr>
          <a:xfrm>
            <a:off x="3593592" y="3886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93592" y="4343400"/>
            <a:ext cx="2240280" cy="365760"/>
          </a:xfrm>
          <a:prstGeom prst="roundRect">
            <a:avLst>
              <a:gd name="adj" fmla="val 75000"/>
            </a:avLst>
          </a:prstGeom>
          <a:solidFill>
            <a:srgbClr val="F4F7FC"/>
          </a:solidFill>
          <a:ln/>
        </p:spPr>
      </p:sp>
      <p:sp>
        <p:nvSpPr>
          <p:cNvPr id="20" name="Text 16"/>
          <p:cNvSpPr/>
          <p:nvPr/>
        </p:nvSpPr>
        <p:spPr>
          <a:xfrm>
            <a:off x="3593592" y="4343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loan_payments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93592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/ received / deposit / loan types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72784" y="187452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283196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assets/wifi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356" y="2286000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9944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NearPay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455664" y="3429000"/>
            <a:ext cx="2240280" cy="365760"/>
          </a:xfrm>
          <a:prstGeom prst="roundRect">
            <a:avLst>
              <a:gd name="adj" fmla="val 75000"/>
            </a:avLst>
          </a:prstGeom>
          <a:solidFill>
            <a:srgbClr val="F4F7FC"/>
          </a:solidFill>
          <a:ln/>
        </p:spPr>
      </p:sp>
      <p:sp>
        <p:nvSpPr>
          <p:cNvPr id="27" name="Text 22"/>
          <p:cNvSpPr/>
          <p:nvPr/>
        </p:nvSpPr>
        <p:spPr>
          <a:xfrm>
            <a:off x="6455664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presence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455664" y="3886200"/>
            <a:ext cx="2240280" cy="365760"/>
          </a:xfrm>
          <a:prstGeom prst="roundRect">
            <a:avLst>
              <a:gd name="adj" fmla="val 75000"/>
            </a:avLst>
          </a:prstGeom>
          <a:solidFill>
            <a:srgbClr val="F4F7FC"/>
          </a:solidFill>
          <a:ln/>
        </p:spPr>
      </p:sp>
      <p:sp>
        <p:nvSpPr>
          <p:cNvPr id="29" name="Text 24"/>
          <p:cNvSpPr/>
          <p:nvPr/>
        </p:nvSpPr>
        <p:spPr>
          <a:xfrm>
            <a:off x="6455664" y="3886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payment_requests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55664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freshness window, request links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134856" y="187452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10145268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3" descr="assets/mobi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428" y="2286000"/>
            <a:ext cx="310896" cy="31089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72016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Trust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9317736" y="3429000"/>
            <a:ext cx="2240280" cy="365760"/>
          </a:xfrm>
          <a:prstGeom prst="roundRect">
            <a:avLst>
              <a:gd name="adj" fmla="val 75000"/>
            </a:avLst>
          </a:prstGeom>
          <a:solidFill>
            <a:srgbClr val="F4F7FC"/>
          </a:solidFill>
          <a:ln/>
        </p:spPr>
      </p:sp>
      <p:sp>
        <p:nvSpPr>
          <p:cNvPr id="36" name="Text 30"/>
          <p:cNvSpPr/>
          <p:nvPr/>
        </p:nvSpPr>
        <p:spPr>
          <a:xfrm>
            <a:off x="9317736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317736" y="3886200"/>
            <a:ext cx="2240280" cy="365760"/>
          </a:xfrm>
          <a:prstGeom prst="roundRect">
            <a:avLst>
              <a:gd name="adj" fmla="val 75000"/>
            </a:avLst>
          </a:prstGeom>
          <a:solidFill>
            <a:srgbClr val="F4F7FC"/>
          </a:solidFill>
          <a:ln/>
        </p:spPr>
      </p:sp>
      <p:sp>
        <p:nvSpPr>
          <p:cNvPr id="38" name="Text 32"/>
          <p:cNvSpPr/>
          <p:nvPr/>
        </p:nvSpPr>
        <p:spPr>
          <a:xfrm>
            <a:off x="9317736" y="3886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device_links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9317736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QR-linking, revocation, IP + last seen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75488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here closes a specific hole from the original demo.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6" name="Image 0" descr="assets/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20802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35040" y="19385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rounds — never stored or sent in plaintext after signup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0" name="Image 1" descr="assets/ke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9215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779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signed JWT sessions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035040" y="27797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JavaScript can't read or forge the session cookie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648456"/>
            <a:ext cx="502920" cy="50292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4" name="Image 2" descr="assets/sync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76275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6210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SQLite transactions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035040" y="362102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 + update happen together — no overdraft race condition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4489704"/>
            <a:ext cx="502920" cy="50292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8" name="Image 3" descr="assets/clipboar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60400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4622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 auth routes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035040" y="446227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attempts / 15 min slows credential stuffing and brute force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5330952"/>
            <a:ext cx="502920" cy="50292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22" name="Image 4" descr="assets/shiel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544525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Fail-loud startup check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035040" y="5303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refuses to boot without a real JWT_SECRET set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Surface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route groups, all authenticated through the same httpOnly cookie.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048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121408" cy="3063240"/>
          </a:xfrm>
          <a:prstGeom prst="roundRect">
            <a:avLst>
              <a:gd name="adj" fmla="val 3017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926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4290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39319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44348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07208" y="1874520"/>
            <a:ext cx="2121408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807208" y="18745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07208" y="24048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/api/bank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07208" y="2743200"/>
            <a:ext cx="2121408" cy="3063240"/>
          </a:xfrm>
          <a:prstGeom prst="roundRect">
            <a:avLst>
              <a:gd name="adj" fmla="val 3017"/>
            </a:avLst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2916936" y="2926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16936" y="34290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16936" y="39319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16936" y="44348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16936" y="4937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lookup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65776" y="1874520"/>
            <a:ext cx="2121408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65776" y="18745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NearPay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65776" y="24048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/api/nearpay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65776" y="2743200"/>
            <a:ext cx="2121408" cy="3063240"/>
          </a:xfrm>
          <a:prstGeom prst="roundRect">
            <a:avLst>
              <a:gd name="adj" fmla="val 3017"/>
            </a:avLst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5175504" y="2926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75504" y="34290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75504" y="39319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pay-direct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75504" y="44348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24344" y="1874520"/>
            <a:ext cx="2121408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24344" y="18745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24344" y="24048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/api/loans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24344" y="2743200"/>
            <a:ext cx="2121408" cy="3063240"/>
          </a:xfrm>
          <a:prstGeom prst="roundRect">
            <a:avLst>
              <a:gd name="adj" fmla="val 3017"/>
            </a:avLst>
          </a:prstGeom>
          <a:solidFill>
            <a:srgbClr val="F4F7FC"/>
          </a:solidFill>
          <a:ln/>
        </p:spPr>
      </p:sp>
      <p:sp>
        <p:nvSpPr>
          <p:cNvPr id="33" name="Text 31"/>
          <p:cNvSpPr/>
          <p:nvPr/>
        </p:nvSpPr>
        <p:spPr>
          <a:xfrm>
            <a:off x="7434072" y="2926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34072" y="34290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34072" y="39319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434072" y="44348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+ history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582912" y="1874520"/>
            <a:ext cx="2121408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9582912" y="18745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582912" y="24048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582912" y="2743200"/>
            <a:ext cx="2121408" cy="3063240"/>
          </a:xfrm>
          <a:prstGeom prst="roundRect">
            <a:avLst>
              <a:gd name="adj" fmla="val 3017"/>
            </a:avLst>
          </a:prstGeom>
          <a:solidFill>
            <a:srgbClr val="F4F7FC"/>
          </a:solidFill>
          <a:ln/>
        </p:spPr>
      </p:sp>
      <p:sp>
        <p:nvSpPr>
          <p:cNvPr id="41" name="Text 39"/>
          <p:cNvSpPr/>
          <p:nvPr/>
        </p:nvSpPr>
        <p:spPr>
          <a:xfrm>
            <a:off x="9692640" y="292608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692640" y="34290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692640" y="39319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692640" y="44348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QR-link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Deep Dive: NearPay &amp; Loans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749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ssets/wifi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019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NearPay Presence</a:t>
            </a:r>
            <a:endParaRPr lang="en-US" sz="1800" dirty="0"/>
          </a:p>
        </p:txBody>
      </p:sp>
      <p:pic>
        <p:nvPicPr>
          <p:cNvPr id="7" name="Image 1" descr="asset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249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26974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presence table replaces the shared-localStorage trick</a:t>
            </a:r>
            <a:endParaRPr lang="en-US" sz="1250" dirty="0"/>
          </a:p>
        </p:txBody>
      </p:sp>
      <p:pic>
        <p:nvPicPr>
          <p:cNvPr id="9" name="Image 2" descr="asset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4787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70432" y="35204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freshness window — works across real separate devices</a:t>
            </a:r>
            <a:endParaRPr lang="en-US" sz="1250" dirty="0"/>
          </a:p>
        </p:txBody>
      </p:sp>
      <p:pic>
        <p:nvPicPr>
          <p:cNvPr id="11" name="Image 3" descr="asset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70832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70432" y="43434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Payment-request links (?npReq=...) validated by dedicated endpoints</a:t>
            </a:r>
            <a:endParaRPr lang="en-US" sz="1250" dirty="0"/>
          </a:p>
        </p:txBody>
      </p:sp>
      <p:pic>
        <p:nvPicPr>
          <p:cNvPr id="13" name="Image 4" descr="asset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93792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70432" y="51663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monkey-patching a button's onclick handler in the DOM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6126480" y="1554480"/>
            <a:ext cx="50749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5" descr="assets/loan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01168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32320" y="19019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800" dirty="0"/>
          </a:p>
        </p:txBody>
      </p:sp>
      <p:pic>
        <p:nvPicPr>
          <p:cNvPr id="19" name="Image 6" descr="asset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724912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748272" y="26974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Term-based rate table ($500–$50,000, 12–60 month terms)</a:t>
            </a:r>
            <a:endParaRPr lang="en-US" sz="1250" dirty="0"/>
          </a:p>
        </p:txBody>
      </p:sp>
      <p:pic>
        <p:nvPicPr>
          <p:cNvPr id="21" name="Image 7" descr="asset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547872"/>
            <a:ext cx="219456" cy="21945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748272" y="35204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demo approval with amortized monthly payments</a:t>
            </a:r>
            <a:endParaRPr lang="en-US" sz="1250" dirty="0"/>
          </a:p>
        </p:txBody>
      </p:sp>
      <p:pic>
        <p:nvPicPr>
          <p:cNvPr id="23" name="Image 8" descr="asset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370832"/>
            <a:ext cx="219456" cy="219456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748272" y="43434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Disbursed funds land directly in the account balance</a:t>
            </a:r>
            <a:endParaRPr lang="en-US" sz="1250" dirty="0"/>
          </a:p>
        </p:txBody>
      </p:sp>
      <p:pic>
        <p:nvPicPr>
          <p:cNvPr id="25" name="Image 9" descr="assets/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5193792"/>
            <a:ext cx="219456" cy="219456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748272" y="51663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payment history tracked per loan, principal vs. interest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Node app — npm install, npm start — with one thing you must get right.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CEEE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21408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assets/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677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lives on disk.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container platforms give an ephemeral filesystem by default — skip the persistent volume and the entire database is wiped on the next redeploy.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67588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assets/key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304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51129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54480" y="388620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generate with crypto.randomBytes(48). Server refuses to start without 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63640" y="33832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367588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assets/databas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81304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69480" y="351129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DATA_DIR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269480" y="388620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 persistent Disk/Volume (Render Disk, Railway Volume, etc.)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8006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50932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assets/server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3036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928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NODE_ENV=production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554480" y="530352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secure cookies behind the reverse proxy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63640" y="48006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24" name="Shape 18"/>
          <p:cNvSpPr/>
          <p:nvPr/>
        </p:nvSpPr>
        <p:spPr>
          <a:xfrm>
            <a:off x="6492240" y="50932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assets/cloud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23036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69480" y="4928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ALLOWED_ORIGINS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269480" y="530352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needed if the frontend is hosted on a different domain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Today</a:t>
            </a:r>
            <a:endParaRPr lang="en-US" sz="1600" dirty="0"/>
          </a:p>
        </p:txBody>
      </p:sp>
      <p:pic>
        <p:nvPicPr>
          <p:cNvPr id="6" name="Image 0" descr="assets/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957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3774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demo bank — no real money or payment rails</a:t>
            </a:r>
            <a:endParaRPr lang="en-US" sz="1300" dirty="0"/>
          </a:p>
        </p:txBody>
      </p:sp>
      <p:pic>
        <p:nvPicPr>
          <p:cNvPr id="8" name="Image 1" descr="assets/wa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101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2918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KYC / AML checks tied to real accounts</a:t>
            </a:r>
            <a:endParaRPr lang="en-US" sz="1300" dirty="0"/>
          </a:p>
        </p:txBody>
      </p:sp>
      <p:pic>
        <p:nvPicPr>
          <p:cNvPr id="10" name="Image 2" descr="assets/w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2452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2062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NearPay simulates proximity — not real Bluetooth/NFC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126480" y="155448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3FBFB0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0" y="1783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Next Steps</a:t>
            </a:r>
            <a:endParaRPr lang="en-US" sz="1600" dirty="0"/>
          </a:p>
        </p:txBody>
      </p:sp>
      <p:pic>
        <p:nvPicPr>
          <p:cNvPr id="14" name="Image 3" descr="assets/bol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957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66560" y="23774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for new accounts</a:t>
            </a:r>
            <a:endParaRPr lang="en-US" sz="1300" dirty="0"/>
          </a:p>
        </p:txBody>
      </p:sp>
      <p:pic>
        <p:nvPicPr>
          <p:cNvPr id="16" name="Image 4" descr="assets/bol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26440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66560" y="32461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flow</a:t>
            </a:r>
            <a:endParaRPr lang="en-US" sz="1300" dirty="0"/>
          </a:p>
        </p:txBody>
      </p:sp>
      <p:pic>
        <p:nvPicPr>
          <p:cNvPr id="18" name="Image 5" descr="assets/bol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13308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66560" y="41148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(2FA)</a:t>
            </a:r>
            <a:endParaRPr lang="en-US" sz="1300" dirty="0"/>
          </a:p>
        </p:txBody>
      </p:sp>
      <p:pic>
        <p:nvPicPr>
          <p:cNvPr id="20" name="Image 6" descr="assets/bol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5001768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766560" y="49834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Postgres if traffic grows past SQLite's comfort zone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NexusBank Backend Overview</dc:title>
  <dc:subject>PptxGenJS Presentation</dc:subject>
  <dc:creator>NexusBank Engineering</dc:creator>
  <cp:lastModifiedBy>NexusBank Engineering</cp:lastModifiedBy>
  <cp:revision>1</cp:revision>
  <dcterms:created xsi:type="dcterms:W3CDTF">2026-07-02T09:24:16Z</dcterms:created>
  <dcterms:modified xsi:type="dcterms:W3CDTF">2026-07-02T09:24:16Z</dcterms:modified>
</cp:coreProperties>
</file>